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6711" r:id="rId2"/>
    <p:sldId id="6717" r:id="rId3"/>
    <p:sldId id="6701" r:id="rId4"/>
    <p:sldId id="670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3212" autoAdjust="0"/>
  </p:normalViewPr>
  <p:slideViewPr>
    <p:cSldViewPr snapToGrid="0">
      <p:cViewPr varScale="1">
        <p:scale>
          <a:sx n="103" d="100"/>
          <a:sy n="103" d="100"/>
        </p:scale>
        <p:origin x="9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7400-A941-4AE8-B383-A5824229B0A2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69582-0E6D-469D-953C-A43ED6414F4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노트 개체 틀 7">
            <a:extLst>
              <a:ext uri="{FF2B5EF4-FFF2-40B4-BE49-F238E27FC236}">
                <a16:creationId xmlns:a16="http://schemas.microsoft.com/office/drawing/2014/main" id="{43A441A4-1F05-83CC-A10D-861EA5F26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3680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구역 구토 </a:t>
            </a:r>
            <a:r>
              <a:rPr lang="ko-KR" altLang="en-US" dirty="0" err="1"/>
              <a:t>조기포만감</a:t>
            </a:r>
            <a:r>
              <a:rPr lang="ko-KR" altLang="en-US" dirty="0"/>
              <a:t> </a:t>
            </a:r>
            <a:r>
              <a:rPr lang="ko-KR" altLang="en-US" dirty="0" err="1"/>
              <a:t>식후포만감</a:t>
            </a:r>
            <a:r>
              <a:rPr lang="ko-KR" altLang="en-US" dirty="0"/>
              <a:t> 팽만감 </a:t>
            </a:r>
            <a:r>
              <a:rPr lang="ko-KR" altLang="en-US" dirty="0" err="1"/>
              <a:t>상복부통증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69582-0E6D-469D-953C-A43ED6414F4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70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구역 구토 </a:t>
            </a:r>
            <a:r>
              <a:rPr lang="ko-KR" altLang="en-US" dirty="0" err="1"/>
              <a:t>조기포만감</a:t>
            </a:r>
            <a:r>
              <a:rPr lang="ko-KR" altLang="en-US" dirty="0"/>
              <a:t> </a:t>
            </a:r>
            <a:r>
              <a:rPr lang="ko-KR" altLang="en-US" dirty="0" err="1"/>
              <a:t>식후포만감</a:t>
            </a:r>
            <a:r>
              <a:rPr lang="ko-KR" altLang="en-US" dirty="0"/>
              <a:t> 팽만감 </a:t>
            </a:r>
            <a:r>
              <a:rPr lang="ko-KR" altLang="en-US" dirty="0" err="1"/>
              <a:t>상복부통증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69582-0E6D-469D-953C-A43ED6414F4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190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798064D-CCFF-0277-3F74-3AEDFB4994AB}"/>
              </a:ext>
            </a:extLst>
          </p:cNvPr>
          <p:cNvSpPr/>
          <p:nvPr userDrawn="1"/>
        </p:nvSpPr>
        <p:spPr>
          <a:xfrm>
            <a:off x="0" y="0"/>
            <a:ext cx="932873" cy="86821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C292F8-2E1F-6965-C3F8-2623E5E86795}"/>
              </a:ext>
            </a:extLst>
          </p:cNvPr>
          <p:cNvSpPr/>
          <p:nvPr userDrawn="1"/>
        </p:nvSpPr>
        <p:spPr>
          <a:xfrm>
            <a:off x="932873" y="0"/>
            <a:ext cx="11259127" cy="8682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grpSp>
        <p:nvGrpSpPr>
          <p:cNvPr id="3" name="그룹 7">
            <a:extLst>
              <a:ext uri="{FF2B5EF4-FFF2-40B4-BE49-F238E27FC236}">
                <a16:creationId xmlns:a16="http://schemas.microsoft.com/office/drawing/2014/main" id="{D8A1A9BD-DB89-820F-43E4-6BDB5AC9CC69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4" name="Picture 3" descr="C:\Users\PTINSIDE1\Desktop\제목-없음-13.png">
              <a:extLst>
                <a:ext uri="{FF2B5EF4-FFF2-40B4-BE49-F238E27FC236}">
                  <a16:creationId xmlns:a16="http://schemas.microsoft.com/office/drawing/2014/main" id="{D0D8CEB2-67E4-BF2E-A5E0-BEA263F6E3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3" descr="C:\Users\PTINSIDE1\Desktop\제목-없음-13.png">
              <a:extLst>
                <a:ext uri="{FF2B5EF4-FFF2-40B4-BE49-F238E27FC236}">
                  <a16:creationId xmlns:a16="http://schemas.microsoft.com/office/drawing/2014/main" id="{EAE6E4A3-C635-558D-1064-48511C66C8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2717F0-8793-DA10-EA4C-264974DB265F}"/>
              </a:ext>
            </a:extLst>
          </p:cNvPr>
          <p:cNvSpPr txBox="1"/>
          <p:nvPr userDrawn="1"/>
        </p:nvSpPr>
        <p:spPr>
          <a:xfrm>
            <a:off x="11480798" y="9236"/>
            <a:ext cx="697627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내부교육용</a:t>
            </a:r>
          </a:p>
        </p:txBody>
      </p:sp>
    </p:spTree>
    <p:extLst>
      <p:ext uri="{BB962C8B-B14F-4D97-AF65-F5344CB8AC3E}">
        <p14:creationId xmlns:p14="http://schemas.microsoft.com/office/powerpoint/2010/main" val="280008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D067B9C-7146-20F5-1869-4B50ABE9F6EF}"/>
              </a:ext>
            </a:extLst>
          </p:cNvPr>
          <p:cNvSpPr/>
          <p:nvPr userDrawn="1"/>
        </p:nvSpPr>
        <p:spPr>
          <a:xfrm>
            <a:off x="0" y="0"/>
            <a:ext cx="932873" cy="8682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456C6-5E0D-3DDD-DEBD-278F08400F78}"/>
              </a:ext>
            </a:extLst>
          </p:cNvPr>
          <p:cNvSpPr/>
          <p:nvPr userDrawn="1"/>
        </p:nvSpPr>
        <p:spPr>
          <a:xfrm>
            <a:off x="932873" y="0"/>
            <a:ext cx="11259127" cy="8682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grpSp>
        <p:nvGrpSpPr>
          <p:cNvPr id="5" name="그룹 7">
            <a:extLst>
              <a:ext uri="{FF2B5EF4-FFF2-40B4-BE49-F238E27FC236}">
                <a16:creationId xmlns:a16="http://schemas.microsoft.com/office/drawing/2014/main" id="{255B8071-3E4D-17AD-503A-0E03468236B7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6" name="Picture 3" descr="C:\Users\PTINSIDE1\Desktop\제목-없음-13.png">
              <a:extLst>
                <a:ext uri="{FF2B5EF4-FFF2-40B4-BE49-F238E27FC236}">
                  <a16:creationId xmlns:a16="http://schemas.microsoft.com/office/drawing/2014/main" id="{64447E86-9ACD-3486-B6BF-985D9B7CC8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3" descr="C:\Users\PTINSIDE1\Desktop\제목-없음-13.png">
              <a:extLst>
                <a:ext uri="{FF2B5EF4-FFF2-40B4-BE49-F238E27FC236}">
                  <a16:creationId xmlns:a16="http://schemas.microsoft.com/office/drawing/2014/main" id="{8CF535D5-2640-B2A9-4FCE-698CA1AF89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B500E17-E140-CDB5-0BE1-21AB063AECAB}"/>
              </a:ext>
            </a:extLst>
          </p:cNvPr>
          <p:cNvSpPr txBox="1"/>
          <p:nvPr userDrawn="1"/>
        </p:nvSpPr>
        <p:spPr>
          <a:xfrm>
            <a:off x="11480798" y="9236"/>
            <a:ext cx="697627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내부교육용</a:t>
            </a:r>
          </a:p>
        </p:txBody>
      </p:sp>
    </p:spTree>
    <p:extLst>
      <p:ext uri="{BB962C8B-B14F-4D97-AF65-F5344CB8AC3E}">
        <p14:creationId xmlns:p14="http://schemas.microsoft.com/office/powerpoint/2010/main" val="3894316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D067B9C-7146-20F5-1869-4B50ABE9F6EF}"/>
              </a:ext>
            </a:extLst>
          </p:cNvPr>
          <p:cNvSpPr/>
          <p:nvPr userDrawn="1"/>
        </p:nvSpPr>
        <p:spPr>
          <a:xfrm>
            <a:off x="0" y="0"/>
            <a:ext cx="932873" cy="86821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456C6-5E0D-3DDD-DEBD-278F08400F78}"/>
              </a:ext>
            </a:extLst>
          </p:cNvPr>
          <p:cNvSpPr/>
          <p:nvPr userDrawn="1"/>
        </p:nvSpPr>
        <p:spPr>
          <a:xfrm>
            <a:off x="932873" y="0"/>
            <a:ext cx="11259127" cy="8682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grpSp>
        <p:nvGrpSpPr>
          <p:cNvPr id="5" name="그룹 7">
            <a:extLst>
              <a:ext uri="{FF2B5EF4-FFF2-40B4-BE49-F238E27FC236}">
                <a16:creationId xmlns:a16="http://schemas.microsoft.com/office/drawing/2014/main" id="{255B8071-3E4D-17AD-503A-0E03468236B7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6" name="Picture 3" descr="C:\Users\PTINSIDE1\Desktop\제목-없음-13.png">
              <a:extLst>
                <a:ext uri="{FF2B5EF4-FFF2-40B4-BE49-F238E27FC236}">
                  <a16:creationId xmlns:a16="http://schemas.microsoft.com/office/drawing/2014/main" id="{64447E86-9ACD-3486-B6BF-985D9B7CC8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3" descr="C:\Users\PTINSIDE1\Desktop\제목-없음-13.png">
              <a:extLst>
                <a:ext uri="{FF2B5EF4-FFF2-40B4-BE49-F238E27FC236}">
                  <a16:creationId xmlns:a16="http://schemas.microsoft.com/office/drawing/2014/main" id="{8CF535D5-2640-B2A9-4FCE-698CA1AF89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A6B619-EDA2-D5D6-30AD-11B0EDB5EFA3}"/>
              </a:ext>
            </a:extLst>
          </p:cNvPr>
          <p:cNvSpPr txBox="1"/>
          <p:nvPr userDrawn="1"/>
        </p:nvSpPr>
        <p:spPr>
          <a:xfrm>
            <a:off x="11480798" y="9236"/>
            <a:ext cx="697627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내부교육용</a:t>
            </a:r>
          </a:p>
        </p:txBody>
      </p:sp>
    </p:spTree>
    <p:extLst>
      <p:ext uri="{BB962C8B-B14F-4D97-AF65-F5344CB8AC3E}">
        <p14:creationId xmlns:p14="http://schemas.microsoft.com/office/powerpoint/2010/main" val="355276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D067B9C-7146-20F5-1869-4B50ABE9F6EF}"/>
              </a:ext>
            </a:extLst>
          </p:cNvPr>
          <p:cNvSpPr/>
          <p:nvPr userDrawn="1"/>
        </p:nvSpPr>
        <p:spPr>
          <a:xfrm>
            <a:off x="0" y="0"/>
            <a:ext cx="932873" cy="86821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456C6-5E0D-3DDD-DEBD-278F08400F78}"/>
              </a:ext>
            </a:extLst>
          </p:cNvPr>
          <p:cNvSpPr/>
          <p:nvPr userDrawn="1"/>
        </p:nvSpPr>
        <p:spPr>
          <a:xfrm>
            <a:off x="932873" y="0"/>
            <a:ext cx="11259127" cy="8682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grpSp>
        <p:nvGrpSpPr>
          <p:cNvPr id="5" name="그룹 7">
            <a:extLst>
              <a:ext uri="{FF2B5EF4-FFF2-40B4-BE49-F238E27FC236}">
                <a16:creationId xmlns:a16="http://schemas.microsoft.com/office/drawing/2014/main" id="{255B8071-3E4D-17AD-503A-0E03468236B7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6" name="Picture 3" descr="C:\Users\PTINSIDE1\Desktop\제목-없음-13.png">
              <a:extLst>
                <a:ext uri="{FF2B5EF4-FFF2-40B4-BE49-F238E27FC236}">
                  <a16:creationId xmlns:a16="http://schemas.microsoft.com/office/drawing/2014/main" id="{64447E86-9ACD-3486-B6BF-985D9B7CC8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3" descr="C:\Users\PTINSIDE1\Desktop\제목-없음-13.png">
              <a:extLst>
                <a:ext uri="{FF2B5EF4-FFF2-40B4-BE49-F238E27FC236}">
                  <a16:creationId xmlns:a16="http://schemas.microsoft.com/office/drawing/2014/main" id="{8CF535D5-2640-B2A9-4FCE-698CA1AF89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AC91B6-2C63-C1F3-504C-42D56F39C5EC}"/>
              </a:ext>
            </a:extLst>
          </p:cNvPr>
          <p:cNvSpPr txBox="1"/>
          <p:nvPr userDrawn="1"/>
        </p:nvSpPr>
        <p:spPr>
          <a:xfrm>
            <a:off x="11480798" y="9236"/>
            <a:ext cx="697627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내부교육용</a:t>
            </a:r>
          </a:p>
        </p:txBody>
      </p:sp>
    </p:spTree>
    <p:extLst>
      <p:ext uri="{BB962C8B-B14F-4D97-AF65-F5344CB8AC3E}">
        <p14:creationId xmlns:p14="http://schemas.microsoft.com/office/powerpoint/2010/main" val="328612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7">
            <a:extLst>
              <a:ext uri="{FF2B5EF4-FFF2-40B4-BE49-F238E27FC236}">
                <a16:creationId xmlns:a16="http://schemas.microsoft.com/office/drawing/2014/main" id="{29DF8A06-BAF8-A249-4F66-41E372E99723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3" name="Picture 3" descr="C:\Users\PTINSIDE1\Desktop\제목-없음-13.png">
              <a:extLst>
                <a:ext uri="{FF2B5EF4-FFF2-40B4-BE49-F238E27FC236}">
                  <a16:creationId xmlns:a16="http://schemas.microsoft.com/office/drawing/2014/main" id="{C8BA41C5-490E-2766-B026-9AB32A83E7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 descr="C:\Users\PTINSIDE1\Desktop\제목-없음-13.png">
              <a:extLst>
                <a:ext uri="{FF2B5EF4-FFF2-40B4-BE49-F238E27FC236}">
                  <a16:creationId xmlns:a16="http://schemas.microsoft.com/office/drawing/2014/main" id="{C9FF1153-9BF4-6A86-2A6E-43E026A98E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2414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EA80544-5C78-2F35-26BC-587C3D3C4B95}"/>
              </a:ext>
            </a:extLst>
          </p:cNvPr>
          <p:cNvSpPr/>
          <p:nvPr userDrawn="1"/>
        </p:nvSpPr>
        <p:spPr>
          <a:xfrm>
            <a:off x="0" y="0"/>
            <a:ext cx="389774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</a:endParaRPr>
          </a:p>
        </p:txBody>
      </p:sp>
      <p:grpSp>
        <p:nvGrpSpPr>
          <p:cNvPr id="2" name="그룹 7">
            <a:extLst>
              <a:ext uri="{FF2B5EF4-FFF2-40B4-BE49-F238E27FC236}">
                <a16:creationId xmlns:a16="http://schemas.microsoft.com/office/drawing/2014/main" id="{6493A777-7A3C-A140-906F-DE524DD5B432}"/>
              </a:ext>
            </a:extLst>
          </p:cNvPr>
          <p:cNvGrpSpPr/>
          <p:nvPr userDrawn="1"/>
        </p:nvGrpSpPr>
        <p:grpSpPr>
          <a:xfrm>
            <a:off x="10486185" y="1017917"/>
            <a:ext cx="1526761" cy="221729"/>
            <a:chOff x="1763688" y="1438176"/>
            <a:chExt cx="3760780" cy="553165"/>
          </a:xfrm>
        </p:grpSpPr>
        <p:pic>
          <p:nvPicPr>
            <p:cNvPr id="4" name="Picture 3" descr="C:\Users\PTINSIDE1\Desktop\제목-없음-13.png">
              <a:extLst>
                <a:ext uri="{FF2B5EF4-FFF2-40B4-BE49-F238E27FC236}">
                  <a16:creationId xmlns:a16="http://schemas.microsoft.com/office/drawing/2014/main" id="{9D984947-2A68-DDE3-10C1-9C3788F791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68533" b="-15764"/>
            <a:stretch/>
          </p:blipFill>
          <p:spPr bwMode="auto">
            <a:xfrm>
              <a:off x="1763688" y="1475092"/>
              <a:ext cx="576598" cy="516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3" descr="C:\Users\PTINSIDE1\Desktop\제목-없음-13.png">
              <a:extLst>
                <a:ext uri="{FF2B5EF4-FFF2-40B4-BE49-F238E27FC236}">
                  <a16:creationId xmlns:a16="http://schemas.microsoft.com/office/drawing/2014/main" id="{EFCDF688-425C-12A0-9173-F07B840EC5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10" t="50000"/>
            <a:stretch/>
          </p:blipFill>
          <p:spPr bwMode="auto">
            <a:xfrm>
              <a:off x="2370125" y="1438176"/>
              <a:ext cx="3154343" cy="553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9729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1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0" r:id="rId3"/>
    <p:sldLayoutId id="2147483654" r:id="rId4"/>
    <p:sldLayoutId id="2147483651" r:id="rId5"/>
    <p:sldLayoutId id="2147483652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29CF9-9669-9301-3A1F-CEB027B772D0}"/>
              </a:ext>
            </a:extLst>
          </p:cNvPr>
          <p:cNvSpPr txBox="1"/>
          <p:nvPr/>
        </p:nvSpPr>
        <p:spPr>
          <a:xfrm>
            <a:off x="1085462" y="251927"/>
            <a:ext cx="1053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  <a:latin typeface="Congenial Black" panose="02000503040000020004" pitchFamily="2" charset="0"/>
              </a:rPr>
              <a:t>모티리톤의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 쓰임</a:t>
            </a:r>
            <a:r>
              <a:rPr lang="en-US" altLang="ko-KR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_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당뇨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FD522A-3858-5CAB-755D-CA617298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62" y="1542976"/>
            <a:ext cx="4284019" cy="35937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7A9A81-DEB1-B18B-D60A-54D6350A07CD}"/>
              </a:ext>
            </a:extLst>
          </p:cNvPr>
          <p:cNvSpPr txBox="1"/>
          <p:nvPr/>
        </p:nvSpPr>
        <p:spPr>
          <a:xfrm>
            <a:off x="182824" y="886627"/>
            <a:ext cx="61156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ko-KR" altLang="en-US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당뇨인의 </a:t>
            </a:r>
            <a:r>
              <a:rPr lang="en-US" altLang="ko-KR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3~40% </a:t>
            </a:r>
            <a:r>
              <a:rPr lang="ko-KR" altLang="en-US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당뇨병성 </a:t>
            </a:r>
            <a:r>
              <a:rPr lang="ko-KR" altLang="en-US" b="1" dirty="0" err="1">
                <a:solidFill>
                  <a:srgbClr val="C00000"/>
                </a:solidFill>
                <a:ea typeface="S-Core Dream 4 Regular" panose="020B0203030302020204" pitchFamily="34" charset="-127"/>
              </a:rPr>
              <a:t>위마비</a:t>
            </a:r>
            <a:r>
              <a:rPr lang="ko-KR" altLang="en-US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 합병증</a:t>
            </a:r>
            <a:endParaRPr lang="en-US" altLang="ko-KR" b="1" dirty="0">
              <a:ea typeface="S-Core Dream 4 Regular" panose="020B0203030302020204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DA5583D-A27F-B451-E29B-A980D58588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9623"/>
          <a:stretch/>
        </p:blipFill>
        <p:spPr>
          <a:xfrm>
            <a:off x="6077527" y="3556000"/>
            <a:ext cx="4144558" cy="30460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CF4F5DA1-8994-2ACA-0516-0FA076AD0B09}"/>
              </a:ext>
            </a:extLst>
          </p:cNvPr>
          <p:cNvGrpSpPr/>
          <p:nvPr/>
        </p:nvGrpSpPr>
        <p:grpSpPr>
          <a:xfrm>
            <a:off x="552904" y="5380744"/>
            <a:ext cx="4026533" cy="1373414"/>
            <a:chOff x="552904" y="5390576"/>
            <a:chExt cx="4026533" cy="137341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65378D3-A968-D465-F144-4326B30BD6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2423" b="4279"/>
            <a:stretch/>
          </p:blipFill>
          <p:spPr>
            <a:xfrm>
              <a:off x="552904" y="5739320"/>
              <a:ext cx="4026533" cy="1024670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B90528E-103F-4359-83DC-B5325377FF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79027"/>
            <a:stretch/>
          </p:blipFill>
          <p:spPr>
            <a:xfrm>
              <a:off x="552904" y="5390576"/>
              <a:ext cx="4026533" cy="339508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628B7F1-7AE6-7BBA-47D5-81D0C0F61BAB}"/>
              </a:ext>
            </a:extLst>
          </p:cNvPr>
          <p:cNvGrpSpPr/>
          <p:nvPr/>
        </p:nvGrpSpPr>
        <p:grpSpPr>
          <a:xfrm>
            <a:off x="6095999" y="1418570"/>
            <a:ext cx="4192347" cy="1967416"/>
            <a:chOff x="6095999" y="1418570"/>
            <a:chExt cx="4192347" cy="196741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FA79C8D-B19C-CEA1-8760-4D2ED5BE1C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6534" b="79257"/>
            <a:stretch/>
          </p:blipFill>
          <p:spPr>
            <a:xfrm>
              <a:off x="6095999" y="1418570"/>
              <a:ext cx="4192347" cy="30460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E72DBD6-B8D2-E63F-D9B9-82A623EA68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-1195" t="29263" r="1195" b="-7109"/>
            <a:stretch/>
          </p:blipFill>
          <p:spPr>
            <a:xfrm>
              <a:off x="6095999" y="1717219"/>
              <a:ext cx="4192347" cy="166876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2FE187F-8180-124F-B0F0-26D1F2DFD7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206"/>
          <a:stretch/>
        </p:blipFill>
        <p:spPr>
          <a:xfrm>
            <a:off x="6220690" y="4073340"/>
            <a:ext cx="4144558" cy="245959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601137A-7705-7CCA-0058-CEB6FE655270}"/>
              </a:ext>
            </a:extLst>
          </p:cNvPr>
          <p:cNvSpPr/>
          <p:nvPr/>
        </p:nvSpPr>
        <p:spPr>
          <a:xfrm>
            <a:off x="6548582" y="4027055"/>
            <a:ext cx="1422400" cy="3046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4E678FFB-192F-0D46-2F4D-B6652119EE2D}"/>
              </a:ext>
            </a:extLst>
          </p:cNvPr>
          <p:cNvSpPr/>
          <p:nvPr/>
        </p:nvSpPr>
        <p:spPr>
          <a:xfrm>
            <a:off x="9849619" y="5218811"/>
            <a:ext cx="506393" cy="272473"/>
          </a:xfrm>
          <a:custGeom>
            <a:avLst/>
            <a:gdLst>
              <a:gd name="connsiteX0" fmla="*/ 1302327 w 1302327"/>
              <a:gd name="connsiteY0" fmla="*/ 0 h 544946"/>
              <a:gd name="connsiteX1" fmla="*/ 0 w 1302327"/>
              <a:gd name="connsiteY1" fmla="*/ 0 h 544946"/>
              <a:gd name="connsiteX2" fmla="*/ 0 w 1302327"/>
              <a:gd name="connsiteY2" fmla="*/ 544946 h 544946"/>
              <a:gd name="connsiteX3" fmla="*/ 1302327 w 1302327"/>
              <a:gd name="connsiteY3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544946">
                <a:moveTo>
                  <a:pt x="1302327" y="0"/>
                </a:moveTo>
                <a:lnTo>
                  <a:pt x="0" y="0"/>
                </a:lnTo>
                <a:lnTo>
                  <a:pt x="0" y="544946"/>
                </a:lnTo>
                <a:lnTo>
                  <a:pt x="1302327" y="544946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DE5AB9F-73DE-5060-D688-4E71C50CDD05}"/>
              </a:ext>
            </a:extLst>
          </p:cNvPr>
          <p:cNvSpPr/>
          <p:nvPr/>
        </p:nvSpPr>
        <p:spPr>
          <a:xfrm rot="10800000">
            <a:off x="6399837" y="5494820"/>
            <a:ext cx="776818" cy="272473"/>
          </a:xfrm>
          <a:custGeom>
            <a:avLst/>
            <a:gdLst>
              <a:gd name="connsiteX0" fmla="*/ 1302327 w 1302327"/>
              <a:gd name="connsiteY0" fmla="*/ 0 h 544946"/>
              <a:gd name="connsiteX1" fmla="*/ 0 w 1302327"/>
              <a:gd name="connsiteY1" fmla="*/ 0 h 544946"/>
              <a:gd name="connsiteX2" fmla="*/ 0 w 1302327"/>
              <a:gd name="connsiteY2" fmla="*/ 544946 h 544946"/>
              <a:gd name="connsiteX3" fmla="*/ 1302327 w 1302327"/>
              <a:gd name="connsiteY3" fmla="*/ 544946 h 54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327" h="544946">
                <a:moveTo>
                  <a:pt x="1302327" y="0"/>
                </a:moveTo>
                <a:lnTo>
                  <a:pt x="0" y="0"/>
                </a:lnTo>
                <a:lnTo>
                  <a:pt x="0" y="544946"/>
                </a:lnTo>
                <a:lnTo>
                  <a:pt x="1302327" y="544946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5806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0945-34D6-E400-D107-B0845382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071E8-FB43-0399-D6E8-AE5DFE68D242}"/>
              </a:ext>
            </a:extLst>
          </p:cNvPr>
          <p:cNvSpPr txBox="1"/>
          <p:nvPr/>
        </p:nvSpPr>
        <p:spPr>
          <a:xfrm>
            <a:off x="1085462" y="251927"/>
            <a:ext cx="1053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  <a:latin typeface="Congenial Black" panose="02000503040000020004" pitchFamily="2" charset="0"/>
              </a:rPr>
              <a:t>모티리톤의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 쓰임</a:t>
            </a:r>
            <a:r>
              <a:rPr lang="en-US" altLang="ko-KR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_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당뇨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5E0CA7-4886-2174-4D76-EDD5048921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93" t="20635" r="1894"/>
          <a:stretch/>
        </p:blipFill>
        <p:spPr>
          <a:xfrm>
            <a:off x="226490" y="2017692"/>
            <a:ext cx="8135350" cy="4420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181092-BA94-FEBB-AF4B-F29EAE903DBA}"/>
              </a:ext>
            </a:extLst>
          </p:cNvPr>
          <p:cNvSpPr txBox="1"/>
          <p:nvPr/>
        </p:nvSpPr>
        <p:spPr>
          <a:xfrm>
            <a:off x="226490" y="1101092"/>
            <a:ext cx="6521558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당뇨환자의 약 </a:t>
            </a:r>
            <a:r>
              <a:rPr lang="en-US" altLang="ko-KR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70%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만성위장관 증상</a:t>
            </a:r>
            <a:endParaRPr lang="en-US" altLang="ko-KR" sz="1400" b="1" dirty="0">
              <a:ea typeface="S-Core Dream 4 Regular" panose="020B0203030302020204" pitchFamily="34" charset="-127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400" b="1" dirty="0" err="1">
                <a:solidFill>
                  <a:srgbClr val="C00000"/>
                </a:solidFill>
                <a:ea typeface="S-Core Dream 4 Regular" panose="020B0203030302020204" pitchFamily="34" charset="-127"/>
              </a:rPr>
              <a:t>조기포만감</a:t>
            </a:r>
            <a:r>
              <a:rPr lang="en-US" altLang="ko-KR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복부팽만감</a:t>
            </a:r>
            <a:r>
              <a:rPr lang="en-US" altLang="ko-KR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소화불량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등 상부위장관 증상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오심</a:t>
            </a:r>
            <a:r>
              <a:rPr lang="en-US" altLang="ko-KR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구토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호소</a:t>
            </a:r>
            <a:endParaRPr lang="en-US" altLang="ko-KR" sz="1400" dirty="0"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48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29CF9-9669-9301-3A1F-CEB027B772D0}"/>
              </a:ext>
            </a:extLst>
          </p:cNvPr>
          <p:cNvSpPr txBox="1"/>
          <p:nvPr/>
        </p:nvSpPr>
        <p:spPr>
          <a:xfrm>
            <a:off x="1085462" y="251927"/>
            <a:ext cx="1053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  <a:latin typeface="Congenial Black" panose="02000503040000020004" pitchFamily="2" charset="0"/>
              </a:rPr>
              <a:t>모티리톤의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 쓰임</a:t>
            </a:r>
            <a:r>
              <a:rPr lang="en-US" altLang="ko-KR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_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당뇨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2FF424-7A8D-97FB-5307-644B68E71BEC}"/>
              </a:ext>
            </a:extLst>
          </p:cNvPr>
          <p:cNvSpPr/>
          <p:nvPr/>
        </p:nvSpPr>
        <p:spPr>
          <a:xfrm>
            <a:off x="539725" y="2542357"/>
            <a:ext cx="4675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b="1" dirty="0"/>
              <a:t>A logistic regression model to predict symptoms suggestive of gastroparesis (any symptom) in patients with diabetes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42605AB-521F-9483-511A-2F5FBB2BDC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29" b="27891"/>
          <a:stretch/>
        </p:blipFill>
        <p:spPr bwMode="auto">
          <a:xfrm>
            <a:off x="342595" y="2942467"/>
            <a:ext cx="4775687" cy="2792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26C248-F316-820F-853C-0F8507166E12}"/>
              </a:ext>
            </a:extLst>
          </p:cNvPr>
          <p:cNvSpPr txBox="1"/>
          <p:nvPr/>
        </p:nvSpPr>
        <p:spPr>
          <a:xfrm>
            <a:off x="3565830" y="3188688"/>
            <a:ext cx="2272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highlight>
                  <a:srgbClr val="FFFF00"/>
                </a:highlight>
              </a:rPr>
              <a:t>Metformin therapy increased symptom risk: </a:t>
            </a:r>
          </a:p>
          <a:p>
            <a:r>
              <a:rPr lang="en-US" altLang="ko-KR" sz="700" dirty="0">
                <a:highlight>
                  <a:srgbClr val="FFFF00"/>
                </a:highlight>
              </a:rPr>
              <a:t>OR 1.97, 95% CI 1.19–3.28, p = 0.009.</a:t>
            </a:r>
            <a:endParaRPr lang="ko-KR" altLang="en-US" sz="700" dirty="0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7D4BBC-F1CE-1142-0F57-B5934A362E14}"/>
              </a:ext>
            </a:extLst>
          </p:cNvPr>
          <p:cNvSpPr/>
          <p:nvPr/>
        </p:nvSpPr>
        <p:spPr>
          <a:xfrm>
            <a:off x="491132" y="5864827"/>
            <a:ext cx="490168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/>
              <a:t>Odds</a:t>
            </a:r>
            <a:r>
              <a:rPr lang="ko-KR" altLang="en-US" sz="900" dirty="0"/>
              <a:t> </a:t>
            </a:r>
            <a:r>
              <a:rPr lang="en-US" altLang="ko-KR" sz="900" dirty="0"/>
              <a:t>ratio with 95% confidence intervals are shown for each variable in the model.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5D78A-5397-6317-0658-5803F57CA87F}"/>
              </a:ext>
            </a:extLst>
          </p:cNvPr>
          <p:cNvSpPr txBox="1"/>
          <p:nvPr/>
        </p:nvSpPr>
        <p:spPr>
          <a:xfrm>
            <a:off x="480542" y="1368508"/>
            <a:ext cx="3085288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Metformin </a:t>
            </a:r>
            <a:r>
              <a:rPr lang="ko-KR" altLang="en-US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복용환자</a:t>
            </a:r>
            <a:r>
              <a:rPr lang="ko-KR" altLang="en-US" sz="1600" b="1" dirty="0">
                <a:ea typeface="S-Core Dream 4 Regular" panose="020B0203030302020204" pitchFamily="34" charset="-127"/>
              </a:rPr>
              <a:t>의</a:t>
            </a:r>
            <a:endParaRPr lang="en-US" altLang="ko-KR" sz="1600" b="1" dirty="0">
              <a:ea typeface="S-Core Dream 4 Regular" panose="020B0203030302020204" pitchFamily="34" charset="-127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600" b="1" dirty="0" err="1">
                <a:ea typeface="S-Core Dream 4 Regular" panose="020B0203030302020204" pitchFamily="34" charset="-127"/>
              </a:rPr>
              <a:t>위마비</a:t>
            </a:r>
            <a:r>
              <a:rPr lang="ko-KR" altLang="en-US" sz="1600" b="1" dirty="0">
                <a:ea typeface="S-Core Dream 4 Regular" panose="020B0203030302020204" pitchFamily="34" charset="-127"/>
              </a:rPr>
              <a:t> 증상 </a:t>
            </a:r>
            <a:r>
              <a:rPr lang="en-US" altLang="ko-KR" sz="1600" b="1" dirty="0">
                <a:ea typeface="S-Core Dream 4 Regular" panose="020B0203030302020204" pitchFamily="34" charset="-127"/>
              </a:rPr>
              <a:t>1.97</a:t>
            </a:r>
            <a:r>
              <a:rPr lang="ko-KR" altLang="en-US" sz="1600" b="1" dirty="0">
                <a:ea typeface="S-Core Dream 4 Regular" panose="020B0203030302020204" pitchFamily="34" charset="-127"/>
              </a:rPr>
              <a:t>배 증가</a:t>
            </a:r>
            <a:endParaRPr lang="en-US" altLang="ko-KR" sz="1600" dirty="0">
              <a:ea typeface="S-Core Dream 4 Regular" panose="020B0203030302020204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477FE-6CA3-1B90-ED42-2F0A9AB9654A}"/>
              </a:ext>
            </a:extLst>
          </p:cNvPr>
          <p:cNvSpPr txBox="1"/>
          <p:nvPr/>
        </p:nvSpPr>
        <p:spPr>
          <a:xfrm>
            <a:off x="6196141" y="1232669"/>
            <a:ext cx="5172928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1600" b="1" dirty="0">
                <a:ea typeface="S-Core Dream 4 Regular" panose="020B0203030302020204" pitchFamily="34" charset="-127"/>
              </a:rPr>
              <a:t>제</a:t>
            </a:r>
            <a:r>
              <a:rPr lang="en-US" altLang="ko-KR" sz="1600" b="1" dirty="0">
                <a:ea typeface="S-Core Dream 4 Regular" panose="020B0203030302020204" pitchFamily="34" charset="-127"/>
              </a:rPr>
              <a:t>2</a:t>
            </a:r>
            <a:r>
              <a:rPr lang="ko-KR" altLang="en-US" sz="1600" b="1" dirty="0">
                <a:ea typeface="S-Core Dream 4 Regular" panose="020B0203030302020204" pitchFamily="34" charset="-127"/>
              </a:rPr>
              <a:t>형 당뇨병에서 가장 많이 쓰이는 </a:t>
            </a:r>
            <a:r>
              <a:rPr lang="en-US" altLang="ko-KR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Metformin </a:t>
            </a:r>
            <a:r>
              <a:rPr lang="ko-KR" altLang="en-US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제재</a:t>
            </a:r>
            <a:endParaRPr lang="en-US" altLang="ko-KR" sz="1600" b="1" dirty="0">
              <a:solidFill>
                <a:srgbClr val="C00000"/>
              </a:solidFill>
              <a:ea typeface="S-Core Dream 4 Regular" panose="020B0203030302020204" pitchFamily="34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가장 큰 단점</a:t>
            </a:r>
            <a:r>
              <a:rPr lang="ko-KR" altLang="en-US" sz="1600" b="1" dirty="0">
                <a:ea typeface="S-Core Dream 4 Regular" panose="020B0203030302020204" pitchFamily="34" charset="-127"/>
              </a:rPr>
              <a:t>은</a:t>
            </a:r>
            <a:r>
              <a:rPr lang="ko-KR" altLang="en-US" sz="1600" b="1" dirty="0">
                <a:solidFill>
                  <a:srgbClr val="C00000"/>
                </a:solidFill>
                <a:ea typeface="S-Core Dream 4 Regular" panose="020B0203030302020204" pitchFamily="34" charset="-127"/>
              </a:rPr>
              <a:t> 다양한 소화기 증상</a:t>
            </a:r>
            <a:endParaRPr lang="en-US" altLang="ko-KR" sz="1600" dirty="0">
              <a:ea typeface="S-Core Dream 4 Regular" panose="020B0203030302020204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2887704-B131-6922-4736-987021C3DF16}"/>
              </a:ext>
            </a:extLst>
          </p:cNvPr>
          <p:cNvGrpSpPr/>
          <p:nvPr/>
        </p:nvGrpSpPr>
        <p:grpSpPr>
          <a:xfrm>
            <a:off x="6196141" y="3456403"/>
            <a:ext cx="5172929" cy="2908484"/>
            <a:chOff x="678307" y="2739049"/>
            <a:chExt cx="4692235" cy="238499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8EE8902-2653-F53F-39ED-3964FD8CAD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6168"/>
            <a:stretch/>
          </p:blipFill>
          <p:spPr>
            <a:xfrm>
              <a:off x="678307" y="3112655"/>
              <a:ext cx="4692235" cy="20113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033EDAB-06B6-E50D-46B8-F67AAFA957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0354"/>
            <a:stretch/>
          </p:blipFill>
          <p:spPr>
            <a:xfrm>
              <a:off x="678307" y="2739049"/>
              <a:ext cx="4692235" cy="2627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EF3F6972-923C-030D-CFED-D7908F2D5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67" y="2219365"/>
            <a:ext cx="3977985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7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29CF9-9669-9301-3A1F-CEB027B772D0}"/>
              </a:ext>
            </a:extLst>
          </p:cNvPr>
          <p:cNvSpPr txBox="1"/>
          <p:nvPr/>
        </p:nvSpPr>
        <p:spPr>
          <a:xfrm>
            <a:off x="1085462" y="251927"/>
            <a:ext cx="1053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chemeClr val="bg1"/>
                </a:solidFill>
                <a:latin typeface="Congenial Black" panose="02000503040000020004" pitchFamily="2" charset="0"/>
              </a:rPr>
              <a:t>모티리톤의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 쓰임</a:t>
            </a:r>
            <a:r>
              <a:rPr lang="en-US" altLang="ko-KR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_</a:t>
            </a:r>
            <a:r>
              <a:rPr lang="ko-KR" altLang="en-US" sz="2400" b="1" dirty="0">
                <a:solidFill>
                  <a:schemeClr val="bg1"/>
                </a:solidFill>
                <a:latin typeface="Congenial Black" panose="02000503040000020004" pitchFamily="2" charset="0"/>
              </a:rPr>
              <a:t>당뇨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BE07A6-2F52-1928-CC63-DA480BEC2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7" y="2315244"/>
            <a:ext cx="5254940" cy="24590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765100-0024-62CC-6AB3-BA3BBABC1E9B}"/>
              </a:ext>
            </a:extLst>
          </p:cNvPr>
          <p:cNvSpPr txBox="1"/>
          <p:nvPr/>
        </p:nvSpPr>
        <p:spPr>
          <a:xfrm>
            <a:off x="296774" y="1413917"/>
            <a:ext cx="5522419" cy="373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ko-KR" sz="1400" b="1" dirty="0">
                <a:ea typeface="S-Core Dream 4 Regular" panose="020B0203030302020204" pitchFamily="34" charset="-127"/>
              </a:rPr>
              <a:t>1.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복합기전의 </a:t>
            </a:r>
            <a:r>
              <a:rPr lang="ko-KR" altLang="en-US" sz="1400" b="1" dirty="0" err="1">
                <a:solidFill>
                  <a:srgbClr val="C00000"/>
                </a:solidFill>
                <a:ea typeface="S-Core Dream 4 Regular" panose="020B0203030302020204" pitchFamily="34" charset="-127"/>
              </a:rPr>
              <a:t>모티리톤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,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다양한 소화기 증상 예방 가능</a:t>
            </a:r>
            <a:endParaRPr lang="en-US" altLang="ko-KR" sz="1400" dirty="0">
              <a:ea typeface="S-Core Dream 4 Regular" panose="020B02030303020202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936EA1-71F2-CAEF-CB25-2C84D14A6421}"/>
              </a:ext>
            </a:extLst>
          </p:cNvPr>
          <p:cNvSpPr txBox="1"/>
          <p:nvPr/>
        </p:nvSpPr>
        <p:spPr>
          <a:xfrm>
            <a:off x="6096000" y="1388093"/>
            <a:ext cx="5522419" cy="69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ko-KR" sz="1400" b="1" dirty="0">
                <a:ea typeface="S-Core Dream 4 Regular" panose="020B0203030302020204" pitchFamily="34" charset="-127"/>
              </a:rPr>
              <a:t>2.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위마비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또는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위배출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지연으로 인한 음식물 흡수지연에 따른</a:t>
            </a:r>
            <a:endParaRPr lang="en-US" altLang="ko-KR" sz="1400" b="1" dirty="0">
              <a:ea typeface="S-Core Dream 4 Regular" panose="020B0203030302020204" pitchFamily="34" charset="-127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ko-KR" sz="1400" b="1" dirty="0">
                <a:ea typeface="S-Core Dream 4 Regular" panose="020B0203030302020204" pitchFamily="34" charset="-127"/>
              </a:rPr>
              <a:t> 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</a:t>
            </a:r>
            <a:r>
              <a:rPr lang="en-US" altLang="ko-KR" sz="1400" b="1" dirty="0">
                <a:ea typeface="S-Core Dream 4 Regular" panose="020B0203030302020204" pitchFamily="34" charset="-127"/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ea typeface="S-Core Dream 4 Regular" panose="020B0203030302020204" pitchFamily="34" charset="-127"/>
                <a:sym typeface="Wingdings" panose="05000000000000000000" pitchFamily="2" charset="2"/>
              </a:rPr>
              <a:t>혈당 롤러코스터 현상 방지</a:t>
            </a:r>
            <a:endParaRPr lang="en-US" altLang="ko-KR" sz="1400" dirty="0">
              <a:ea typeface="S-Core Dream 4 Regular" panose="020B02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45E85-6DC7-BCAD-639B-ABFFAEAB57FE}"/>
              </a:ext>
            </a:extLst>
          </p:cNvPr>
          <p:cNvSpPr txBox="1"/>
          <p:nvPr/>
        </p:nvSpPr>
        <p:spPr>
          <a:xfrm>
            <a:off x="6170645" y="2315244"/>
            <a:ext cx="5522419" cy="3928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400" b="1" dirty="0">
                <a:highlight>
                  <a:srgbClr val="FFFF00"/>
                </a:highlight>
                <a:ea typeface="S-Core Dream 4 Regular" panose="020B0203030302020204" pitchFamily="34" charset="-127"/>
              </a:rPr>
              <a:t>문제점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: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식후 인슐린 주사를 맞거나 약물을 투여하면 약효는 정해진 시간에 피크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(Peak)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가 되는데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정작 음식물은 소장에서 흡수가 안 되어 식후 초기에는 오히려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저혈당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발생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ko-KR" sz="1400" b="1" dirty="0">
              <a:ea typeface="S-Core Dream 4 Regular" panose="020B0203030302020204" pitchFamily="34" charset="-127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400" b="1" dirty="0">
                <a:ea typeface="S-Core Dream 4 Regular" panose="020B0203030302020204" pitchFamily="34" charset="-127"/>
              </a:rPr>
              <a:t>뒤늦게 위가 비워지면서 음식물이 한꺼번에 흡수될 때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지연성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고혈당이 찾아와 혈당 변동성이 극심해짐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altLang="ko-KR" sz="1400" b="1" dirty="0">
              <a:ea typeface="S-Core Dream 4 Regular" panose="020B0203030302020204" pitchFamily="34" charset="-127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ko-KR" altLang="en-US" sz="1400" b="1" dirty="0" err="1">
                <a:highlight>
                  <a:srgbClr val="FFFF00"/>
                </a:highlight>
                <a:ea typeface="S-Core Dream 4 Regular" panose="020B0203030302020204" pitchFamily="34" charset="-127"/>
              </a:rPr>
              <a:t>모티리톤</a:t>
            </a:r>
            <a:r>
              <a:rPr lang="ko-KR" altLang="en-US" sz="1400" b="1" dirty="0">
                <a:highlight>
                  <a:srgbClr val="FFFF00"/>
                </a:highlight>
                <a:ea typeface="S-Core Dream 4 Regular" panose="020B0203030302020204" pitchFamily="34" charset="-127"/>
              </a:rPr>
              <a:t> 병용 시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: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위배출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(Gastric emptying)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정상화로 통해 소장에서의 탄수화물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(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포도당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)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흡수 속도가 인슐린 및 경구 당뇨약의 작용 시간과 올바르게 맞물리게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되어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, 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예측 불가능한 급격한 고혈당과 </a:t>
            </a:r>
            <a:r>
              <a:rPr lang="ko-KR" altLang="en-US" sz="1400" b="1" dirty="0" err="1">
                <a:ea typeface="S-Core Dream 4 Regular" panose="020B0203030302020204" pitchFamily="34" charset="-127"/>
              </a:rPr>
              <a:t>저혈당을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 방지하고 당화혈색소</a:t>
            </a:r>
            <a:r>
              <a:rPr lang="en-US" altLang="ko-KR" sz="1400" b="1" dirty="0">
                <a:ea typeface="S-Core Dream 4 Regular" panose="020B0203030302020204" pitchFamily="34" charset="-127"/>
              </a:rPr>
              <a:t>(HbA1c)</a:t>
            </a:r>
            <a:r>
              <a:rPr lang="ko-KR" altLang="en-US" sz="1400" b="1" dirty="0">
                <a:ea typeface="S-Core Dream 4 Regular" panose="020B0203030302020204" pitchFamily="34" charset="-127"/>
              </a:rPr>
              <a:t>를 일관되게 관리할 수 있음</a:t>
            </a:r>
            <a:endParaRPr lang="en-US" altLang="ko-KR" sz="1400" b="1" dirty="0">
              <a:ea typeface="S-Core Dream 4 Regular" panose="020B02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3482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13138</TotalTime>
  <Words>242</Words>
  <Application>Microsoft Office PowerPoint</Application>
  <PresentationFormat>와이드스크린</PresentationFormat>
  <Paragraphs>27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S-Core Dream 4 Regular</vt:lpstr>
      <vt:lpstr>맑은 고딕</vt:lpstr>
      <vt:lpstr>Arial</vt:lpstr>
      <vt:lpstr>Congenial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여기향</dc:creator>
  <cp:lastModifiedBy>요한 유</cp:lastModifiedBy>
  <cp:revision>57</cp:revision>
  <dcterms:created xsi:type="dcterms:W3CDTF">2024-01-08T03:24:09Z</dcterms:created>
  <dcterms:modified xsi:type="dcterms:W3CDTF">2026-06-29T06:54:29Z</dcterms:modified>
</cp:coreProperties>
</file>