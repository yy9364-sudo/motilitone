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9"/>
  </p:notesMasterIdLst>
  <p:sldIdLst>
    <p:sldId id="256" r:id="rId2"/>
    <p:sldId id="262" r:id="rId3"/>
    <p:sldId id="263" r:id="rId4"/>
    <p:sldId id="260" r:id="rId5"/>
    <p:sldId id="257" r:id="rId6"/>
    <p:sldId id="258" r:id="rId7"/>
    <p:sldId id="259" r:id="rId8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4FAFA"/>
    <a:srgbClr val="FBFCFE"/>
    <a:srgbClr val="12426A"/>
    <a:srgbClr val="F1F4F9"/>
    <a:srgbClr val="FAFBFD"/>
    <a:srgbClr val="F7FBFC"/>
    <a:srgbClr val="F1EAE9"/>
    <a:srgbClr val="F2EDEA"/>
    <a:srgbClr val="F3EEE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>
        <p:scale>
          <a:sx n="100" d="100"/>
          <a:sy n="100" d="100"/>
        </p:scale>
        <p:origin x="264" y="18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97AB7BC-E4A4-4A31-9523-3492A2C74AB6}" type="datetimeFigureOut">
              <a:rPr lang="ko-KR" altLang="en-US" smtClean="0"/>
              <a:t>2026-07-14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670638-60C8-41EB-ACD6-ADADF7C37BC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7598870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A51D7DE-47EC-41F8-B4B4-1CBA836A063D}" type="slidenum">
              <a:rPr lang="ko-KR" altLang="en-US"/>
              <a:t>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4910767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3D429EB-2E8E-AB98-59F7-55E47C2BA50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4E50DCC2-977E-E758-3F2F-54AD9711BD2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DE471D73-0975-D8C3-90A8-2E3EB15B9D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E385D1-204F-4194-BF24-AE1CC2BF2B0C}" type="datetimeFigureOut">
              <a:rPr lang="ko-KR" altLang="en-US" smtClean="0"/>
              <a:t>2026-07-14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21004CA1-18E4-2A8C-F687-9B4E70000B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C86D0014-AB42-7447-2061-83237911C2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3BEA3F-067B-4E12-8250-56391A35763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401269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A9FAF0A-CE6B-31FA-61F9-26E927A9A0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2D8AAB04-6726-7B03-4CC8-4AC9CECD6C5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2A6DD8F9-E3BD-852B-DA9A-CB123B3BA5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E385D1-204F-4194-BF24-AE1CC2BF2B0C}" type="datetimeFigureOut">
              <a:rPr lang="ko-KR" altLang="en-US" smtClean="0"/>
              <a:t>2026-07-14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D9D59BD8-A916-68CF-65F0-7E2114CFA1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CB75C637-DDEA-C0CA-47B4-5C65B6AC6B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3BEA3F-067B-4E12-8250-56391A35763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4722472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EFEEB00-6EAE-2AF9-0837-F96675B1D6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841B48A6-6C01-748A-8291-EDED1B9BD47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8C009B3A-F8A8-4045-EBFB-6BE49951C1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E385D1-204F-4194-BF24-AE1CC2BF2B0C}" type="datetimeFigureOut">
              <a:rPr lang="ko-KR" altLang="en-US" smtClean="0"/>
              <a:t>2026-07-14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2086739A-EDBA-2DAF-E686-932F70D1E9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51916486-2421-85F7-70CE-1C3A9367E7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3BEA3F-067B-4E12-8250-56391A35763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5468597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9F137E9-86D4-8D36-19D6-55C1875782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B3CC42F2-E2FA-D919-1DDE-D692FFBEE0A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3F29B884-9986-93CD-AE30-91B57464BD9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7810944B-F54E-D120-14BD-8D8C9BD232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E385D1-204F-4194-BF24-AE1CC2BF2B0C}" type="datetimeFigureOut">
              <a:rPr lang="ko-KR" altLang="en-US" smtClean="0"/>
              <a:t>2026-07-14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7D9CB23D-318F-26BF-58FB-0FF9A9848E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4786C2A9-62B2-0C3A-9C90-96B20B1D16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3BEA3F-067B-4E12-8250-56391A35763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8090909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9425CB4-3002-0988-D730-24BE829BF4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0F7C1DD6-4512-070B-F8C8-0791E5597B1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CB2B38F7-816E-B2C3-FA54-EAAB51D60FD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A7718C45-44D3-A123-BDA2-3FF43B7774E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DCBB51A8-AD83-2844-8319-3831527EC9C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A33910AB-DF90-912B-8A29-D504CF6E88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E385D1-204F-4194-BF24-AE1CC2BF2B0C}" type="datetimeFigureOut">
              <a:rPr lang="ko-KR" altLang="en-US" smtClean="0"/>
              <a:t>2026-07-14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256E19FA-D657-262C-342A-1837CFFF1E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C21ADBC0-CAAF-8440-1695-18E530D424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3BEA3F-067B-4E12-8250-56391A35763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687047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1928EC7-42A5-E245-E1EA-67E6A72C5B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34E4EACC-3217-6F27-E8FC-822087255E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E385D1-204F-4194-BF24-AE1CC2BF2B0C}" type="datetimeFigureOut">
              <a:rPr lang="ko-KR" altLang="en-US" smtClean="0"/>
              <a:t>2026-07-14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E0B150FA-D8FF-1378-1845-9EBB7017C9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30BD3EA1-EB8F-7FA3-3833-85B6BB1A2F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3BEA3F-067B-4E12-8250-56391A35763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7819514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5BD1396E-3A99-82AF-D841-B2A6AC026C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E385D1-204F-4194-BF24-AE1CC2BF2B0C}" type="datetimeFigureOut">
              <a:rPr lang="ko-KR" altLang="en-US" smtClean="0"/>
              <a:t>2026-07-14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2C187DDC-32A1-6079-8983-074E84E7F7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6FE6C745-223A-02E3-4E0C-C4AC832492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3BEA3F-067B-4E12-8250-56391A35763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0381775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8729CA3-23CC-5601-93DB-09829F6A24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7A95BDF5-29E4-4A74-8CE9-18AA5A307C0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72855960-0412-B2A6-2D73-9061E7BBD4C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989187F8-214E-63A2-FAC0-695499AC4E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E385D1-204F-4194-BF24-AE1CC2BF2B0C}" type="datetimeFigureOut">
              <a:rPr lang="ko-KR" altLang="en-US" smtClean="0"/>
              <a:t>2026-07-14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A591AAB3-571B-625E-1520-B60FAA10EA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839AA5CA-A394-5E7F-BE2E-2865C3B1D2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3BEA3F-067B-4E12-8250-56391A35763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3778656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88ED229-5B01-A5F6-5BEB-2E52B74E4C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E0F7CBBB-310E-2EC1-3455-CF168008435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74879BCA-21C7-3890-74D0-048B47D0FD1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506D4F89-83FC-4C63-5123-ED217A05EF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E385D1-204F-4194-BF24-AE1CC2BF2B0C}" type="datetimeFigureOut">
              <a:rPr lang="ko-KR" altLang="en-US" smtClean="0"/>
              <a:t>2026-07-14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68EAEB4C-77A9-31C1-B290-22B73B43FB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538A1B9F-EE65-EA5F-650A-517EC84DD3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3BEA3F-067B-4E12-8250-56391A35763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4576568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31A8D0D-95BE-FEB5-70C6-72282886CD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48E50DAB-C8FE-4C09-63DB-34E0B026C98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AE23EED3-6178-3C1F-21E6-7BB85D7B12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E385D1-204F-4194-BF24-AE1CC2BF2B0C}" type="datetimeFigureOut">
              <a:rPr lang="ko-KR" altLang="en-US" smtClean="0"/>
              <a:t>2026-07-14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39617AFA-9628-5E12-C270-3092C1E400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D9FD853A-4E51-6AD6-F0DB-A2DD46113E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3BEA3F-067B-4E12-8250-56391A35763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2227683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81DF1269-2AF3-A793-A491-F5F334DC97A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5F728065-78DB-AD88-3057-76160E245AC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BEDDCD41-DF26-B63A-C359-DEEAC0D713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E385D1-204F-4194-BF24-AE1CC2BF2B0C}" type="datetimeFigureOut">
              <a:rPr lang="ko-KR" altLang="en-US" smtClean="0"/>
              <a:t>2026-07-14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C8FE3C7B-33D0-4E1D-BDAE-39493E203E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14D2FA0A-64D6-FFE1-3F26-C3D9CE4D28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3BEA3F-067B-4E12-8250-56391A35763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1539600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67795756-16B7-EB97-BC73-2CF9D77D67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17AB0F7E-DD8C-4FD5-4738-4DD4C993FC5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DFE7F65A-0E0E-F062-2728-6F8F3FA16A1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DE385D1-204F-4194-BF24-AE1CC2BF2B0C}" type="datetimeFigureOut">
              <a:rPr lang="ko-KR" altLang="en-US" smtClean="0"/>
              <a:t>2026-07-14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815FF050-AB9A-00F3-4E9C-30E1A97674B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D3F80CD0-4A55-E476-04CB-B011A179423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93BEA3F-067B-4E12-8250-56391A35763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0424095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B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2260398C-A76C-0F5F-53CF-24B9245BB74F}"/>
              </a:ext>
            </a:extLst>
          </p:cNvPr>
          <p:cNvSpPr txBox="1"/>
          <p:nvPr/>
        </p:nvSpPr>
        <p:spPr>
          <a:xfrm>
            <a:off x="465605" y="567698"/>
            <a:ext cx="447762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dirty="0">
                <a:solidFill>
                  <a:srgbClr val="002060"/>
                </a:solidFill>
                <a:latin typeface="Pretendard Variable Black" panose="02000003000000020004" pitchFamily="2" charset="-127"/>
                <a:ea typeface="Pretendard Variable Black" panose="02000003000000020004" pitchFamily="2" charset="-127"/>
                <a:cs typeface="Pretendard Variable Black" panose="02000003000000020004" pitchFamily="2" charset="-127"/>
              </a:rPr>
              <a:t>GERD</a:t>
            </a:r>
            <a:r>
              <a:rPr lang="ko-KR" altLang="en-US" dirty="0">
                <a:solidFill>
                  <a:srgbClr val="002060"/>
                </a:solidFill>
                <a:latin typeface="Pretendard Variable Black" panose="02000003000000020004" pitchFamily="2" charset="-127"/>
                <a:ea typeface="Pretendard Variable Black" panose="02000003000000020004" pitchFamily="2" charset="-127"/>
                <a:cs typeface="Pretendard Variable Black" panose="02000003000000020004" pitchFamily="2" charset="-127"/>
              </a:rPr>
              <a:t> 환자 </a:t>
            </a:r>
            <a:r>
              <a:rPr lang="en-US" altLang="ko-KR" dirty="0">
                <a:solidFill>
                  <a:srgbClr val="002060"/>
                </a:solidFill>
                <a:latin typeface="Pretendard Variable Black" panose="02000003000000020004" pitchFamily="2" charset="-127"/>
                <a:ea typeface="Pretendard Variable Black" panose="02000003000000020004" pitchFamily="2" charset="-127"/>
                <a:cs typeface="Pretendard Variable Black" panose="02000003000000020004" pitchFamily="2" charset="-127"/>
              </a:rPr>
              <a:t>2</a:t>
            </a:r>
            <a:r>
              <a:rPr lang="ko-KR" altLang="en-US" dirty="0">
                <a:solidFill>
                  <a:srgbClr val="002060"/>
                </a:solidFill>
                <a:latin typeface="Pretendard Variable Black" panose="02000003000000020004" pitchFamily="2" charset="-127"/>
                <a:ea typeface="Pretendard Variable Black" panose="02000003000000020004" pitchFamily="2" charset="-127"/>
                <a:cs typeface="Pretendard Variable Black" panose="02000003000000020004" pitchFamily="2" charset="-127"/>
              </a:rPr>
              <a:t>명 중 </a:t>
            </a:r>
            <a:r>
              <a:rPr lang="en-US" altLang="ko-KR" dirty="0">
                <a:solidFill>
                  <a:srgbClr val="002060"/>
                </a:solidFill>
                <a:latin typeface="Pretendard Variable Black" panose="02000003000000020004" pitchFamily="2" charset="-127"/>
                <a:ea typeface="Pretendard Variable Black" panose="02000003000000020004" pitchFamily="2" charset="-127"/>
                <a:cs typeface="Pretendard Variable Black" panose="02000003000000020004" pitchFamily="2" charset="-127"/>
              </a:rPr>
              <a:t>1</a:t>
            </a:r>
            <a:r>
              <a:rPr lang="ko-KR" altLang="en-US" dirty="0">
                <a:solidFill>
                  <a:srgbClr val="002060"/>
                </a:solidFill>
                <a:latin typeface="Pretendard Variable Black" panose="02000003000000020004" pitchFamily="2" charset="-127"/>
                <a:ea typeface="Pretendard Variable Black" panose="02000003000000020004" pitchFamily="2" charset="-127"/>
                <a:cs typeface="Pretendard Variable Black" panose="02000003000000020004" pitchFamily="2" charset="-127"/>
              </a:rPr>
              <a:t>명은 </a:t>
            </a:r>
            <a:endParaRPr lang="en-US" altLang="ko-KR" dirty="0">
              <a:solidFill>
                <a:srgbClr val="002060"/>
              </a:solidFill>
              <a:latin typeface="Pretendard Variable Black" panose="02000003000000020004" pitchFamily="2" charset="-127"/>
              <a:ea typeface="Pretendard Variable Black" panose="02000003000000020004" pitchFamily="2" charset="-127"/>
              <a:cs typeface="Pretendard Variable Black" panose="02000003000000020004" pitchFamily="2" charset="-127"/>
            </a:endParaRPr>
          </a:p>
          <a:p>
            <a:pPr algn="ctr"/>
            <a:r>
              <a:rPr lang="ko-KR" altLang="en-US" dirty="0">
                <a:solidFill>
                  <a:srgbClr val="002060"/>
                </a:solidFill>
                <a:latin typeface="Pretendard Variable Black" panose="02000003000000020004" pitchFamily="2" charset="-127"/>
                <a:ea typeface="Pretendard Variable Black" panose="02000003000000020004" pitchFamily="2" charset="-127"/>
                <a:cs typeface="Pretendard Variable Black" panose="02000003000000020004" pitchFamily="2" charset="-127"/>
              </a:rPr>
              <a:t>소화불량</a:t>
            </a:r>
            <a:r>
              <a:rPr lang="en-US" altLang="ko-KR" dirty="0">
                <a:solidFill>
                  <a:srgbClr val="002060"/>
                </a:solidFill>
                <a:latin typeface="Pretendard Variable Black" panose="02000003000000020004" pitchFamily="2" charset="-127"/>
                <a:ea typeface="Pretendard Variable Black" panose="02000003000000020004" pitchFamily="2" charset="-127"/>
                <a:cs typeface="Pretendard Variable Black" panose="02000003000000020004" pitchFamily="2" charset="-127"/>
              </a:rPr>
              <a:t>(Dyspepsia)</a:t>
            </a:r>
            <a:r>
              <a:rPr lang="ko-KR" altLang="en-US" dirty="0">
                <a:solidFill>
                  <a:srgbClr val="002060"/>
                </a:solidFill>
                <a:latin typeface="Pretendard Variable Black" panose="02000003000000020004" pitchFamily="2" charset="-127"/>
                <a:ea typeface="Pretendard Variable Black" panose="02000003000000020004" pitchFamily="2" charset="-127"/>
                <a:cs typeface="Pretendard Variable Black" panose="02000003000000020004" pitchFamily="2" charset="-127"/>
              </a:rPr>
              <a:t>을 동반합니다</a:t>
            </a:r>
          </a:p>
        </p:txBody>
      </p:sp>
      <p:grpSp>
        <p:nvGrpSpPr>
          <p:cNvPr id="15" name="그룹 14">
            <a:extLst>
              <a:ext uri="{FF2B5EF4-FFF2-40B4-BE49-F238E27FC236}">
                <a16:creationId xmlns:a16="http://schemas.microsoft.com/office/drawing/2014/main" id="{9AA482AE-3D61-4C15-FF0E-54B3219F20DF}"/>
              </a:ext>
            </a:extLst>
          </p:cNvPr>
          <p:cNvGrpSpPr/>
          <p:nvPr/>
        </p:nvGrpSpPr>
        <p:grpSpPr>
          <a:xfrm>
            <a:off x="86471" y="1858988"/>
            <a:ext cx="4974975" cy="3267063"/>
            <a:chOff x="2627808" y="979055"/>
            <a:chExt cx="5906511" cy="3888509"/>
          </a:xfrm>
        </p:grpSpPr>
        <p:pic>
          <p:nvPicPr>
            <p:cNvPr id="5" name="Picture 2">
              <a:extLst>
                <a:ext uri="{FF2B5EF4-FFF2-40B4-BE49-F238E27FC236}">
                  <a16:creationId xmlns:a16="http://schemas.microsoft.com/office/drawing/2014/main" id="{21553039-A1C4-06A8-A15A-CEA8F1C9423C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rcRect l="21554" t="13976" r="30833" b="28848"/>
            <a:stretch>
              <a:fillRect/>
            </a:stretch>
          </p:blipFill>
          <p:spPr>
            <a:xfrm>
              <a:off x="2627808" y="979055"/>
              <a:ext cx="5804993" cy="3888509"/>
            </a:xfrm>
            <a:prstGeom prst="rect">
              <a:avLst/>
            </a:prstGeom>
          </p:spPr>
        </p:pic>
        <p:pic>
          <p:nvPicPr>
            <p:cNvPr id="10" name="Picture 2">
              <a:extLst>
                <a:ext uri="{FF2B5EF4-FFF2-40B4-BE49-F238E27FC236}">
                  <a16:creationId xmlns:a16="http://schemas.microsoft.com/office/drawing/2014/main" id="{FB4E75B1-6833-9CCD-8F32-9A9FDDEE39D5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rcRect l="67916" t="13976" r="30834" b="67240"/>
            <a:stretch>
              <a:fillRect/>
            </a:stretch>
          </p:blipFill>
          <p:spPr>
            <a:xfrm flipH="1">
              <a:off x="8034481" y="2012080"/>
              <a:ext cx="360220" cy="353962"/>
            </a:xfrm>
            <a:prstGeom prst="rect">
              <a:avLst/>
            </a:prstGeom>
          </p:spPr>
        </p:pic>
        <p:pic>
          <p:nvPicPr>
            <p:cNvPr id="11" name="Picture 2">
              <a:extLst>
                <a:ext uri="{FF2B5EF4-FFF2-40B4-BE49-F238E27FC236}">
                  <a16:creationId xmlns:a16="http://schemas.microsoft.com/office/drawing/2014/main" id="{CAE5A163-B6F2-8544-39EA-5778034263FC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rcRect l="67916" t="13976" r="30834" b="67240"/>
            <a:stretch>
              <a:fillRect/>
            </a:stretch>
          </p:blipFill>
          <p:spPr>
            <a:xfrm flipH="1">
              <a:off x="8394701" y="2246979"/>
              <a:ext cx="139618" cy="137192"/>
            </a:xfrm>
            <a:prstGeom prst="rect">
              <a:avLst/>
            </a:prstGeom>
          </p:spPr>
        </p:pic>
        <p:pic>
          <p:nvPicPr>
            <p:cNvPr id="12" name="Picture 2">
              <a:extLst>
                <a:ext uri="{FF2B5EF4-FFF2-40B4-BE49-F238E27FC236}">
                  <a16:creationId xmlns:a16="http://schemas.microsoft.com/office/drawing/2014/main" id="{6F048D2B-2DFA-2CF5-0AE7-BD9B14089398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rcRect l="67916" t="13976" r="30834" b="67240"/>
            <a:stretch>
              <a:fillRect/>
            </a:stretch>
          </p:blipFill>
          <p:spPr>
            <a:xfrm flipH="1">
              <a:off x="8024216" y="2207422"/>
              <a:ext cx="139618" cy="137192"/>
            </a:xfrm>
            <a:prstGeom prst="rect">
              <a:avLst/>
            </a:prstGeom>
          </p:spPr>
        </p:pic>
        <p:pic>
          <p:nvPicPr>
            <p:cNvPr id="13" name="Picture 2">
              <a:extLst>
                <a:ext uri="{FF2B5EF4-FFF2-40B4-BE49-F238E27FC236}">
                  <a16:creationId xmlns:a16="http://schemas.microsoft.com/office/drawing/2014/main" id="{5FE117A9-1911-B8FF-2052-FB481850EBBD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rcRect l="67916" t="13976" r="30834" b="67240"/>
            <a:stretch>
              <a:fillRect/>
            </a:stretch>
          </p:blipFill>
          <p:spPr>
            <a:xfrm flipH="1">
              <a:off x="8123340" y="3717055"/>
              <a:ext cx="360220" cy="353962"/>
            </a:xfrm>
            <a:prstGeom prst="rect">
              <a:avLst/>
            </a:prstGeom>
          </p:spPr>
        </p:pic>
        <p:pic>
          <p:nvPicPr>
            <p:cNvPr id="14" name="Picture 2">
              <a:extLst>
                <a:ext uri="{FF2B5EF4-FFF2-40B4-BE49-F238E27FC236}">
                  <a16:creationId xmlns:a16="http://schemas.microsoft.com/office/drawing/2014/main" id="{39E182A0-1E2E-1A5D-CCCD-C46C33AA56DC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rcRect l="67916" t="13976" r="30834" b="67240"/>
            <a:stretch>
              <a:fillRect/>
            </a:stretch>
          </p:blipFill>
          <p:spPr>
            <a:xfrm flipH="1">
              <a:off x="8033742" y="3798016"/>
              <a:ext cx="360220" cy="353962"/>
            </a:xfrm>
            <a:prstGeom prst="rect">
              <a:avLst/>
            </a:prstGeom>
          </p:spPr>
        </p:pic>
      </p:grpSp>
      <p:cxnSp>
        <p:nvCxnSpPr>
          <p:cNvPr id="17" name="직선 연결선 16">
            <a:extLst>
              <a:ext uri="{FF2B5EF4-FFF2-40B4-BE49-F238E27FC236}">
                <a16:creationId xmlns:a16="http://schemas.microsoft.com/office/drawing/2014/main" id="{F0F29E05-C674-AA6D-3D42-8D7F26E004C9}"/>
              </a:ext>
            </a:extLst>
          </p:cNvPr>
          <p:cNvCxnSpPr/>
          <p:nvPr/>
        </p:nvCxnSpPr>
        <p:spPr>
          <a:xfrm>
            <a:off x="5189061" y="47625"/>
            <a:ext cx="0" cy="676275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>
            <a:extLst>
              <a:ext uri="{FF2B5EF4-FFF2-40B4-BE49-F238E27FC236}">
                <a16:creationId xmlns:a16="http://schemas.microsoft.com/office/drawing/2014/main" id="{9970E047-6271-07F6-DF67-9989B8960133}"/>
              </a:ext>
            </a:extLst>
          </p:cNvPr>
          <p:cNvSpPr txBox="1"/>
          <p:nvPr/>
        </p:nvSpPr>
        <p:spPr>
          <a:xfrm>
            <a:off x="229621" y="5617238"/>
            <a:ext cx="4804537" cy="738664"/>
          </a:xfrm>
          <a:prstGeom prst="rect">
            <a:avLst/>
          </a:prstGeom>
          <a:solidFill>
            <a:srgbClr val="12426A"/>
          </a:solidFill>
        </p:spPr>
        <p:txBody>
          <a:bodyPr wrap="square" rtlCol="0">
            <a:spAutoFit/>
          </a:bodyPr>
          <a:lstStyle/>
          <a:p>
            <a:pPr algn="ctr"/>
            <a:r>
              <a:rPr lang="ko-KR" altLang="en-US" sz="1400" dirty="0">
                <a:solidFill>
                  <a:schemeClr val="bg1"/>
                </a:solidFill>
                <a:latin typeface="Pretendard Variable Black" panose="02000003000000020004" pitchFamily="2" charset="-127"/>
                <a:ea typeface="Pretendard Variable Black" panose="02000003000000020004" pitchFamily="2" charset="-127"/>
                <a:cs typeface="Pretendard Variable Black" panose="02000003000000020004" pitchFamily="2" charset="-127"/>
              </a:rPr>
              <a:t>연구 결과 </a:t>
            </a:r>
            <a:r>
              <a:rPr lang="ko-KR" altLang="en-US" sz="1400" dirty="0" err="1">
                <a:solidFill>
                  <a:schemeClr val="bg1"/>
                </a:solidFill>
                <a:latin typeface="Pretendard Variable Black" panose="02000003000000020004" pitchFamily="2" charset="-127"/>
                <a:ea typeface="Pretendard Variable Black" panose="02000003000000020004" pitchFamily="2" charset="-127"/>
                <a:cs typeface="Pretendard Variable Black" panose="02000003000000020004" pitchFamily="2" charset="-127"/>
              </a:rPr>
              <a:t>위식도</a:t>
            </a:r>
            <a:r>
              <a:rPr lang="ko-KR" altLang="en-US" sz="1400" dirty="0">
                <a:solidFill>
                  <a:schemeClr val="bg1"/>
                </a:solidFill>
                <a:latin typeface="Pretendard Variable Black" panose="02000003000000020004" pitchFamily="2" charset="-127"/>
                <a:ea typeface="Pretendard Variable Black" panose="02000003000000020004" pitchFamily="2" charset="-127"/>
                <a:cs typeface="Pretendard Variable Black" panose="02000003000000020004" pitchFamily="2" charset="-127"/>
              </a:rPr>
              <a:t> 역류 질환은 </a:t>
            </a:r>
            <a:endParaRPr lang="en-US" altLang="ko-KR" sz="1400" dirty="0">
              <a:solidFill>
                <a:schemeClr val="bg1"/>
              </a:solidFill>
              <a:latin typeface="Pretendard Variable Black" panose="02000003000000020004" pitchFamily="2" charset="-127"/>
              <a:ea typeface="Pretendard Variable Black" panose="02000003000000020004" pitchFamily="2" charset="-127"/>
              <a:cs typeface="Pretendard Variable Black" panose="02000003000000020004" pitchFamily="2" charset="-127"/>
            </a:endParaRPr>
          </a:p>
          <a:p>
            <a:pPr algn="ctr"/>
            <a:r>
              <a:rPr lang="ko-KR" altLang="en-US" sz="1400" dirty="0">
                <a:solidFill>
                  <a:srgbClr val="FFFF00"/>
                </a:solidFill>
                <a:latin typeface="Pretendard Variable Black" panose="02000003000000020004" pitchFamily="2" charset="-127"/>
                <a:ea typeface="Pretendard Variable Black" panose="02000003000000020004" pitchFamily="2" charset="-127"/>
                <a:cs typeface="Pretendard Variable Black" panose="02000003000000020004" pitchFamily="2" charset="-127"/>
              </a:rPr>
              <a:t>소화불량</a:t>
            </a:r>
            <a:r>
              <a:rPr lang="en-US" altLang="ko-KR" sz="1400" dirty="0">
                <a:solidFill>
                  <a:srgbClr val="FFFF00"/>
                </a:solidFill>
                <a:latin typeface="Pretendard Variable Black" panose="02000003000000020004" pitchFamily="2" charset="-127"/>
                <a:ea typeface="Pretendard Variable Black" panose="02000003000000020004" pitchFamily="2" charset="-127"/>
                <a:cs typeface="Pretendard Variable Black" panose="02000003000000020004" pitchFamily="2" charset="-127"/>
              </a:rPr>
              <a:t>(53.2%)</a:t>
            </a:r>
            <a:r>
              <a:rPr lang="ko-KR" altLang="en-US" sz="1400" dirty="0">
                <a:solidFill>
                  <a:srgbClr val="FFFF00"/>
                </a:solidFill>
                <a:latin typeface="Pretendard Variable Black" panose="02000003000000020004" pitchFamily="2" charset="-127"/>
                <a:ea typeface="Pretendard Variable Black" panose="02000003000000020004" pitchFamily="2" charset="-127"/>
                <a:cs typeface="Pretendard Variable Black" panose="02000003000000020004" pitchFamily="2" charset="-127"/>
              </a:rPr>
              <a:t> 및 과민성대장증후군</a:t>
            </a:r>
            <a:r>
              <a:rPr lang="en-US" altLang="ko-KR" sz="1400" dirty="0">
                <a:solidFill>
                  <a:srgbClr val="FFFF00"/>
                </a:solidFill>
                <a:latin typeface="Pretendard Variable Black" panose="02000003000000020004" pitchFamily="2" charset="-127"/>
                <a:ea typeface="Pretendard Variable Black" panose="02000003000000020004" pitchFamily="2" charset="-127"/>
                <a:cs typeface="Pretendard Variable Black" panose="02000003000000020004" pitchFamily="2" charset="-127"/>
              </a:rPr>
              <a:t>(50.6%)</a:t>
            </a:r>
            <a:r>
              <a:rPr lang="ko-KR" altLang="en-US" sz="1400" dirty="0">
                <a:solidFill>
                  <a:srgbClr val="FFFF00"/>
                </a:solidFill>
                <a:latin typeface="Pretendard Variable Black" panose="02000003000000020004" pitchFamily="2" charset="-127"/>
                <a:ea typeface="Pretendard Variable Black" panose="02000003000000020004" pitchFamily="2" charset="-127"/>
                <a:cs typeface="Pretendard Variable Black" panose="02000003000000020004" pitchFamily="2" charset="-127"/>
              </a:rPr>
              <a:t>과</a:t>
            </a:r>
            <a:endParaRPr lang="en-US" altLang="ko-KR" sz="1400" dirty="0">
              <a:solidFill>
                <a:srgbClr val="FFFF00"/>
              </a:solidFill>
              <a:latin typeface="Pretendard Variable Black" panose="02000003000000020004" pitchFamily="2" charset="-127"/>
              <a:ea typeface="Pretendard Variable Black" panose="02000003000000020004" pitchFamily="2" charset="-127"/>
              <a:cs typeface="Pretendard Variable Black" panose="02000003000000020004" pitchFamily="2" charset="-127"/>
            </a:endParaRPr>
          </a:p>
          <a:p>
            <a:pPr algn="ctr"/>
            <a:r>
              <a:rPr lang="ko-KR" altLang="en-US" sz="1400" dirty="0">
                <a:solidFill>
                  <a:srgbClr val="FFFF00"/>
                </a:solidFill>
                <a:latin typeface="Pretendard Variable Black" panose="02000003000000020004" pitchFamily="2" charset="-127"/>
                <a:ea typeface="Pretendard Variable Black" panose="02000003000000020004" pitchFamily="2" charset="-127"/>
                <a:cs typeface="Pretendard Variable Black" panose="02000003000000020004" pitchFamily="2" charset="-127"/>
              </a:rPr>
              <a:t>높은 비율로 중복</a:t>
            </a:r>
            <a:r>
              <a:rPr lang="ko-KR" altLang="en-US" sz="1400" dirty="0">
                <a:solidFill>
                  <a:schemeClr val="bg1"/>
                </a:solidFill>
                <a:latin typeface="Pretendard Variable Black" panose="02000003000000020004" pitchFamily="2" charset="-127"/>
                <a:ea typeface="Pretendard Variable Black" panose="02000003000000020004" pitchFamily="2" charset="-127"/>
                <a:cs typeface="Pretendard Variable Black" panose="02000003000000020004" pitchFamily="2" charset="-127"/>
              </a:rPr>
              <a:t>되어 중복증후군에 대한 치료가 필요합니다</a:t>
            </a:r>
            <a:r>
              <a:rPr lang="en-US" altLang="ko-KR" sz="1400" dirty="0">
                <a:solidFill>
                  <a:schemeClr val="bg1"/>
                </a:solidFill>
                <a:latin typeface="Pretendard Variable Black" panose="02000003000000020004" pitchFamily="2" charset="-127"/>
                <a:ea typeface="Pretendard Variable Black" panose="02000003000000020004" pitchFamily="2" charset="-127"/>
                <a:cs typeface="Pretendard Variable Black" panose="02000003000000020004" pitchFamily="2" charset="-127"/>
              </a:rPr>
              <a:t>.</a:t>
            </a:r>
            <a:endParaRPr lang="ko-KR" altLang="en-US" sz="1400" dirty="0">
              <a:solidFill>
                <a:schemeClr val="bg1"/>
              </a:solidFill>
              <a:latin typeface="Pretendard Variable Black" panose="02000003000000020004" pitchFamily="2" charset="-127"/>
              <a:ea typeface="Pretendard Variable Black" panose="02000003000000020004" pitchFamily="2" charset="-127"/>
              <a:cs typeface="Pretendard Variable Black" panose="02000003000000020004" pitchFamily="2" charset="-127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C0F06B82-A40B-9082-A5C6-B2D92E207367}"/>
              </a:ext>
            </a:extLst>
          </p:cNvPr>
          <p:cNvSpPr txBox="1"/>
          <p:nvPr/>
        </p:nvSpPr>
        <p:spPr>
          <a:xfrm>
            <a:off x="8296708" y="6548765"/>
            <a:ext cx="3895292" cy="261610"/>
          </a:xfrm>
          <a:prstGeom prst="rect">
            <a:avLst/>
          </a:prstGeom>
          <a:solidFill>
            <a:srgbClr val="F7FBFC"/>
          </a:solidFill>
        </p:spPr>
        <p:txBody>
          <a:bodyPr wrap="square" rtlCol="0">
            <a:spAutoFit/>
          </a:bodyPr>
          <a:lstStyle/>
          <a:p>
            <a:pPr algn="r"/>
            <a:r>
              <a:rPr lang="ko-KR" altLang="ko-KR" sz="1100" dirty="0" err="1"/>
              <a:t>Nwokediuko</a:t>
            </a:r>
            <a:r>
              <a:rPr lang="ko-KR" altLang="ko-KR" sz="1100" dirty="0"/>
              <a:t> </a:t>
            </a:r>
            <a:r>
              <a:rPr lang="ko-KR" altLang="ko-KR" sz="1100" dirty="0" err="1"/>
              <a:t>et</a:t>
            </a:r>
            <a:r>
              <a:rPr lang="ko-KR" altLang="ko-KR" sz="1100" dirty="0"/>
              <a:t> </a:t>
            </a:r>
            <a:r>
              <a:rPr lang="ko-KR" altLang="ko-KR" sz="1100" dirty="0" err="1"/>
              <a:t>al</a:t>
            </a:r>
            <a:r>
              <a:rPr lang="ko-KR" altLang="ko-KR" sz="1100" dirty="0"/>
              <a:t>. BMC </a:t>
            </a:r>
            <a:r>
              <a:rPr lang="ko-KR" altLang="ko-KR" sz="1100" dirty="0" err="1"/>
              <a:t>Gastroenterology</a:t>
            </a:r>
            <a:r>
              <a:rPr lang="ko-KR" altLang="ko-KR" sz="1100" dirty="0"/>
              <a:t> (2020) 20:107 </a:t>
            </a:r>
            <a:endParaRPr lang="ko-KR" altLang="en-US" sz="1100" dirty="0">
              <a:latin typeface="Pretendard Variable Black" panose="02000003000000020004" pitchFamily="2" charset="-127"/>
              <a:ea typeface="Pretendard Variable Black" panose="02000003000000020004" pitchFamily="2" charset="-127"/>
              <a:cs typeface="Pretendard Variable Black" panose="02000003000000020004" pitchFamily="2" charset="-127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9E3A1534-8064-960B-6F62-D98D7AB0CAF2}"/>
              </a:ext>
            </a:extLst>
          </p:cNvPr>
          <p:cNvSpPr txBox="1"/>
          <p:nvPr/>
        </p:nvSpPr>
        <p:spPr>
          <a:xfrm>
            <a:off x="5781629" y="699230"/>
            <a:ext cx="605344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>
                <a:solidFill>
                  <a:srgbClr val="002060"/>
                </a:solidFill>
                <a:latin typeface="Pretendard Variable Black" panose="02000003000000020004" pitchFamily="2" charset="-127"/>
                <a:ea typeface="Pretendard Variable Black" panose="02000003000000020004" pitchFamily="2" charset="-127"/>
                <a:cs typeface="Pretendard Variable Black" panose="02000003000000020004" pitchFamily="2" charset="-127"/>
              </a:rPr>
              <a:t>단일 위산 억제</a:t>
            </a:r>
            <a:r>
              <a:rPr lang="en-US" altLang="ko-KR" dirty="0">
                <a:solidFill>
                  <a:srgbClr val="002060"/>
                </a:solidFill>
                <a:latin typeface="Pretendard Variable Black" panose="02000003000000020004" pitchFamily="2" charset="-127"/>
                <a:ea typeface="Pretendard Variable Black" panose="02000003000000020004" pitchFamily="2" charset="-127"/>
                <a:cs typeface="Pretendard Variable Black" panose="02000003000000020004" pitchFamily="2" charset="-127"/>
              </a:rPr>
              <a:t>(PPI/P-CAB)</a:t>
            </a:r>
            <a:r>
              <a:rPr lang="ko-KR" altLang="en-US" dirty="0">
                <a:solidFill>
                  <a:srgbClr val="002060"/>
                </a:solidFill>
                <a:latin typeface="Pretendard Variable Black" panose="02000003000000020004" pitchFamily="2" charset="-127"/>
                <a:ea typeface="Pretendard Variable Black" panose="02000003000000020004" pitchFamily="2" charset="-127"/>
                <a:cs typeface="Pretendard Variable Black" panose="02000003000000020004" pitchFamily="2" charset="-127"/>
              </a:rPr>
              <a:t>로는 증상 해결에 한계가 존재합니다</a:t>
            </a:r>
          </a:p>
        </p:txBody>
      </p:sp>
      <p:pic>
        <p:nvPicPr>
          <p:cNvPr id="25" name="Picture 2">
            <a:extLst>
              <a:ext uri="{FF2B5EF4-FFF2-40B4-BE49-F238E27FC236}">
                <a16:creationId xmlns:a16="http://schemas.microsoft.com/office/drawing/2014/main" id="{D73C0942-3633-483F-CFFF-F64334210F32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9513" t="14802" r="9485" b="68761"/>
          <a:stretch>
            <a:fillRect/>
          </a:stretch>
        </p:blipFill>
        <p:spPr>
          <a:xfrm>
            <a:off x="5864129" y="1333064"/>
            <a:ext cx="5888441" cy="666514"/>
          </a:xfrm>
          <a:prstGeom prst="rect">
            <a:avLst/>
          </a:prstGeom>
        </p:spPr>
      </p:pic>
      <p:sp>
        <p:nvSpPr>
          <p:cNvPr id="113" name="TextBox 112">
            <a:extLst>
              <a:ext uri="{FF2B5EF4-FFF2-40B4-BE49-F238E27FC236}">
                <a16:creationId xmlns:a16="http://schemas.microsoft.com/office/drawing/2014/main" id="{FAF31736-45AF-7378-1185-60DE2B66ED2F}"/>
              </a:ext>
            </a:extLst>
          </p:cNvPr>
          <p:cNvSpPr txBox="1"/>
          <p:nvPr/>
        </p:nvSpPr>
        <p:spPr>
          <a:xfrm>
            <a:off x="6417396" y="5489142"/>
            <a:ext cx="4915255" cy="584775"/>
          </a:xfrm>
          <a:prstGeom prst="rect">
            <a:avLst/>
          </a:prstGeom>
          <a:solidFill>
            <a:srgbClr val="12426A"/>
          </a:solidFill>
        </p:spPr>
        <p:txBody>
          <a:bodyPr wrap="square" rtlCol="0">
            <a:spAutoFit/>
          </a:bodyPr>
          <a:lstStyle/>
          <a:p>
            <a:pPr algn="ctr"/>
            <a:r>
              <a:rPr lang="ko-KR" altLang="en-US" sz="1600" dirty="0" err="1">
                <a:solidFill>
                  <a:schemeClr val="bg1"/>
                </a:solidFill>
                <a:latin typeface="Pretendard Variable Black" panose="02000003000000020004" pitchFamily="2" charset="-127"/>
                <a:ea typeface="Pretendard Variable Black" panose="02000003000000020004" pitchFamily="2" charset="-127"/>
                <a:cs typeface="Pretendard Variable Black" panose="02000003000000020004" pitchFamily="2" charset="-127"/>
              </a:rPr>
              <a:t>모티리톤</a:t>
            </a:r>
            <a:r>
              <a:rPr lang="ko-KR" altLang="en-US" sz="1600" dirty="0">
                <a:solidFill>
                  <a:schemeClr val="bg1"/>
                </a:solidFill>
                <a:latin typeface="Pretendard Variable Black" panose="02000003000000020004" pitchFamily="2" charset="-127"/>
                <a:ea typeface="Pretendard Variable Black" panose="02000003000000020004" pitchFamily="2" charset="-127"/>
                <a:cs typeface="Pretendard Variable Black" panose="02000003000000020004" pitchFamily="2" charset="-127"/>
              </a:rPr>
              <a:t> 병용은 </a:t>
            </a:r>
            <a:r>
              <a:rPr lang="ko-KR" altLang="en-US" sz="1600" dirty="0">
                <a:solidFill>
                  <a:srgbClr val="FFFF00"/>
                </a:solidFill>
                <a:latin typeface="Pretendard Variable Black" panose="02000003000000020004" pitchFamily="2" charset="-127"/>
                <a:ea typeface="Pretendard Variable Black" panose="02000003000000020004" pitchFamily="2" charset="-127"/>
                <a:cs typeface="Pretendard Variable Black" panose="02000003000000020004" pitchFamily="2" charset="-127"/>
              </a:rPr>
              <a:t>단독요법의 한계를 </a:t>
            </a:r>
            <a:endParaRPr lang="en-US" altLang="ko-KR" sz="1600" dirty="0">
              <a:solidFill>
                <a:srgbClr val="FFFF00"/>
              </a:solidFill>
              <a:latin typeface="Pretendard Variable Black" panose="02000003000000020004" pitchFamily="2" charset="-127"/>
              <a:ea typeface="Pretendard Variable Black" panose="02000003000000020004" pitchFamily="2" charset="-127"/>
              <a:cs typeface="Pretendard Variable Black" panose="02000003000000020004" pitchFamily="2" charset="-127"/>
            </a:endParaRPr>
          </a:p>
          <a:p>
            <a:pPr algn="ctr"/>
            <a:r>
              <a:rPr lang="ko-KR" altLang="en-US" sz="1600" dirty="0">
                <a:solidFill>
                  <a:srgbClr val="FFFF00"/>
                </a:solidFill>
                <a:latin typeface="Pretendard Variable Black" panose="02000003000000020004" pitchFamily="2" charset="-127"/>
                <a:ea typeface="Pretendard Variable Black" panose="02000003000000020004" pitchFamily="2" charset="-127"/>
                <a:cs typeface="Pretendard Variable Black" panose="02000003000000020004" pitchFamily="2" charset="-127"/>
              </a:rPr>
              <a:t>보완</a:t>
            </a:r>
            <a:r>
              <a:rPr lang="ko-KR" altLang="en-US" sz="1600" dirty="0">
                <a:solidFill>
                  <a:schemeClr val="bg1"/>
                </a:solidFill>
                <a:latin typeface="Pretendard Variable Black" panose="02000003000000020004" pitchFamily="2" charset="-127"/>
                <a:ea typeface="Pretendard Variable Black" panose="02000003000000020004" pitchFamily="2" charset="-127"/>
                <a:cs typeface="Pretendard Variable Black" panose="02000003000000020004" pitchFamily="2" charset="-127"/>
              </a:rPr>
              <a:t>할 수 있는 최고의 조합입니다</a:t>
            </a:r>
            <a:r>
              <a:rPr lang="en-US" altLang="ko-KR" sz="1600" dirty="0">
                <a:solidFill>
                  <a:schemeClr val="bg1"/>
                </a:solidFill>
                <a:latin typeface="Pretendard Variable Black" panose="02000003000000020004" pitchFamily="2" charset="-127"/>
                <a:ea typeface="Pretendard Variable Black" panose="02000003000000020004" pitchFamily="2" charset="-127"/>
                <a:cs typeface="Pretendard Variable Black" panose="02000003000000020004" pitchFamily="2" charset="-127"/>
              </a:rPr>
              <a:t>.</a:t>
            </a:r>
            <a:endParaRPr lang="ko-KR" altLang="en-US" sz="1600" dirty="0">
              <a:solidFill>
                <a:schemeClr val="bg1"/>
              </a:solidFill>
              <a:latin typeface="Pretendard Variable Black" panose="02000003000000020004" pitchFamily="2" charset="-127"/>
              <a:ea typeface="Pretendard Variable Black" panose="02000003000000020004" pitchFamily="2" charset="-127"/>
              <a:cs typeface="Pretendard Variable Black" panose="02000003000000020004" pitchFamily="2" charset="-127"/>
            </a:endParaRPr>
          </a:p>
        </p:txBody>
      </p:sp>
      <p:pic>
        <p:nvPicPr>
          <p:cNvPr id="215" name="그림 214">
            <a:extLst>
              <a:ext uri="{FF2B5EF4-FFF2-40B4-BE49-F238E27FC236}">
                <a16:creationId xmlns:a16="http://schemas.microsoft.com/office/drawing/2014/main" id="{8B6D1743-CBC2-9DA7-B029-9A0952E22B8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80092" y="2671876"/>
            <a:ext cx="4158762" cy="2142393"/>
          </a:xfrm>
          <a:prstGeom prst="rect">
            <a:avLst/>
          </a:prstGeom>
        </p:spPr>
      </p:pic>
      <p:pic>
        <p:nvPicPr>
          <p:cNvPr id="237" name="그림 236">
            <a:extLst>
              <a:ext uri="{FF2B5EF4-FFF2-40B4-BE49-F238E27FC236}">
                <a16:creationId xmlns:a16="http://schemas.microsoft.com/office/drawing/2014/main" id="{5BE9DA7B-75E7-E41C-96AE-461A61486288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r="29449"/>
          <a:stretch>
            <a:fillRect/>
          </a:stretch>
        </p:blipFill>
        <p:spPr>
          <a:xfrm>
            <a:off x="5442931" y="2671875"/>
            <a:ext cx="2439239" cy="2142393"/>
          </a:xfrm>
          <a:prstGeom prst="rect">
            <a:avLst/>
          </a:prstGeom>
        </p:spPr>
      </p:pic>
      <p:pic>
        <p:nvPicPr>
          <p:cNvPr id="241" name="그림 240">
            <a:extLst>
              <a:ext uri="{FF2B5EF4-FFF2-40B4-BE49-F238E27FC236}">
                <a16:creationId xmlns:a16="http://schemas.microsoft.com/office/drawing/2014/main" id="{9787D5E9-D381-EA78-7C15-1761E5D7EF7E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567671" y="35955"/>
            <a:ext cx="1529959" cy="3974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5257837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AFA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A8E1D9F-1708-D582-3175-A4676BC3A5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91283388-D25E-A47D-E0C3-BDF51C9AD441}"/>
              </a:ext>
            </a:extLst>
          </p:cNvPr>
          <p:cNvSpPr txBox="1"/>
          <p:nvPr/>
        </p:nvSpPr>
        <p:spPr>
          <a:xfrm>
            <a:off x="323290" y="543879"/>
            <a:ext cx="1154542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2400" dirty="0">
                <a:solidFill>
                  <a:srgbClr val="002060"/>
                </a:solidFill>
                <a:latin typeface="Pretendard Variable Black" panose="02000003000000020004" pitchFamily="2" charset="-127"/>
                <a:ea typeface="Pretendard Variable Black" panose="02000003000000020004" pitchFamily="2" charset="-127"/>
                <a:cs typeface="Pretendard Variable Black" panose="02000003000000020004" pitchFamily="2" charset="-127"/>
              </a:rPr>
              <a:t>완벽한 증상 개선을 위한 최적의 병용 요법 </a:t>
            </a:r>
            <a:r>
              <a:rPr lang="en-US" altLang="ko-KR" sz="2400" dirty="0">
                <a:solidFill>
                  <a:srgbClr val="002060"/>
                </a:solidFill>
                <a:latin typeface="Pretendard Variable Black" panose="02000003000000020004" pitchFamily="2" charset="-127"/>
                <a:ea typeface="Pretendard Variable Black" panose="02000003000000020004" pitchFamily="2" charset="-127"/>
                <a:cs typeface="Pretendard Variable Black" panose="02000003000000020004" pitchFamily="2" charset="-127"/>
              </a:rPr>
              <a:t>PPI/P-CAB + </a:t>
            </a:r>
            <a:r>
              <a:rPr lang="ko-KR" altLang="en-US" sz="2400" dirty="0" err="1">
                <a:solidFill>
                  <a:srgbClr val="002060"/>
                </a:solidFill>
                <a:latin typeface="Pretendard Variable Black" panose="02000003000000020004" pitchFamily="2" charset="-127"/>
                <a:ea typeface="Pretendard Variable Black" panose="02000003000000020004" pitchFamily="2" charset="-127"/>
                <a:cs typeface="Pretendard Variable Black" panose="02000003000000020004" pitchFamily="2" charset="-127"/>
              </a:rPr>
              <a:t>모티리톤</a:t>
            </a:r>
            <a:endParaRPr lang="en-US" altLang="ko-KR" sz="2400" dirty="0">
              <a:solidFill>
                <a:srgbClr val="002060"/>
              </a:solidFill>
              <a:latin typeface="Pretendard Variable Black" panose="02000003000000020004" pitchFamily="2" charset="-127"/>
              <a:ea typeface="Pretendard Variable Black" panose="02000003000000020004" pitchFamily="2" charset="-127"/>
              <a:cs typeface="Pretendard Variable Black" panose="02000003000000020004" pitchFamily="2" charset="-127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8361BBCA-059F-6320-70F1-FC80B15B08B1}"/>
              </a:ext>
            </a:extLst>
          </p:cNvPr>
          <p:cNvSpPr txBox="1"/>
          <p:nvPr/>
        </p:nvSpPr>
        <p:spPr>
          <a:xfrm>
            <a:off x="8296708" y="6548765"/>
            <a:ext cx="3895292" cy="261610"/>
          </a:xfrm>
          <a:prstGeom prst="rect">
            <a:avLst/>
          </a:prstGeom>
          <a:solidFill>
            <a:srgbClr val="F7FBFC"/>
          </a:solidFill>
        </p:spPr>
        <p:txBody>
          <a:bodyPr wrap="square" rtlCol="0">
            <a:spAutoFit/>
          </a:bodyPr>
          <a:lstStyle/>
          <a:p>
            <a:pPr algn="r"/>
            <a:r>
              <a:rPr lang="ko-KR" altLang="ko-KR" sz="1100" dirty="0" err="1"/>
              <a:t>Nwokediuko</a:t>
            </a:r>
            <a:r>
              <a:rPr lang="ko-KR" altLang="ko-KR" sz="1100" dirty="0"/>
              <a:t> </a:t>
            </a:r>
            <a:r>
              <a:rPr lang="ko-KR" altLang="ko-KR" sz="1100" dirty="0" err="1"/>
              <a:t>et</a:t>
            </a:r>
            <a:r>
              <a:rPr lang="ko-KR" altLang="ko-KR" sz="1100" dirty="0"/>
              <a:t> </a:t>
            </a:r>
            <a:r>
              <a:rPr lang="ko-KR" altLang="ko-KR" sz="1100" dirty="0" err="1"/>
              <a:t>al</a:t>
            </a:r>
            <a:r>
              <a:rPr lang="ko-KR" altLang="ko-KR" sz="1100" dirty="0"/>
              <a:t>. BMC </a:t>
            </a:r>
            <a:r>
              <a:rPr lang="ko-KR" altLang="ko-KR" sz="1100" dirty="0" err="1"/>
              <a:t>Gastroenterology</a:t>
            </a:r>
            <a:r>
              <a:rPr lang="ko-KR" altLang="ko-KR" sz="1100" dirty="0"/>
              <a:t> (2020) 20:107 </a:t>
            </a:r>
            <a:endParaRPr lang="ko-KR" altLang="en-US" sz="1100" dirty="0">
              <a:latin typeface="Pretendard Variable Black" panose="02000003000000020004" pitchFamily="2" charset="-127"/>
              <a:ea typeface="Pretendard Variable Black" panose="02000003000000020004" pitchFamily="2" charset="-127"/>
              <a:cs typeface="Pretendard Variable Black" panose="02000003000000020004" pitchFamily="2" charset="-127"/>
            </a:endParaRPr>
          </a:p>
        </p:txBody>
      </p:sp>
      <p:sp>
        <p:nvSpPr>
          <p:cNvPr id="113" name="TextBox 112">
            <a:extLst>
              <a:ext uri="{FF2B5EF4-FFF2-40B4-BE49-F238E27FC236}">
                <a16:creationId xmlns:a16="http://schemas.microsoft.com/office/drawing/2014/main" id="{0DA2E035-233E-6066-19CE-73FB27012BF4}"/>
              </a:ext>
            </a:extLst>
          </p:cNvPr>
          <p:cNvSpPr txBox="1"/>
          <p:nvPr/>
        </p:nvSpPr>
        <p:spPr>
          <a:xfrm>
            <a:off x="2121621" y="5390791"/>
            <a:ext cx="7527204" cy="923330"/>
          </a:xfrm>
          <a:prstGeom prst="rect">
            <a:avLst/>
          </a:prstGeom>
          <a:solidFill>
            <a:srgbClr val="12426A"/>
          </a:solidFill>
        </p:spPr>
        <p:txBody>
          <a:bodyPr wrap="square" rtlCol="0">
            <a:spAutoFit/>
          </a:bodyPr>
          <a:lstStyle/>
          <a:p>
            <a:pPr algn="ctr"/>
            <a:r>
              <a:rPr lang="ko-KR" altLang="en-US" dirty="0" err="1">
                <a:solidFill>
                  <a:schemeClr val="bg1"/>
                </a:solidFill>
                <a:latin typeface="Pretendard Variable Black" panose="02000003000000020004" pitchFamily="2" charset="-127"/>
                <a:ea typeface="Pretendard Variable Black" panose="02000003000000020004" pitchFamily="2" charset="-127"/>
                <a:cs typeface="Pretendard Variable Black" panose="02000003000000020004" pitchFamily="2" charset="-127"/>
              </a:rPr>
              <a:t>모티리톤</a:t>
            </a:r>
            <a:r>
              <a:rPr lang="ko-KR" altLang="en-US" dirty="0">
                <a:solidFill>
                  <a:schemeClr val="bg1"/>
                </a:solidFill>
                <a:latin typeface="Pretendard Variable Black" panose="02000003000000020004" pitchFamily="2" charset="-127"/>
                <a:ea typeface="Pretendard Variable Black" panose="02000003000000020004" pitchFamily="2" charset="-127"/>
                <a:cs typeface="Pretendard Variable Black" panose="02000003000000020004" pitchFamily="2" charset="-127"/>
              </a:rPr>
              <a:t> 병용은 위산 억제제가 해결하지 못하는</a:t>
            </a:r>
            <a:endParaRPr lang="en-US" altLang="ko-KR" dirty="0">
              <a:solidFill>
                <a:schemeClr val="bg1"/>
              </a:solidFill>
              <a:latin typeface="Pretendard Variable Black" panose="02000003000000020004" pitchFamily="2" charset="-127"/>
              <a:ea typeface="Pretendard Variable Black" panose="02000003000000020004" pitchFamily="2" charset="-127"/>
              <a:cs typeface="Pretendard Variable Black" panose="02000003000000020004" pitchFamily="2" charset="-127"/>
            </a:endParaRPr>
          </a:p>
          <a:p>
            <a:pPr algn="ctr"/>
            <a:r>
              <a:rPr lang="ko-KR" altLang="en-US" dirty="0">
                <a:solidFill>
                  <a:schemeClr val="bg1"/>
                </a:solidFill>
                <a:latin typeface="Pretendard Variable Black" panose="02000003000000020004" pitchFamily="2" charset="-127"/>
                <a:ea typeface="Pretendard Variable Black" panose="02000003000000020004" pitchFamily="2" charset="-127"/>
                <a:cs typeface="Pretendard Variable Black" panose="02000003000000020004" pitchFamily="2" charset="-127"/>
              </a:rPr>
              <a:t>위장관 운동 지연 및 소화불량 증상을 </a:t>
            </a:r>
            <a:r>
              <a:rPr lang="ko-KR" altLang="en-US" dirty="0" err="1">
                <a:solidFill>
                  <a:schemeClr val="bg1"/>
                </a:solidFill>
                <a:latin typeface="Pretendard Variable Black" panose="02000003000000020004" pitchFamily="2" charset="-127"/>
                <a:ea typeface="Pretendard Variable Black" panose="02000003000000020004" pitchFamily="2" charset="-127"/>
                <a:cs typeface="Pretendard Variable Black" panose="02000003000000020004" pitchFamily="2" charset="-127"/>
              </a:rPr>
              <a:t>타겟팅하여</a:t>
            </a:r>
            <a:r>
              <a:rPr lang="ko-KR" altLang="en-US" dirty="0">
                <a:solidFill>
                  <a:schemeClr val="bg1"/>
                </a:solidFill>
                <a:latin typeface="Pretendard Variable Black" panose="02000003000000020004" pitchFamily="2" charset="-127"/>
                <a:ea typeface="Pretendard Variable Black" panose="02000003000000020004" pitchFamily="2" charset="-127"/>
                <a:cs typeface="Pretendard Variable Black" panose="02000003000000020004" pitchFamily="2" charset="-127"/>
              </a:rPr>
              <a:t> </a:t>
            </a:r>
            <a:endParaRPr lang="en-US" altLang="ko-KR" dirty="0">
              <a:solidFill>
                <a:schemeClr val="bg1"/>
              </a:solidFill>
              <a:latin typeface="Pretendard Variable Black" panose="02000003000000020004" pitchFamily="2" charset="-127"/>
              <a:ea typeface="Pretendard Variable Black" panose="02000003000000020004" pitchFamily="2" charset="-127"/>
              <a:cs typeface="Pretendard Variable Black" panose="02000003000000020004" pitchFamily="2" charset="-127"/>
            </a:endParaRPr>
          </a:p>
          <a:p>
            <a:pPr algn="ctr"/>
            <a:r>
              <a:rPr lang="en-US" altLang="ko-KR" dirty="0">
                <a:solidFill>
                  <a:srgbClr val="FFFF00"/>
                </a:solidFill>
                <a:latin typeface="Pretendard Variable Black" panose="02000003000000020004" pitchFamily="2" charset="-127"/>
                <a:ea typeface="Pretendard Variable Black" panose="02000003000000020004" pitchFamily="2" charset="-127"/>
                <a:cs typeface="Pretendard Variable Black" panose="02000003000000020004" pitchFamily="2" charset="-127"/>
              </a:rPr>
              <a:t>GERD</a:t>
            </a:r>
            <a:r>
              <a:rPr lang="ko-KR" altLang="en-US" dirty="0">
                <a:solidFill>
                  <a:srgbClr val="FFFF00"/>
                </a:solidFill>
                <a:latin typeface="Pretendard Variable Black" panose="02000003000000020004" pitchFamily="2" charset="-127"/>
                <a:ea typeface="Pretendard Variable Black" panose="02000003000000020004" pitchFamily="2" charset="-127"/>
                <a:cs typeface="Pretendard Variable Black" panose="02000003000000020004" pitchFamily="2" charset="-127"/>
              </a:rPr>
              <a:t> 치료율을 높이고 환자 전반의 만족도를 높일 수 있는 </a:t>
            </a:r>
            <a:r>
              <a:rPr lang="ko-KR" altLang="en-US" dirty="0">
                <a:solidFill>
                  <a:schemeClr val="bg1"/>
                </a:solidFill>
                <a:latin typeface="Pretendard Variable Black" panose="02000003000000020004" pitchFamily="2" charset="-127"/>
                <a:ea typeface="Pretendard Variable Black" panose="02000003000000020004" pitchFamily="2" charset="-127"/>
                <a:cs typeface="Pretendard Variable Black" panose="02000003000000020004" pitchFamily="2" charset="-127"/>
              </a:rPr>
              <a:t>필수적인 병용입니다</a:t>
            </a:r>
            <a:r>
              <a:rPr lang="en-US" altLang="ko-KR" dirty="0">
                <a:solidFill>
                  <a:schemeClr val="bg1"/>
                </a:solidFill>
                <a:latin typeface="Pretendard Variable Black" panose="02000003000000020004" pitchFamily="2" charset="-127"/>
                <a:ea typeface="Pretendard Variable Black" panose="02000003000000020004" pitchFamily="2" charset="-127"/>
                <a:cs typeface="Pretendard Variable Black" panose="02000003000000020004" pitchFamily="2" charset="-127"/>
              </a:rPr>
              <a:t>!</a:t>
            </a:r>
            <a:r>
              <a:rPr lang="ko-KR" altLang="en-US" dirty="0">
                <a:solidFill>
                  <a:schemeClr val="bg1"/>
                </a:solidFill>
                <a:latin typeface="Pretendard Variable Black" panose="02000003000000020004" pitchFamily="2" charset="-127"/>
                <a:ea typeface="Pretendard Variable Black" panose="02000003000000020004" pitchFamily="2" charset="-127"/>
                <a:cs typeface="Pretendard Variable Black" panose="02000003000000020004" pitchFamily="2" charset="-127"/>
              </a:rPr>
              <a:t> 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C03963D5-0B70-865B-9136-BF2D7676D568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-1" t="15297" r="-2152" b="30540"/>
          <a:stretch>
            <a:fillRect/>
          </a:stretch>
        </p:blipFill>
        <p:spPr>
          <a:xfrm>
            <a:off x="1028700" y="1694197"/>
            <a:ext cx="10467975" cy="3096121"/>
          </a:xfrm>
          <a:prstGeom prst="rect">
            <a:avLst/>
          </a:prstGeom>
        </p:spPr>
      </p:pic>
      <p:pic>
        <p:nvPicPr>
          <p:cNvPr id="23" name="그림 22">
            <a:extLst>
              <a:ext uri="{FF2B5EF4-FFF2-40B4-BE49-F238E27FC236}">
                <a16:creationId xmlns:a16="http://schemas.microsoft.com/office/drawing/2014/main" id="{8B1589B0-A701-8C38-36DE-68D57A39E59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67671" y="35955"/>
            <a:ext cx="1529959" cy="3974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4369637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BA7E3E3-E577-F03B-6EC0-AA1ED56236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>
            <a:extLst>
              <a:ext uri="{FF2B5EF4-FFF2-40B4-BE49-F238E27FC236}">
                <a16:creationId xmlns:a16="http://schemas.microsoft.com/office/drawing/2014/main" id="{F17C0ED2-0419-D5AC-3B29-C85398BD21C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8575"/>
            <a:ext cx="12192000" cy="68008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2020473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8575"/>
            <a:ext cx="12192000" cy="680085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28575"/>
            <a:ext cx="12192000" cy="680085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0085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8575"/>
            <a:ext cx="12192000" cy="680085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38</TotalTime>
  <Words>117</Words>
  <Application>Microsoft Office PowerPoint</Application>
  <PresentationFormat>와이드스크린</PresentationFormat>
  <Paragraphs>15</Paragraphs>
  <Slides>7</Slides>
  <Notes>1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7</vt:i4>
      </vt:variant>
    </vt:vector>
  </HeadingPairs>
  <TitlesOfParts>
    <vt:vector size="11" baseType="lpstr">
      <vt:lpstr>Pretendard Variable Black</vt:lpstr>
      <vt:lpstr>맑은 고딕</vt:lpstr>
      <vt:lpstr>Arial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유요한</dc:creator>
  <cp:lastModifiedBy>유요한</cp:lastModifiedBy>
  <cp:revision>2</cp:revision>
  <dcterms:created xsi:type="dcterms:W3CDTF">2026-07-14T02:11:51Z</dcterms:created>
  <dcterms:modified xsi:type="dcterms:W3CDTF">2026-07-14T02:50:05Z</dcterms:modified>
</cp:coreProperties>
</file>