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619F"/>
    <a:srgbClr val="1A5B91"/>
    <a:srgbClr val="E2EAF5"/>
    <a:srgbClr val="F4FAFA"/>
    <a:srgbClr val="FBFCFE"/>
    <a:srgbClr val="12426A"/>
    <a:srgbClr val="F1F4F9"/>
    <a:srgbClr val="FAFBFD"/>
    <a:srgbClr val="F7FBFC"/>
    <a:srgbClr val="F1EA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7AB7BC-E4A4-4A31-9523-3492A2C74AB6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670638-60C8-41EB-ACD6-ADADF7C37B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988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D429EB-2E8E-AB98-59F7-55E47C2BA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E50DCC2-977E-E758-3F2F-54AD9711B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471D73-0975-D8C3-90A8-2E3EB15B9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385D1-204F-4194-BF24-AE1CC2BF2B0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004CA1-18E4-2A8C-F687-9B4E70000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6D0014-AB42-7447-2061-83237911C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BEA3F-067B-4E12-8250-56391A357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12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9FAF0A-CE6B-31FA-61F9-26E927A9A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8AAB04-6726-7B03-4CC8-4AC9CECD6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6DD8F9-E3BD-852B-DA9A-CB123B3BA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385D1-204F-4194-BF24-AE1CC2BF2B0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D59BD8-A916-68CF-65F0-7E2114CFA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75C637-DDEA-C0CA-47B4-5C65B6AC6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BEA3F-067B-4E12-8250-56391A357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224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FEEB00-6EAE-2AF9-0837-F96675B1D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1B48A6-6C01-748A-8291-EDED1B9BD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009B3A-F8A8-4045-EBFB-6BE49951C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385D1-204F-4194-BF24-AE1CC2BF2B0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86739A-EDBA-2DAF-E686-932F70D1E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916486-2421-85F7-70CE-1C3A9367E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BEA3F-067B-4E12-8250-56391A357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685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F137E9-86D4-8D36-19D6-55C187578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CC42F2-E2FA-D919-1DDE-D692FFBEE0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29B884-9986-93CD-AE30-91B57464BD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10944B-F54E-D120-14BD-8D8C9BD2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385D1-204F-4194-BF24-AE1CC2BF2B0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9CB23D-318F-26BF-58FB-0FF9A9848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86C2A9-62B2-0C3A-9C90-96B20B1D1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BEA3F-067B-4E12-8250-56391A357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0909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425CB4-3002-0988-D730-24BE829BF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7C1DD6-4512-070B-F8C8-0791E5597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2B38F7-816E-B2C3-FA54-EAAB51D60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7718C45-44D3-A123-BDA2-3FF43B7774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CBB51A8-AD83-2844-8319-3831527EC9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33910AB-DF90-912B-8A29-D504CF6E8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385D1-204F-4194-BF24-AE1CC2BF2B0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56E19FA-D657-262C-342A-1837CFFF1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21ADBC0-CAAF-8440-1695-18E530D42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BEA3F-067B-4E12-8250-56391A357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70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928EC7-42A5-E245-E1EA-67E6A72C5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4E4EACC-3217-6F27-E8FC-822087255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385D1-204F-4194-BF24-AE1CC2BF2B0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B150FA-D8FF-1378-1845-9EBB7017C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BD3EA1-EB8F-7FA3-3833-85B6BB1A2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BEA3F-067B-4E12-8250-56391A357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195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BD1396E-3A99-82AF-D841-B2A6AC026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385D1-204F-4194-BF24-AE1CC2BF2B0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C187DDC-32A1-6079-8983-074E84E7F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E6C745-223A-02E3-4E0C-C4AC8324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BEA3F-067B-4E12-8250-56391A357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817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29CA3-23CC-5601-93DB-09829F6A2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95BDF5-29E4-4A74-8CE9-18AA5A307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855960-0412-B2A6-2D73-9061E7BBD4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9187F8-214E-63A2-FAC0-695499AC4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385D1-204F-4194-BF24-AE1CC2BF2B0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91AAB3-571B-625E-1520-B60FAA10E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9AA5CA-A394-5E7F-BE2E-2865C3B1D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BEA3F-067B-4E12-8250-56391A357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786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ED229-5B01-A5F6-5BEB-2E52B74E4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F7CBBB-310E-2EC1-3455-CF16800843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879BCA-21C7-3890-74D0-048B47D0F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6D4F89-83FC-4C63-5123-ED217A05E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385D1-204F-4194-BF24-AE1CC2BF2B0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EAEB4C-77A9-31C1-B290-22B73B43F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8A1B9F-EE65-EA5F-650A-517EC84DD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BEA3F-067B-4E12-8250-56391A357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765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1A8D0D-95BE-FEB5-70C6-72282886C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E50DAB-C8FE-4C09-63DB-34E0B026C9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23EED3-6178-3C1F-21E6-7BB85D7B1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385D1-204F-4194-BF24-AE1CC2BF2B0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617AFA-9628-5E12-C270-3092C1E40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FD853A-4E51-6AD6-F0DB-A2DD46113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BEA3F-067B-4E12-8250-56391A357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2276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1DF1269-2AF3-A793-A491-F5F334DC97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728065-78DB-AD88-3057-76160E245A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DDCD41-DF26-B63A-C359-DEEAC0D71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385D1-204F-4194-BF24-AE1CC2BF2B0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FE3C7B-33D0-4E1D-BDAE-39493E203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D2FA0A-64D6-FFE1-3F26-C3D9CE4D2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BEA3F-067B-4E12-8250-56391A357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396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7795756-16B7-EB97-BC73-2CF9D77D6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AB0F7E-DD8C-4FD5-4738-4DD4C993F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E7F65A-0E0E-F062-2728-6F8F3FA16A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E385D1-204F-4194-BF24-AE1CC2BF2B0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5FF050-AB9A-00F3-4E9C-30E1A97674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F80CD0-4A55-E476-04CB-B011A17942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3BEA3F-067B-4E12-8250-56391A357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240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60CE3651-0674-3142-7811-D6FD334DED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5" t="18724" b="22430"/>
          <a:stretch>
            <a:fillRect/>
          </a:stretch>
        </p:blipFill>
        <p:spPr>
          <a:xfrm>
            <a:off x="519653" y="1480732"/>
            <a:ext cx="11152691" cy="36838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C45459-F602-43B2-12E8-B96001F69A63}"/>
              </a:ext>
            </a:extLst>
          </p:cNvPr>
          <p:cNvSpPr txBox="1"/>
          <p:nvPr/>
        </p:nvSpPr>
        <p:spPr>
          <a:xfrm>
            <a:off x="519653" y="99760"/>
            <a:ext cx="107948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 </a:t>
            </a:r>
            <a:r>
              <a:rPr lang="ko-KR" altLang="en-US" sz="2800" dirty="0" err="1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모티리톤은</a:t>
            </a:r>
            <a:r>
              <a:rPr lang="en-US" altLang="ko-KR" sz="2800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 </a:t>
            </a:r>
            <a:r>
              <a:rPr lang="ko-KR" altLang="en-US" sz="2800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다른 </a:t>
            </a:r>
            <a:r>
              <a:rPr lang="en-US" altLang="ko-KR" sz="2800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Prokinetics </a:t>
            </a:r>
            <a:r>
              <a:rPr lang="ko-KR" altLang="en-US" sz="2800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와 달리</a:t>
            </a:r>
            <a:r>
              <a:rPr lang="en-US" altLang="ko-KR" sz="2800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,</a:t>
            </a:r>
          </a:p>
          <a:p>
            <a:pPr algn="ctr"/>
            <a:r>
              <a:rPr lang="en-US" altLang="ko-KR" sz="2800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CV Risk</a:t>
            </a:r>
            <a:r>
              <a:rPr lang="ko-KR" altLang="en-US" sz="2800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를 높이지 않았습니다</a:t>
            </a:r>
            <a:r>
              <a:rPr lang="en-US" altLang="ko-KR" sz="2800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.</a:t>
            </a:r>
            <a:endParaRPr lang="ko-KR" altLang="en-US" sz="28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038E7C6-464F-E483-2AC6-33BEF44AF628}"/>
              </a:ext>
            </a:extLst>
          </p:cNvPr>
          <p:cNvSpPr/>
          <p:nvPr/>
        </p:nvSpPr>
        <p:spPr>
          <a:xfrm>
            <a:off x="1569575" y="5380632"/>
            <a:ext cx="9460780" cy="713946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기존의 </a:t>
            </a:r>
            <a:r>
              <a:rPr lang="en-US" altLang="ko-KR" sz="20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D2 </a:t>
            </a:r>
            <a:r>
              <a:rPr lang="ko-KR" altLang="en-US" sz="2000" dirty="0" err="1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길항제</a:t>
            </a:r>
            <a:r>
              <a:rPr lang="en-US" altLang="ko-KR" sz="20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altLang="ko-KR" sz="2000" dirty="0" err="1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Mosapride</a:t>
            </a:r>
            <a:r>
              <a:rPr lang="en-US" altLang="ko-KR" sz="20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계열은 심혈관계 사건 발생 위험 증가가 확인된 반면</a:t>
            </a:r>
            <a:r>
              <a:rPr lang="en-US" altLang="ko-KR" sz="20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</a:p>
          <a:p>
            <a:pPr algn="ctr"/>
            <a:r>
              <a:rPr lang="ko-KR" altLang="en-US" sz="2000" dirty="0" err="1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모티리톤은</a:t>
            </a:r>
            <a:r>
              <a:rPr lang="ko-KR" altLang="en-US" sz="20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위험 증가가 확인되지 않았습니다</a:t>
            </a:r>
            <a:r>
              <a:rPr lang="en-US" altLang="ko-KR" sz="20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2000" dirty="0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D68914-79A7-101D-042F-9740AB445B2F}"/>
              </a:ext>
            </a:extLst>
          </p:cNvPr>
          <p:cNvSpPr txBox="1"/>
          <p:nvPr/>
        </p:nvSpPr>
        <p:spPr>
          <a:xfrm>
            <a:off x="11225748" y="22295"/>
            <a:ext cx="8931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[</a:t>
            </a:r>
            <a:r>
              <a:rPr lang="ko-KR" altLang="en-US" sz="11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내부교육용</a:t>
            </a:r>
            <a:r>
              <a:rPr lang="en-US" altLang="ko-KR" sz="11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]</a:t>
            </a:r>
            <a:endParaRPr lang="ko-KR" altLang="en-US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BA1B32-B0FB-589A-F1A8-946FF8F2E418}"/>
              </a:ext>
            </a:extLst>
          </p:cNvPr>
          <p:cNvSpPr txBox="1"/>
          <p:nvPr/>
        </p:nvSpPr>
        <p:spPr>
          <a:xfrm>
            <a:off x="7990209" y="6498706"/>
            <a:ext cx="42017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Park JY, et al. Cardiovascular Toxicology (2025) 25:1591–1603</a:t>
            </a:r>
            <a:endParaRPr lang="ko-KR" altLang="en-US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90525A-243A-D959-C231-8BF0E71DF7E8}"/>
              </a:ext>
            </a:extLst>
          </p:cNvPr>
          <p:cNvSpPr txBox="1"/>
          <p:nvPr/>
        </p:nvSpPr>
        <p:spPr>
          <a:xfrm>
            <a:off x="551980" y="1007957"/>
            <a:ext cx="107948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1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 빅데이터 연구에서 일부 </a:t>
            </a:r>
            <a:r>
              <a:rPr lang="en-US" altLang="ko-KR" sz="14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Prokinetics</a:t>
            </a:r>
            <a:r>
              <a:rPr lang="ko-KR" altLang="en-US" sz="1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는 처방 후 첫 </a:t>
            </a:r>
            <a:r>
              <a:rPr lang="en-US" altLang="ko-KR" sz="1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1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일 동안 심근경색 및 뇌졸중 발생 위험이 약 </a:t>
            </a:r>
            <a:r>
              <a:rPr lang="en-US" altLang="ko-KR" sz="1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2.3</a:t>
            </a:r>
            <a:r>
              <a:rPr lang="ko-KR" altLang="en-US" sz="1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배 증가한 것으로 보고됨</a:t>
            </a:r>
            <a:r>
              <a:rPr lang="en-US" altLang="ko-KR" sz="1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500" y="6554017"/>
            <a:ext cx="71364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/>
                <a:ea typeface="맑은 고딕"/>
              </a:rPr>
              <a:t>※</a:t>
            </a:r>
            <a:r>
              <a:rPr lang="ko-KR" altLang="en-US" sz="700" dirty="0"/>
              <a:t>본 연구에서는 </a:t>
            </a:r>
            <a:r>
              <a:rPr lang="en-US" altLang="ko-KR" sz="700" dirty="0"/>
              <a:t>metoclopramide, </a:t>
            </a:r>
            <a:r>
              <a:rPr lang="en-US" altLang="ko-KR" sz="700" dirty="0" err="1"/>
              <a:t>levosulpiride</a:t>
            </a:r>
            <a:r>
              <a:rPr lang="en-US" altLang="ko-KR" sz="700" dirty="0"/>
              <a:t>, </a:t>
            </a:r>
            <a:r>
              <a:rPr lang="en-US" altLang="ko-KR" sz="700" dirty="0" err="1"/>
              <a:t>domperidone</a:t>
            </a:r>
            <a:r>
              <a:rPr lang="en-US" altLang="ko-KR" sz="700" dirty="0"/>
              <a:t>, </a:t>
            </a:r>
            <a:r>
              <a:rPr lang="en-US" altLang="ko-KR" sz="700" dirty="0" err="1"/>
              <a:t>itopride</a:t>
            </a:r>
            <a:r>
              <a:rPr lang="en-US" altLang="ko-KR" sz="700" dirty="0"/>
              <a:t>, </a:t>
            </a:r>
            <a:r>
              <a:rPr lang="en-US" altLang="ko-KR" sz="700" dirty="0" err="1"/>
              <a:t>mosapride</a:t>
            </a:r>
            <a:r>
              <a:rPr lang="en-US" altLang="ko-KR" sz="700" dirty="0"/>
              <a:t>, </a:t>
            </a:r>
            <a:r>
              <a:rPr lang="en-US" altLang="ko-KR" sz="700" dirty="0" err="1"/>
              <a:t>prucalopride</a:t>
            </a:r>
            <a:r>
              <a:rPr lang="en-US" altLang="ko-KR" sz="700" dirty="0"/>
              <a:t> </a:t>
            </a:r>
            <a:r>
              <a:rPr lang="ko-KR" altLang="en-US" sz="700" dirty="0"/>
              <a:t>및 </a:t>
            </a:r>
            <a:r>
              <a:rPr lang="ko-KR" altLang="en-US" sz="700" dirty="0" err="1"/>
              <a:t>모티리톤을</a:t>
            </a:r>
            <a:r>
              <a:rPr lang="ko-KR" altLang="en-US" sz="700" dirty="0"/>
              <a:t> 평가하였으며</a:t>
            </a:r>
            <a:r>
              <a:rPr lang="en-US" altLang="ko-KR" sz="700" dirty="0"/>
              <a:t>, </a:t>
            </a:r>
          </a:p>
          <a:p>
            <a:r>
              <a:rPr lang="ko-KR" altLang="en-US" sz="700" dirty="0" err="1"/>
              <a:t>모티리톤만</a:t>
            </a:r>
            <a:r>
              <a:rPr lang="ko-KR" altLang="en-US" sz="700" dirty="0"/>
              <a:t> 심혈관계 사건 위험의 유의한 증가를 보이지 않았습니다</a:t>
            </a:r>
            <a:r>
              <a:rPr lang="en-US" altLang="ko-KR" sz="700" dirty="0"/>
              <a:t>(IRR 1.00, 95% CI 0.79–1.26).</a:t>
            </a:r>
            <a:endParaRPr lang="ko-KR" altLang="en-US" sz="700" dirty="0"/>
          </a:p>
        </p:txBody>
      </p:sp>
      <p:sp>
        <p:nvSpPr>
          <p:cNvPr id="16" name="TextBox 15"/>
          <p:cNvSpPr txBox="1"/>
          <p:nvPr/>
        </p:nvSpPr>
        <p:spPr>
          <a:xfrm>
            <a:off x="5935570" y="4791929"/>
            <a:ext cx="21175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rgbClr val="0E61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(95% CI 0.79–1.26)</a:t>
            </a:r>
            <a:endParaRPr lang="ko-KR" altLang="en-US" sz="1200" dirty="0">
              <a:solidFill>
                <a:srgbClr val="0E619F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51980" y="1575883"/>
            <a:ext cx="361752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200" b="1" dirty="0" err="1"/>
              <a:t>Prokinetics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계열별 </a:t>
            </a:r>
            <a:r>
              <a:rPr lang="ko-KR" altLang="en-US" sz="1200" b="1" dirty="0" err="1"/>
              <a:t>심혈관계</a:t>
            </a:r>
            <a:r>
              <a:rPr lang="ko-KR" altLang="en-US" sz="1200" b="1" dirty="0"/>
              <a:t> 사건 발생 위험</a:t>
            </a:r>
            <a:r>
              <a:rPr lang="en-US" altLang="ko-KR" sz="1200" b="1" dirty="0"/>
              <a:t>(IRR)</a:t>
            </a:r>
            <a:endParaRPr lang="ko-KR" altLang="en-US" sz="1200" b="1" dirty="0"/>
          </a:p>
        </p:txBody>
      </p:sp>
      <p:sp>
        <p:nvSpPr>
          <p:cNvPr id="8" name="직사각형 7"/>
          <p:cNvSpPr/>
          <p:nvPr/>
        </p:nvSpPr>
        <p:spPr>
          <a:xfrm>
            <a:off x="0" y="6319842"/>
            <a:ext cx="2012089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700" dirty="0"/>
              <a:t>IRR, Incidence Rate Ratio; CV, Cardiovascular</a:t>
            </a:r>
            <a:endParaRPr lang="ko-KR" altLang="en-US" sz="700" dirty="0"/>
          </a:p>
        </p:txBody>
      </p:sp>
      <p:sp>
        <p:nvSpPr>
          <p:cNvPr id="20" name="TextBox 19"/>
          <p:cNvSpPr txBox="1"/>
          <p:nvPr/>
        </p:nvSpPr>
        <p:spPr>
          <a:xfrm>
            <a:off x="11258109" y="6674893"/>
            <a:ext cx="96051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 err="1"/>
              <a:t>MOT2607D1</a:t>
            </a:r>
            <a:r>
              <a:rPr lang="en-US" altLang="ko-KR" sz="700" dirty="0"/>
              <a:t>-2807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739517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53595-8D2B-CF03-DB93-14DA417D7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E39A1C2-1D7A-942F-BE5A-F640C1F8C1C7}"/>
              </a:ext>
            </a:extLst>
          </p:cNvPr>
          <p:cNvSpPr txBox="1"/>
          <p:nvPr/>
        </p:nvSpPr>
        <p:spPr>
          <a:xfrm>
            <a:off x="1444934" y="427433"/>
            <a:ext cx="9302129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다양한 임상 근거로 확인한 </a:t>
            </a:r>
            <a:r>
              <a:rPr lang="ko-KR" altLang="en-US" sz="3200" dirty="0" err="1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모티리톤의</a:t>
            </a:r>
            <a:r>
              <a:rPr lang="ko-KR" altLang="en-US" sz="3200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 안전성과 유효성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FEBB6CB-C7D3-55C0-90C0-C367DB99DE16}"/>
              </a:ext>
            </a:extLst>
          </p:cNvPr>
          <p:cNvSpPr/>
          <p:nvPr/>
        </p:nvSpPr>
        <p:spPr>
          <a:xfrm>
            <a:off x="845127" y="5181817"/>
            <a:ext cx="10501744" cy="96058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err="1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모티리톤은</a:t>
            </a:r>
            <a:r>
              <a:rPr lang="ko-KR" altLang="en-US" sz="24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만성질환</a:t>
            </a:r>
            <a:r>
              <a:rPr lang="en-US" altLang="ko-KR" sz="24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24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중증질환</a:t>
            </a:r>
            <a:r>
              <a:rPr lang="en-US" altLang="ko-KR" sz="24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24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등 다양한 환자군에서</a:t>
            </a:r>
            <a:endParaRPr lang="en-US" altLang="ko-KR" sz="2400" dirty="0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ctr"/>
            <a:r>
              <a:rPr lang="ko-KR" altLang="en-US" sz="24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축적된 임상 근거를 보유한 안전한 </a:t>
            </a:r>
            <a:r>
              <a:rPr lang="ko-KR" altLang="en-US" sz="2400" dirty="0" err="1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위장관운동개선제입니다</a:t>
            </a:r>
            <a:r>
              <a:rPr lang="en-US" altLang="ko-KR" sz="24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989539-90D9-13AA-2142-49B873E77DC7}"/>
              </a:ext>
            </a:extLst>
          </p:cNvPr>
          <p:cNvSpPr txBox="1"/>
          <p:nvPr/>
        </p:nvSpPr>
        <p:spPr>
          <a:xfrm>
            <a:off x="11225748" y="22295"/>
            <a:ext cx="8931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[</a:t>
            </a:r>
            <a:r>
              <a:rPr lang="ko-KR" altLang="en-US" sz="11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내부교육용</a:t>
            </a:r>
            <a:r>
              <a:rPr lang="en-US" altLang="ko-KR" sz="11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]</a:t>
            </a:r>
            <a:endParaRPr lang="ko-KR" altLang="en-US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8AD559-D56A-4C6E-402F-CCAD3DC62E50}"/>
              </a:ext>
            </a:extLst>
          </p:cNvPr>
          <p:cNvSpPr txBox="1"/>
          <p:nvPr/>
        </p:nvSpPr>
        <p:spPr>
          <a:xfrm>
            <a:off x="9620113" y="6401652"/>
            <a:ext cx="2616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 algn="r">
              <a:buAutoNum type="arabicPeriod"/>
            </a:pPr>
            <a:r>
              <a:rPr lang="en-US" altLang="ko-KR" sz="6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Park JY, et al. Cardiovascular Toxicology (2025) 25:1591–1603</a:t>
            </a:r>
          </a:p>
          <a:p>
            <a:pPr marL="228600" indent="-228600" algn="r">
              <a:buAutoNum type="arabicPeriod"/>
            </a:pPr>
            <a:r>
              <a:rPr lang="en-US" altLang="ko-KR" sz="6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Choi JH, et al. </a:t>
            </a:r>
            <a:r>
              <a:rPr lang="en-US" altLang="ko-KR" sz="6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Mov</a:t>
            </a:r>
            <a:r>
              <a:rPr lang="en-US" altLang="ko-KR" sz="6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6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Disord</a:t>
            </a:r>
            <a:r>
              <a:rPr lang="en-US" altLang="ko-KR" sz="6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 2020. </a:t>
            </a:r>
            <a:r>
              <a:rPr lang="en-US" altLang="ko-KR" sz="6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Nov;35</a:t>
            </a:r>
            <a:r>
              <a:rPr lang="en-US" altLang="ko-KR" sz="6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(11):1966-1976.</a:t>
            </a:r>
          </a:p>
          <a:p>
            <a:pPr marL="228600" indent="-228600" algn="r">
              <a:buAutoNum type="arabicPeriod"/>
            </a:pPr>
            <a:r>
              <a:rPr lang="en-US" altLang="ko-KR" sz="6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Jin</a:t>
            </a:r>
            <a:r>
              <a:rPr lang="en-US" altLang="ko-KR" sz="6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M, et al. </a:t>
            </a:r>
            <a:r>
              <a:rPr lang="it-IT" altLang="ko-KR" sz="600" dirty="0"/>
              <a:t>Int J Mol Sci. 2018 Dec 13;19(12):4035.</a:t>
            </a:r>
            <a:endParaRPr lang="ko-KR" altLang="en-US" sz="6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D8B6F86-F024-FFB0-B793-D95E52A34BD1}"/>
              </a:ext>
            </a:extLst>
          </p:cNvPr>
          <p:cNvSpPr/>
          <p:nvPr/>
        </p:nvSpPr>
        <p:spPr>
          <a:xfrm>
            <a:off x="845127" y="1392166"/>
            <a:ext cx="10380621" cy="890254"/>
          </a:xfrm>
          <a:prstGeom prst="roundRect">
            <a:avLst/>
          </a:prstGeom>
          <a:solidFill>
            <a:srgbClr val="E2EA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AE79621-B4F6-FB68-8FF8-5F1414FDE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52" y="1504086"/>
            <a:ext cx="560088" cy="6340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B7ED261-4AC4-7E93-699C-5788059B1A66}"/>
              </a:ext>
            </a:extLst>
          </p:cNvPr>
          <p:cNvSpPr txBox="1"/>
          <p:nvPr/>
        </p:nvSpPr>
        <p:spPr>
          <a:xfrm>
            <a:off x="1723746" y="1433997"/>
            <a:ext cx="9702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err="1">
                <a:solidFill>
                  <a:srgbClr val="1A5B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모티리톤의</a:t>
            </a:r>
            <a:r>
              <a:rPr lang="ko-KR" altLang="en-US" sz="2800" dirty="0">
                <a:solidFill>
                  <a:srgbClr val="1A5B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안전성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B0A928-12E3-2ED4-C881-E4F8D7524B59}"/>
              </a:ext>
            </a:extLst>
          </p:cNvPr>
          <p:cNvSpPr txBox="1"/>
          <p:nvPr/>
        </p:nvSpPr>
        <p:spPr>
          <a:xfrm>
            <a:off x="1730432" y="1848825"/>
            <a:ext cx="9702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15,621</a:t>
            </a:r>
            <a:r>
              <a:rPr lang="ko-KR" altLang="en-US" sz="1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명 대규모 </a:t>
            </a:r>
            <a:r>
              <a:rPr lang="en-US" altLang="ko-KR" sz="1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Real-World Data </a:t>
            </a:r>
            <a:r>
              <a:rPr lang="ko-KR" altLang="en-US" sz="1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에서 입증된 심혈관 위험</a:t>
            </a:r>
            <a:r>
              <a:rPr lang="en-US" altLang="ko-KR" sz="1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(MI, Stroke) </a:t>
            </a:r>
            <a:r>
              <a:rPr lang="ko-KR" altLang="en-US" sz="1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증가 없는 안전한 </a:t>
            </a:r>
            <a:r>
              <a:rPr lang="en-US" altLang="ko-KR" sz="1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Prokinetics</a:t>
            </a:r>
            <a:endParaRPr lang="ko-KR" altLang="en-US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3E971DF-20F9-F86C-E8BE-FD395C5E50AD}"/>
              </a:ext>
            </a:extLst>
          </p:cNvPr>
          <p:cNvSpPr/>
          <p:nvPr/>
        </p:nvSpPr>
        <p:spPr>
          <a:xfrm>
            <a:off x="845127" y="2536191"/>
            <a:ext cx="10380621" cy="890254"/>
          </a:xfrm>
          <a:prstGeom prst="roundRect">
            <a:avLst/>
          </a:prstGeom>
          <a:solidFill>
            <a:srgbClr val="E2EA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49066ED-64DF-2504-504F-656D65155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52" y="2648111"/>
            <a:ext cx="560088" cy="63406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3AD0ADC-906B-22B9-6D7F-9A4766792639}"/>
              </a:ext>
            </a:extLst>
          </p:cNvPr>
          <p:cNvSpPr txBox="1"/>
          <p:nvPr/>
        </p:nvSpPr>
        <p:spPr>
          <a:xfrm>
            <a:off x="1723746" y="2614966"/>
            <a:ext cx="9702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1A5B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Pass-GI Study</a:t>
            </a:r>
            <a:endParaRPr lang="ko-KR" altLang="en-US" sz="2800" dirty="0">
              <a:solidFill>
                <a:srgbClr val="1A5B9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172D9F-CA03-AC22-0895-F484434EFE33}"/>
              </a:ext>
            </a:extLst>
          </p:cNvPr>
          <p:cNvSpPr txBox="1"/>
          <p:nvPr/>
        </p:nvSpPr>
        <p:spPr>
          <a:xfrm>
            <a:off x="1730432" y="3029794"/>
            <a:ext cx="9702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만성질환 뿐 아니라 </a:t>
            </a:r>
            <a:r>
              <a:rPr lang="en-US" altLang="ko-KR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Parkinson's disease </a:t>
            </a:r>
            <a:r>
              <a:rPr lang="ko-KR" altLang="en-US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환자 대상 임상에서 </a:t>
            </a:r>
            <a:r>
              <a:rPr lang="en-US" altLang="ko-KR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12</a:t>
            </a:r>
            <a:r>
              <a:rPr lang="ko-KR" altLang="en-US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주간 운동증상 악화 없이 </a:t>
            </a:r>
            <a:r>
              <a:rPr lang="en-US" altLang="ko-KR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 </a:t>
            </a:r>
            <a:r>
              <a:rPr lang="ko-KR" altLang="en-US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증상 개선 효과를 확인한 </a:t>
            </a:r>
            <a:r>
              <a:rPr lang="ko-KR" altLang="en-US" sz="1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모티리톤</a:t>
            </a:r>
            <a:endParaRPr lang="ko-KR" altLang="en-US" sz="1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FBF894C-D4F8-66EB-D7BB-3DCF113A1C2A}"/>
              </a:ext>
            </a:extLst>
          </p:cNvPr>
          <p:cNvSpPr/>
          <p:nvPr/>
        </p:nvSpPr>
        <p:spPr>
          <a:xfrm>
            <a:off x="845127" y="3750025"/>
            <a:ext cx="10380621" cy="890254"/>
          </a:xfrm>
          <a:prstGeom prst="roundRect">
            <a:avLst/>
          </a:prstGeom>
          <a:solidFill>
            <a:srgbClr val="E2EA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B306C058-9B97-8D96-B7F6-CE3662666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52" y="3861945"/>
            <a:ext cx="560088" cy="63406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5190BBE-DA8A-9558-572B-DFCE30EF4D1B}"/>
              </a:ext>
            </a:extLst>
          </p:cNvPr>
          <p:cNvSpPr txBox="1"/>
          <p:nvPr/>
        </p:nvSpPr>
        <p:spPr>
          <a:xfrm>
            <a:off x="1723746" y="3838036"/>
            <a:ext cx="9702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1A5B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Multi-Target Mechanism</a:t>
            </a:r>
            <a:endParaRPr lang="ko-KR" altLang="en-US" sz="2800" dirty="0">
              <a:solidFill>
                <a:srgbClr val="1A5B9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196CA8-3DB1-AD70-7FC8-E5E699287289}"/>
              </a:ext>
            </a:extLst>
          </p:cNvPr>
          <p:cNvSpPr txBox="1"/>
          <p:nvPr/>
        </p:nvSpPr>
        <p:spPr>
          <a:xfrm>
            <a:off x="1730432" y="4252864"/>
            <a:ext cx="9702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다양한 병태생리에 작용하여</a:t>
            </a:r>
            <a:r>
              <a:rPr lang="en-US" altLang="ko-KR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(5HT-4, 5HT</a:t>
            </a:r>
            <a:r>
              <a:rPr lang="en-US" altLang="ko-KR" sz="9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</a:t>
            </a:r>
            <a:r>
              <a:rPr lang="en-US" altLang="ko-KR" sz="1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</a:t>
            </a:r>
            <a:r>
              <a:rPr lang="en-US" altLang="ko-KR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, D2)</a:t>
            </a:r>
            <a:r>
              <a:rPr lang="ko-KR" altLang="en-US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위배출지연 개선</a:t>
            </a:r>
            <a:r>
              <a:rPr lang="en-US" altLang="ko-KR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, </a:t>
            </a:r>
            <a:r>
              <a:rPr lang="ko-KR" altLang="en-US" sz="1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위순응장애</a:t>
            </a:r>
            <a:r>
              <a:rPr lang="ko-KR" altLang="en-US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개선</a:t>
            </a:r>
            <a:r>
              <a:rPr lang="en-US" altLang="ko-KR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, </a:t>
            </a:r>
            <a:r>
              <a:rPr lang="ko-KR" altLang="en-US" sz="1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위대장과민</a:t>
            </a:r>
            <a:r>
              <a:rPr lang="ko-KR" altLang="en-US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개선 등 </a:t>
            </a:r>
            <a:r>
              <a:rPr lang="en-US" altLang="ko-KR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GI </a:t>
            </a:r>
            <a:r>
              <a:rPr lang="ko-KR" altLang="en-US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증상 개선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730432" y="1504086"/>
            <a:ext cx="2504684" cy="3332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4087755" y="2657347"/>
            <a:ext cx="426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aseline="30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</a:t>
            </a:r>
            <a:endParaRPr lang="ko-KR" altLang="en-US" baseline="30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24659" y="6670956"/>
            <a:ext cx="4257897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700" dirty="0"/>
              <a:t>Pass-GI Study, Parkinson's disease GI Symptom Study; MI, Myocardial Infarction; GI, gastrointestinal</a:t>
            </a:r>
            <a:endParaRPr lang="ko-KR" altLang="en-US" sz="7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0ADEE4-5B5F-878A-5B03-E7DF2329E201}"/>
              </a:ext>
            </a:extLst>
          </p:cNvPr>
          <p:cNvSpPr txBox="1"/>
          <p:nvPr/>
        </p:nvSpPr>
        <p:spPr>
          <a:xfrm>
            <a:off x="4301028" y="1455590"/>
            <a:ext cx="426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aseline="30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</a:t>
            </a:r>
            <a:endParaRPr lang="ko-KR" altLang="en-US" baseline="30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2611AA-77BB-F937-86C1-093AA1E486F7}"/>
              </a:ext>
            </a:extLst>
          </p:cNvPr>
          <p:cNvSpPr txBox="1"/>
          <p:nvPr/>
        </p:nvSpPr>
        <p:spPr>
          <a:xfrm>
            <a:off x="5808980" y="3883867"/>
            <a:ext cx="426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aseline="30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</a:t>
            </a:r>
            <a:endParaRPr lang="ko-KR" altLang="en-US" baseline="30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1769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288</Words>
  <Application>Microsoft Office PowerPoint</Application>
  <PresentationFormat>와이드스크린</PresentationFormat>
  <Paragraphs>30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Pretendard Black</vt:lpstr>
      <vt:lpstr>Pretendard Light</vt:lpstr>
      <vt:lpstr>Pretendard Medium</vt:lpstr>
      <vt:lpstr>Pretendard SemiBold</vt:lpstr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유요한</dc:creator>
  <cp:lastModifiedBy>유요한</cp:lastModifiedBy>
  <cp:revision>30</cp:revision>
  <dcterms:created xsi:type="dcterms:W3CDTF">2026-07-14T02:11:51Z</dcterms:created>
  <dcterms:modified xsi:type="dcterms:W3CDTF">2026-07-19T23:29:41Z</dcterms:modified>
</cp:coreProperties>
</file>