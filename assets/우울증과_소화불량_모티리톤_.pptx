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5" r:id="rId2"/>
  </p:sldMasterIdLst>
  <p:notesMasterIdLst>
    <p:notesMasterId r:id="rId14"/>
  </p:notesMasterIdLst>
  <p:sldIdLst>
    <p:sldId id="912" r:id="rId3"/>
    <p:sldId id="913" r:id="rId4"/>
    <p:sldId id="911" r:id="rId5"/>
    <p:sldId id="914" r:id="rId6"/>
    <p:sldId id="963" r:id="rId7"/>
    <p:sldId id="965" r:id="rId8"/>
    <p:sldId id="964" r:id="rId9"/>
    <p:sldId id="966" r:id="rId10"/>
    <p:sldId id="968" r:id="rId11"/>
    <p:sldId id="969" r:id="rId12"/>
    <p:sldId id="967" r:id="rId1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00FFFF"/>
    <a:srgbClr val="00FF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248" autoAdjust="0"/>
  </p:normalViewPr>
  <p:slideViewPr>
    <p:cSldViewPr>
      <p:cViewPr varScale="1">
        <p:scale>
          <a:sx n="100" d="100"/>
          <a:sy n="100" d="100"/>
        </p:scale>
        <p:origin x="-1949" y="-86"/>
      </p:cViewPr>
      <p:guideLst>
        <p:guide orient="horz" pos="2160"/>
        <p:guide pos="2880"/>
      </p:guideLst>
    </p:cSldViewPr>
  </p:slideViewPr>
  <p:notesTextViewPr>
    <p:cViewPr>
      <p:scale>
        <a:sx n="80" d="100"/>
        <a:sy n="80" d="100"/>
      </p:scale>
      <p:origin x="0" y="0"/>
    </p:cViewPr>
  </p:notesTextViewPr>
  <p:sorterViewPr>
    <p:cViewPr>
      <p:scale>
        <a:sx n="125" d="100"/>
        <a:sy n="125" d="100"/>
      </p:scale>
      <p:origin x="0" y="125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donga\AppData\Local\MyGuard\urlfolder\&#47784;&#54000;&#47532;&#53668;%20PK%20&#45436;&#47928;%20data%20&#51116;&#51221;&#47532;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donga\AppData\Local\MyGuard\urlfolder\&#47784;&#54000;&#47532;&#53668;%20bbb%20&#53685;&#44284;&#50668;&#48512;&#44288;&#47144;%20rat%20&#49892;&#54744;%20&#51088;&#47308;&#51077;&#45768;&#45796;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9806668129332144"/>
          <c:y val="4.4592462979164707E-2"/>
          <c:w val="0.74518401144129465"/>
          <c:h val="0.73750891774310656"/>
        </c:manualLayout>
      </c:layout>
      <c:lineChart>
        <c:grouping val="standard"/>
        <c:varyColors val="0"/>
        <c:ser>
          <c:idx val="0"/>
          <c:order val="0"/>
          <c:tx>
            <c:strRef>
              <c:f>Sheet1!$B$4</c:f>
              <c:strCache>
                <c:ptCount val="1"/>
                <c:pt idx="0">
                  <c:v>Small intestine</c:v>
                </c:pt>
              </c:strCache>
            </c:strRef>
          </c:tx>
          <c:spPr>
            <a:ln>
              <a:solidFill>
                <a:srgbClr val="6DC0FF"/>
              </a:solidFill>
            </a:ln>
          </c:spPr>
          <c:marker>
            <c:symbol val="diamond"/>
            <c:size val="12"/>
            <c:spPr>
              <a:solidFill>
                <a:srgbClr val="0070C0"/>
              </a:solidFill>
            </c:spPr>
          </c:marker>
          <c:cat>
            <c:strRef>
              <c:f>Sheet1!$C$3:$E$3</c:f>
              <c:strCache>
                <c:ptCount val="3"/>
                <c:pt idx="0">
                  <c:v>30 min</c:v>
                </c:pt>
                <c:pt idx="1">
                  <c:v>120 min</c:v>
                </c:pt>
                <c:pt idx="2">
                  <c:v>360 min</c:v>
                </c:pt>
              </c:strCache>
            </c:strRef>
          </c:cat>
          <c:val>
            <c:numRef>
              <c:f>Sheet1!$C$4:$E$4</c:f>
              <c:numCache>
                <c:formatCode>General</c:formatCode>
                <c:ptCount val="3"/>
                <c:pt idx="0">
                  <c:v>15700</c:v>
                </c:pt>
                <c:pt idx="1">
                  <c:v>1860</c:v>
                </c:pt>
                <c:pt idx="2">
                  <c:v>1400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9FD5-46B8-96A4-C480C43A87B7}"/>
            </c:ext>
          </c:extLst>
        </c:ser>
        <c:ser>
          <c:idx val="1"/>
          <c:order val="1"/>
          <c:tx>
            <c:strRef>
              <c:f>Sheet1!$B$5</c:f>
              <c:strCache>
                <c:ptCount val="1"/>
                <c:pt idx="0">
                  <c:v>Stomach</c:v>
                </c:pt>
              </c:strCache>
            </c:strRef>
          </c:tx>
          <c:spPr>
            <a:ln>
              <a:solidFill>
                <a:srgbClr val="00F66F"/>
              </a:solidFill>
            </a:ln>
          </c:spPr>
          <c:marker>
            <c:symbol val="square"/>
            <c:size val="10"/>
            <c:spPr>
              <a:solidFill>
                <a:srgbClr val="00B050"/>
              </a:solidFill>
              <a:ln>
                <a:noFill/>
              </a:ln>
            </c:spPr>
          </c:marker>
          <c:cat>
            <c:strRef>
              <c:f>Sheet1!$C$3:$E$3</c:f>
              <c:strCache>
                <c:ptCount val="3"/>
                <c:pt idx="0">
                  <c:v>30 min</c:v>
                </c:pt>
                <c:pt idx="1">
                  <c:v>120 min</c:v>
                </c:pt>
                <c:pt idx="2">
                  <c:v>360 min</c:v>
                </c:pt>
              </c:strCache>
            </c:strRef>
          </c:cat>
          <c:val>
            <c:numRef>
              <c:f>Sheet1!$C$5:$E$5</c:f>
              <c:numCache>
                <c:formatCode>General</c:formatCode>
                <c:ptCount val="3"/>
                <c:pt idx="0">
                  <c:v>6020</c:v>
                </c:pt>
                <c:pt idx="1">
                  <c:v>2450</c:v>
                </c:pt>
                <c:pt idx="2">
                  <c:v>535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9FD5-46B8-96A4-C480C43A87B7}"/>
            </c:ext>
          </c:extLst>
        </c:ser>
        <c:ser>
          <c:idx val="2"/>
          <c:order val="2"/>
          <c:tx>
            <c:strRef>
              <c:f>Sheet1!$B$6</c:f>
              <c:strCache>
                <c:ptCount val="1"/>
                <c:pt idx="0">
                  <c:v>Brain</c:v>
                </c:pt>
              </c:strCache>
            </c:strRef>
          </c:tx>
          <c:spPr>
            <a:ln>
              <a:solidFill>
                <a:srgbClr val="FF6161"/>
              </a:solidFill>
            </a:ln>
          </c:spPr>
          <c:marker>
            <c:symbol val="triangle"/>
            <c:size val="12"/>
            <c:spPr>
              <a:solidFill>
                <a:srgbClr val="FF0000"/>
              </a:solidFill>
              <a:ln>
                <a:noFill/>
              </a:ln>
            </c:spPr>
          </c:marker>
          <c:cat>
            <c:strRef>
              <c:f>Sheet1!$C$3:$E$3</c:f>
              <c:strCache>
                <c:ptCount val="3"/>
                <c:pt idx="0">
                  <c:v>30 min</c:v>
                </c:pt>
                <c:pt idx="1">
                  <c:v>120 min</c:v>
                </c:pt>
                <c:pt idx="2">
                  <c:v>360 min</c:v>
                </c:pt>
              </c:strCache>
            </c:strRef>
          </c:cat>
          <c:val>
            <c:numRef>
              <c:f>Sheet1!$C$6:$E$6</c:f>
              <c:numCache>
                <c:formatCode>General</c:formatCode>
                <c:ptCount val="3"/>
                <c:pt idx="0">
                  <c:v>376</c:v>
                </c:pt>
                <c:pt idx="1">
                  <c:v>177</c:v>
                </c:pt>
                <c:pt idx="2">
                  <c:v>219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2-9FD5-46B8-96A4-C480C43A87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95582336"/>
        <c:axId val="595588992"/>
      </c:lineChart>
      <c:catAx>
        <c:axId val="595582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ko-KR"/>
                  <a:t>시 간</a:t>
                </a:r>
              </a:p>
            </c:rich>
          </c:tx>
          <c:layout>
            <c:manualLayout>
              <c:xMode val="edge"/>
              <c:yMode val="edge"/>
              <c:x val="0.90275411538716066"/>
              <c:y val="0.81951791635532645"/>
            </c:manualLayout>
          </c:layout>
          <c:overlay val="0"/>
        </c:title>
        <c:numFmt formatCode="General" sourceLinked="0"/>
        <c:majorTickMark val="out"/>
        <c:minorTickMark val="none"/>
        <c:tickLblPos val="nextTo"/>
        <c:spPr>
          <a:ln w="25400"/>
        </c:spPr>
        <c:crossAx val="595588992"/>
        <c:crosses val="autoZero"/>
        <c:auto val="1"/>
        <c:lblAlgn val="ctr"/>
        <c:lblOffset val="100"/>
        <c:noMultiLvlLbl val="0"/>
      </c:catAx>
      <c:valAx>
        <c:axId val="595588992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 sz="1050"/>
                </a:pPr>
                <a:r>
                  <a:rPr lang="en-US" sz="1050" dirty="0"/>
                  <a:t>THP concentration (ng/g)</a:t>
                </a:r>
                <a:endParaRPr lang="ko-KR" sz="1050" dirty="0"/>
              </a:p>
            </c:rich>
          </c:tx>
          <c:layout>
            <c:manualLayout>
              <c:xMode val="edge"/>
              <c:yMode val="edge"/>
              <c:x val="7.9712678145339583E-3"/>
              <c:y val="0.15050069748705044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spPr>
          <a:ln w="25400"/>
        </c:spPr>
        <c:crossAx val="595582336"/>
        <c:crosses val="autoZero"/>
        <c:crossBetween val="between"/>
        <c:majorUnit val="5000"/>
      </c:valAx>
    </c:plotArea>
    <c:plotVisOnly val="1"/>
    <c:dispBlanksAs val="gap"/>
    <c:showDLblsOverMax val="0"/>
  </c:chart>
  <c:txPr>
    <a:bodyPr/>
    <a:lstStyle/>
    <a:p>
      <a:pPr>
        <a:defRPr sz="900"/>
      </a:pPr>
      <a:endParaRPr lang="ko-K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9806668129332144"/>
          <c:y val="4.4592462979164742E-2"/>
          <c:w val="0.74518401144129465"/>
          <c:h val="0.73750891774310712"/>
        </c:manualLayout>
      </c:layout>
      <c:lineChart>
        <c:grouping val="standard"/>
        <c:varyColors val="0"/>
        <c:ser>
          <c:idx val="0"/>
          <c:order val="0"/>
          <c:tx>
            <c:strRef>
              <c:f>Sheet1!$K$4</c:f>
              <c:strCache>
                <c:ptCount val="1"/>
                <c:pt idx="0">
                  <c:v>Small intestine</c:v>
                </c:pt>
              </c:strCache>
            </c:strRef>
          </c:tx>
          <c:spPr>
            <a:ln>
              <a:solidFill>
                <a:srgbClr val="6DC0FF"/>
              </a:solidFill>
            </a:ln>
          </c:spPr>
          <c:marker>
            <c:symbol val="diamond"/>
            <c:size val="12"/>
            <c:spPr>
              <a:solidFill>
                <a:srgbClr val="0070C0"/>
              </a:solidFill>
            </c:spPr>
          </c:marker>
          <c:cat>
            <c:strRef>
              <c:f>Sheet1!$L$3:$N$3</c:f>
              <c:strCache>
                <c:ptCount val="3"/>
                <c:pt idx="0">
                  <c:v>30 min</c:v>
                </c:pt>
                <c:pt idx="1">
                  <c:v>120 min</c:v>
                </c:pt>
                <c:pt idx="2">
                  <c:v>360 min</c:v>
                </c:pt>
              </c:strCache>
            </c:strRef>
          </c:cat>
          <c:val>
            <c:numRef>
              <c:f>Sheet1!$L$4:$N$4</c:f>
              <c:numCache>
                <c:formatCode>General</c:formatCode>
                <c:ptCount val="3"/>
                <c:pt idx="0">
                  <c:v>8990</c:v>
                </c:pt>
                <c:pt idx="1">
                  <c:v>459</c:v>
                </c:pt>
                <c:pt idx="2">
                  <c:v>333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5220-4795-B9AF-55F271303C94}"/>
            </c:ext>
          </c:extLst>
        </c:ser>
        <c:ser>
          <c:idx val="1"/>
          <c:order val="1"/>
          <c:tx>
            <c:strRef>
              <c:f>Sheet1!$K$5</c:f>
              <c:strCache>
                <c:ptCount val="1"/>
                <c:pt idx="0">
                  <c:v>Stomach</c:v>
                </c:pt>
              </c:strCache>
            </c:strRef>
          </c:tx>
          <c:spPr>
            <a:ln>
              <a:solidFill>
                <a:srgbClr val="00F66F"/>
              </a:solidFill>
            </a:ln>
          </c:spPr>
          <c:marker>
            <c:symbol val="square"/>
            <c:size val="10"/>
            <c:spPr>
              <a:solidFill>
                <a:srgbClr val="00B050"/>
              </a:solidFill>
              <a:ln>
                <a:noFill/>
              </a:ln>
            </c:spPr>
          </c:marker>
          <c:cat>
            <c:strRef>
              <c:f>Sheet1!$L$3:$N$3</c:f>
              <c:strCache>
                <c:ptCount val="3"/>
                <c:pt idx="0">
                  <c:v>30 min</c:v>
                </c:pt>
                <c:pt idx="1">
                  <c:v>120 min</c:v>
                </c:pt>
                <c:pt idx="2">
                  <c:v>360 min</c:v>
                </c:pt>
              </c:strCache>
            </c:strRef>
          </c:cat>
          <c:val>
            <c:numRef>
              <c:f>Sheet1!$L$5:$N$5</c:f>
              <c:numCache>
                <c:formatCode>General</c:formatCode>
                <c:ptCount val="3"/>
                <c:pt idx="0">
                  <c:v>5290</c:v>
                </c:pt>
                <c:pt idx="1">
                  <c:v>910</c:v>
                </c:pt>
                <c:pt idx="2">
                  <c:v>105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5220-4795-B9AF-55F271303C94}"/>
            </c:ext>
          </c:extLst>
        </c:ser>
        <c:ser>
          <c:idx val="2"/>
          <c:order val="2"/>
          <c:tx>
            <c:strRef>
              <c:f>Sheet1!$K$6</c:f>
              <c:strCache>
                <c:ptCount val="1"/>
                <c:pt idx="0">
                  <c:v>Brain</c:v>
                </c:pt>
              </c:strCache>
            </c:strRef>
          </c:tx>
          <c:spPr>
            <a:ln>
              <a:solidFill>
                <a:srgbClr val="FF6161"/>
              </a:solidFill>
            </a:ln>
          </c:spPr>
          <c:marker>
            <c:symbol val="triangle"/>
            <c:size val="12"/>
            <c:spPr>
              <a:solidFill>
                <a:srgbClr val="FF0000"/>
              </a:solidFill>
              <a:ln>
                <a:noFill/>
              </a:ln>
            </c:spPr>
          </c:marker>
          <c:cat>
            <c:strRef>
              <c:f>Sheet1!$L$3:$N$3</c:f>
              <c:strCache>
                <c:ptCount val="3"/>
                <c:pt idx="0">
                  <c:v>30 min</c:v>
                </c:pt>
                <c:pt idx="1">
                  <c:v>120 min</c:v>
                </c:pt>
                <c:pt idx="2">
                  <c:v>360 min</c:v>
                </c:pt>
              </c:strCache>
            </c:strRef>
          </c:cat>
          <c:val>
            <c:numRef>
              <c:f>Sheet1!$L$6:$N$6</c:f>
              <c:numCache>
                <c:formatCode>General</c:formatCode>
                <c:ptCount val="3"/>
                <c:pt idx="0">
                  <c:v>36.300000000000004</c:v>
                </c:pt>
                <c:pt idx="1">
                  <c:v>9.5</c:v>
                </c:pt>
                <c:pt idx="2">
                  <c:v>7.4300000000000024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2-5220-4795-B9AF-55F271303C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95623936"/>
        <c:axId val="595626240"/>
      </c:lineChart>
      <c:catAx>
        <c:axId val="5956239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ko-KR"/>
                  <a:t>시 간</a:t>
                </a:r>
              </a:p>
            </c:rich>
          </c:tx>
          <c:layout>
            <c:manualLayout>
              <c:xMode val="edge"/>
              <c:yMode val="edge"/>
              <c:x val="0.91135837992232616"/>
              <c:y val="0.80433353456210122"/>
            </c:manualLayout>
          </c:layout>
          <c:overlay val="0"/>
        </c:title>
        <c:numFmt formatCode="General" sourceLinked="0"/>
        <c:majorTickMark val="out"/>
        <c:minorTickMark val="none"/>
        <c:tickLblPos val="nextTo"/>
        <c:spPr>
          <a:ln w="25400"/>
        </c:spPr>
        <c:crossAx val="595626240"/>
        <c:crosses val="autoZero"/>
        <c:auto val="1"/>
        <c:lblAlgn val="ctr"/>
        <c:lblOffset val="100"/>
        <c:noMultiLvlLbl val="0"/>
      </c:catAx>
      <c:valAx>
        <c:axId val="595626240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 sz="1050"/>
                </a:pPr>
                <a:r>
                  <a:rPr lang="en-US" sz="1050"/>
                  <a:t>THB concentration (ng/g)</a:t>
                </a:r>
                <a:endParaRPr lang="ko-KR" sz="1050"/>
              </a:p>
            </c:rich>
          </c:tx>
          <c:layout>
            <c:manualLayout>
              <c:xMode val="edge"/>
              <c:yMode val="edge"/>
              <c:x val="2.3864787833626971E-2"/>
              <c:y val="0.15648569798877271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spPr>
          <a:ln w="25400"/>
        </c:spPr>
        <c:crossAx val="595623936"/>
        <c:crosses val="autoZero"/>
        <c:crossBetween val="between"/>
        <c:majorUnit val="4000"/>
      </c:valAx>
    </c:plotArea>
    <c:plotVisOnly val="1"/>
    <c:dispBlanksAs val="gap"/>
    <c:showDLblsOverMax val="0"/>
  </c:chart>
  <c:txPr>
    <a:bodyPr/>
    <a:lstStyle/>
    <a:p>
      <a:pPr>
        <a:defRPr sz="900"/>
      </a:pPr>
      <a:endParaRPr lang="ko-KR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61B42E-3D75-40E5-A40A-D129C0A7D70D}" type="datetimeFigureOut">
              <a:rPr lang="ko-KR" altLang="en-US" smtClean="0"/>
              <a:t>2023-02-08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0AC282-3EAD-49A9-8E57-4B239C2EA8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95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항우울제 </a:t>
            </a:r>
            <a:r>
              <a:rPr lang="ko-KR" altLang="en-US" dirty="0" err="1"/>
              <a:t>성분별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B22A26EB-50B7-421F-BDE2-6EFA38BB7EA3}" type="slidenum">
              <a:rPr lang="en-US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바탕"/>
              </a:rPr>
              <a:t>1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109786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항우울제 </a:t>
            </a:r>
            <a:r>
              <a:rPr lang="ko-KR" altLang="en-US" dirty="0" err="1"/>
              <a:t>성분별</a:t>
            </a:r>
            <a:r>
              <a:rPr lang="ko-KR" altLang="en-US" dirty="0"/>
              <a:t> </a:t>
            </a:r>
            <a:r>
              <a:rPr lang="en-US" altLang="ko-KR" dirty="0"/>
              <a:t>GI side effect</a:t>
            </a:r>
          </a:p>
          <a:p>
            <a:endParaRPr lang="en-US" altLang="ko-KR" dirty="0"/>
          </a:p>
          <a:p>
            <a:r>
              <a:rPr lang="en-US" altLang="ko-KR" dirty="0"/>
              <a:t>Nausea</a:t>
            </a:r>
            <a:r>
              <a:rPr lang="ko-KR" altLang="en-US" dirty="0"/>
              <a:t> </a:t>
            </a:r>
            <a:r>
              <a:rPr lang="en-US" altLang="ko-KR" dirty="0"/>
              <a:t>&amp;</a:t>
            </a:r>
            <a:r>
              <a:rPr lang="ko-KR" altLang="en-US" dirty="0"/>
              <a:t> </a:t>
            </a:r>
            <a:r>
              <a:rPr lang="en-US" altLang="ko-KR" dirty="0"/>
              <a:t>Vomiting</a:t>
            </a:r>
            <a:r>
              <a:rPr lang="ko-KR" altLang="en-US" dirty="0"/>
              <a:t> 이 가장 많으며</a:t>
            </a:r>
            <a:r>
              <a:rPr lang="en-US" altLang="ko-KR" dirty="0"/>
              <a:t>, </a:t>
            </a:r>
            <a:r>
              <a:rPr lang="ko-KR" altLang="en-US" dirty="0"/>
              <a:t>다음으로는 </a:t>
            </a:r>
            <a:r>
              <a:rPr lang="en-US" altLang="ko-KR" dirty="0"/>
              <a:t>constipation, anorexia </a:t>
            </a:r>
            <a:r>
              <a:rPr lang="ko-KR" altLang="en-US" dirty="0"/>
              <a:t>등이 빈번이 발생함 </a:t>
            </a: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ko-KR" altLang="en-US" dirty="0" err="1">
                <a:sym typeface="Wingdings" panose="05000000000000000000" pitchFamily="2" charset="2"/>
              </a:rPr>
              <a:t>모티리톤은</a:t>
            </a:r>
            <a:r>
              <a:rPr lang="ko-KR" altLang="en-US" dirty="0">
                <a:sym typeface="Wingdings" panose="05000000000000000000" pitchFamily="2" charset="2"/>
              </a:rPr>
              <a:t> 기능성 변비 증상 개선 효과도 동시에 보이는 소화불량 치료제이다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B22A26EB-50B7-421F-BDE2-6EFA38BB7EA3}" type="slidenum">
              <a:rPr lang="en-US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바탕"/>
              </a:rPr>
              <a:t>2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32674979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모티리톤은</a:t>
            </a:r>
            <a:r>
              <a:rPr lang="ko-KR" altLang="en-US" dirty="0"/>
              <a:t> 이중에서 </a:t>
            </a:r>
            <a:r>
              <a:rPr lang="en-US" altLang="ko-KR" dirty="0"/>
              <a:t>dyspepsia, constipation</a:t>
            </a:r>
            <a:r>
              <a:rPr lang="ko-KR" altLang="en-US" dirty="0"/>
              <a:t>에 모두 임상을 통하여 개선 효과를 입증한 소화불량증 치료제입니다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B22A26EB-50B7-421F-BDE2-6EFA38BB7EA3}" type="slidenum">
              <a:rPr lang="en-US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바탕"/>
              </a:rPr>
              <a:t>4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22749930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모티리톤은</a:t>
            </a:r>
            <a:r>
              <a:rPr lang="ko-KR" altLang="en-US" dirty="0"/>
              <a:t> </a:t>
            </a:r>
            <a:r>
              <a:rPr lang="en-US" altLang="ko-KR" dirty="0"/>
              <a:t>Multi-Acting</a:t>
            </a:r>
            <a:r>
              <a:rPr lang="ko-KR" altLang="en-US" dirty="0"/>
              <a:t> </a:t>
            </a:r>
            <a:r>
              <a:rPr lang="en-US" altLang="ko-KR" dirty="0"/>
              <a:t>Drug</a:t>
            </a:r>
            <a:r>
              <a:rPr lang="ko-KR" altLang="en-US" dirty="0"/>
              <a:t>로써 </a:t>
            </a:r>
            <a:r>
              <a:rPr lang="en-US" altLang="ko-KR" dirty="0"/>
              <a:t>D2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B22A26EB-50B7-421F-BDE2-6EFA38BB7EA3}" type="slidenum">
              <a:rPr lang="en-US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바탕"/>
              </a:rPr>
              <a:t>5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538804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/>
              <a:t>모티리톤은</a:t>
            </a:r>
            <a:r>
              <a:rPr lang="ko-KR" altLang="en-US" dirty="0"/>
              <a:t> 다양한 기전을 가진 약물입니다</a:t>
            </a:r>
            <a:r>
              <a:rPr lang="en-US" altLang="ko-KR" dirty="0"/>
              <a:t>. Dopamine antagonist,</a:t>
            </a:r>
            <a:r>
              <a:rPr lang="en-US" altLang="ko-KR" baseline="0" dirty="0"/>
              <a:t> </a:t>
            </a:r>
            <a:r>
              <a:rPr lang="en-US" altLang="ko-KR" sz="1200" b="0" dirty="0">
                <a:solidFill>
                  <a:schemeClr val="accent5">
                    <a:lumMod val="50000"/>
                  </a:schemeClr>
                </a:solidFill>
              </a:rPr>
              <a:t>5-Hydroxytryptamine</a:t>
            </a:r>
            <a:r>
              <a:rPr lang="en-US" altLang="ko-KR" sz="1200" b="0" baseline="-25000" dirty="0">
                <a:solidFill>
                  <a:schemeClr val="accent5">
                    <a:lumMod val="50000"/>
                  </a:schemeClr>
                </a:solidFill>
              </a:rPr>
              <a:t>4 </a:t>
            </a:r>
            <a:r>
              <a:rPr lang="en-US" altLang="ko-KR" sz="1200" b="0" baseline="0" dirty="0">
                <a:solidFill>
                  <a:schemeClr val="accent5">
                    <a:lumMod val="50000"/>
                  </a:schemeClr>
                </a:solidFill>
              </a:rPr>
              <a:t>agonist</a:t>
            </a:r>
            <a:r>
              <a:rPr lang="ko-KR" altLang="en-US" sz="1200" b="0" baseline="0" dirty="0">
                <a:solidFill>
                  <a:schemeClr val="accent5">
                    <a:lumMod val="50000"/>
                  </a:schemeClr>
                </a:solidFill>
              </a:rPr>
              <a:t>로 작용하여 소장 궤양에서 </a:t>
            </a:r>
            <a:r>
              <a:rPr lang="ko-KR" altLang="en-US" sz="1200" b="0" baseline="0" dirty="0" err="1">
                <a:solidFill>
                  <a:schemeClr val="accent5">
                    <a:lumMod val="50000"/>
                  </a:schemeClr>
                </a:solidFill>
              </a:rPr>
              <a:t>항염증</a:t>
            </a:r>
            <a:r>
              <a:rPr lang="ko-KR" altLang="en-US" sz="1200" b="0" baseline="0" dirty="0">
                <a:solidFill>
                  <a:schemeClr val="accent5">
                    <a:lumMod val="50000"/>
                  </a:schemeClr>
                </a:solidFill>
              </a:rPr>
              <a:t> 작용을 기대해 볼 수 있고</a:t>
            </a:r>
            <a:r>
              <a:rPr lang="en-US" altLang="ko-KR" sz="1200" b="0" baseline="0" dirty="0">
                <a:solidFill>
                  <a:schemeClr val="accent5">
                    <a:lumMod val="50000"/>
                  </a:schemeClr>
                </a:solidFill>
              </a:rPr>
              <a:t>, </a:t>
            </a:r>
            <a:r>
              <a:rPr lang="ko-KR" altLang="en-US" sz="1200" b="0" baseline="0" dirty="0">
                <a:solidFill>
                  <a:schemeClr val="accent5">
                    <a:lumMod val="50000"/>
                  </a:schemeClr>
                </a:solidFill>
              </a:rPr>
              <a:t>중주신경계에서 도파민 신경계를 저해하는 작용이 없어 파킨슨병 환자에게 나타나는 </a:t>
            </a:r>
            <a:r>
              <a:rPr lang="ko-KR" altLang="en-US" sz="1200" b="0" baseline="0" dirty="0" err="1">
                <a:solidFill>
                  <a:schemeClr val="accent5">
                    <a:lumMod val="50000"/>
                  </a:schemeClr>
                </a:solidFill>
              </a:rPr>
              <a:t>위배출</a:t>
            </a:r>
            <a:r>
              <a:rPr lang="ko-KR" altLang="en-US" sz="1200" b="0" baseline="0" dirty="0">
                <a:solidFill>
                  <a:schemeClr val="accent5">
                    <a:lumMod val="50000"/>
                  </a:schemeClr>
                </a:solidFill>
              </a:rPr>
              <a:t> 지연의 치료에도 안전하게 사용할 수 있을 것으로 기대할 수 있습니다</a:t>
            </a:r>
            <a:r>
              <a:rPr lang="en-US" altLang="ko-KR" sz="1200" b="0" baseline="0" dirty="0">
                <a:solidFill>
                  <a:schemeClr val="accent5">
                    <a:lumMod val="50000"/>
                  </a:schemeClr>
                </a:solidFill>
              </a:rPr>
              <a:t>. </a:t>
            </a:r>
            <a:r>
              <a:rPr lang="ko-KR" altLang="en-US" sz="1200" b="0" baseline="0" dirty="0" err="1">
                <a:solidFill>
                  <a:schemeClr val="accent5">
                    <a:lumMod val="50000"/>
                  </a:schemeClr>
                </a:solidFill>
              </a:rPr>
              <a:t>돔페리돈이나</a:t>
            </a:r>
            <a:r>
              <a:rPr lang="ko-KR" altLang="en-US" sz="1200" b="0" baseline="0" dirty="0">
                <a:solidFill>
                  <a:schemeClr val="accent5">
                    <a:lumMod val="50000"/>
                  </a:schemeClr>
                </a:solidFill>
              </a:rPr>
              <a:t> 일부 </a:t>
            </a:r>
            <a:r>
              <a:rPr lang="en-US" altLang="ko-KR" sz="1200" b="0" baseline="0" dirty="0">
                <a:solidFill>
                  <a:schemeClr val="accent5">
                    <a:lumMod val="50000"/>
                  </a:schemeClr>
                </a:solidFill>
              </a:rPr>
              <a:t>prokinetics</a:t>
            </a:r>
            <a:r>
              <a:rPr lang="ko-KR" altLang="en-US" sz="1200" b="0" baseline="0" dirty="0">
                <a:solidFill>
                  <a:schemeClr val="accent5">
                    <a:lumMod val="50000"/>
                  </a:schemeClr>
                </a:solidFill>
              </a:rPr>
              <a:t>가 가지는 </a:t>
            </a:r>
            <a:r>
              <a:rPr lang="en-US" altLang="ko-KR" sz="1200" b="0" baseline="0" dirty="0">
                <a:solidFill>
                  <a:schemeClr val="accent5">
                    <a:lumMod val="50000"/>
                  </a:schemeClr>
                </a:solidFill>
              </a:rPr>
              <a:t>QT </a:t>
            </a:r>
            <a:r>
              <a:rPr lang="ko-KR" altLang="en-US" sz="1200" b="0" baseline="0" dirty="0">
                <a:solidFill>
                  <a:schemeClr val="accent5">
                    <a:lumMod val="50000"/>
                  </a:schemeClr>
                </a:solidFill>
              </a:rPr>
              <a:t>연장으로 인해 </a:t>
            </a:r>
            <a:r>
              <a:rPr lang="en-US" altLang="ko-KR" sz="1200" b="0" baseline="0" dirty="0">
                <a:solidFill>
                  <a:schemeClr val="accent5">
                    <a:lumMod val="50000"/>
                  </a:schemeClr>
                </a:solidFill>
              </a:rPr>
              <a:t>ICU</a:t>
            </a:r>
            <a:r>
              <a:rPr lang="ko-KR" altLang="en-US" sz="1200" b="0" baseline="0" dirty="0">
                <a:solidFill>
                  <a:schemeClr val="accent5">
                    <a:lumMod val="50000"/>
                  </a:schemeClr>
                </a:solidFill>
              </a:rPr>
              <a:t>나 수술 후 환자에게 나타나는 위장 운동 저해 치료제 선택이 어려울 수 있습니다</a:t>
            </a:r>
            <a:r>
              <a:rPr lang="en-US" altLang="ko-KR" sz="1200" b="0" baseline="0" dirty="0">
                <a:solidFill>
                  <a:schemeClr val="accent5">
                    <a:lumMod val="50000"/>
                  </a:schemeClr>
                </a:solidFill>
              </a:rPr>
              <a:t>. </a:t>
            </a:r>
            <a:r>
              <a:rPr lang="ko-KR" altLang="en-US" sz="1200" b="0" baseline="0" dirty="0" err="1">
                <a:solidFill>
                  <a:schemeClr val="accent5">
                    <a:lumMod val="50000"/>
                  </a:schemeClr>
                </a:solidFill>
              </a:rPr>
              <a:t>모티리톤의</a:t>
            </a:r>
            <a:r>
              <a:rPr lang="ko-KR" altLang="en-US" sz="1200" b="0" baseline="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ko-KR" altLang="en-US" sz="1200" b="0" baseline="0" dirty="0" err="1">
                <a:solidFill>
                  <a:schemeClr val="accent5">
                    <a:lumMod val="50000"/>
                  </a:schemeClr>
                </a:solidFill>
              </a:rPr>
              <a:t>비임상연구에서의</a:t>
            </a:r>
            <a:r>
              <a:rPr lang="ko-KR" altLang="en-US" sz="1200" b="0" baseline="0" dirty="0">
                <a:solidFill>
                  <a:schemeClr val="accent5">
                    <a:lumMod val="50000"/>
                  </a:schemeClr>
                </a:solidFill>
              </a:rPr>
              <a:t> 안전성 및 효능은 추후 임상을 통해 더 확실하게 밝혀질 것으로 기대하며</a:t>
            </a:r>
            <a:r>
              <a:rPr lang="en-US" altLang="ko-KR" sz="1200" b="0" baseline="0" dirty="0">
                <a:solidFill>
                  <a:schemeClr val="accent5">
                    <a:lumMod val="50000"/>
                  </a:schemeClr>
                </a:solidFill>
              </a:rPr>
              <a:t>, </a:t>
            </a:r>
            <a:r>
              <a:rPr lang="ko-KR" altLang="en-US" sz="1200" b="0" baseline="0" dirty="0">
                <a:solidFill>
                  <a:schemeClr val="accent5">
                    <a:lumMod val="50000"/>
                  </a:schemeClr>
                </a:solidFill>
              </a:rPr>
              <a:t>다양한 환자에게 안전하게 사용될 수 있기를 기대해 봅니다</a:t>
            </a:r>
            <a:r>
              <a:rPr lang="en-US" altLang="ko-KR" sz="1200" b="0" baseline="0" dirty="0">
                <a:solidFill>
                  <a:schemeClr val="accent5">
                    <a:lumMod val="50000"/>
                  </a:schemeClr>
                </a:solidFill>
              </a:rPr>
              <a:t>. </a:t>
            </a:r>
            <a:endParaRPr lang="ko-KR" altLang="en-US" b="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B22A26EB-50B7-421F-BDE2-6EFA38BB7EA3}" type="slidenum">
              <a:rPr lang="en-US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바탕"/>
              </a:rPr>
              <a:t>6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39967276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B22A26EB-50B7-421F-BDE2-6EFA38BB7EA3}" type="slidenum">
              <a:rPr lang="en-US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바탕"/>
              </a:rPr>
              <a:t>7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34621549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/>
              <a:t>모티리톤은</a:t>
            </a:r>
            <a:r>
              <a:rPr lang="ko-KR" altLang="en-US" dirty="0"/>
              <a:t> </a:t>
            </a:r>
            <a:r>
              <a:rPr lang="ko-KR" altLang="en-US" dirty="0" err="1"/>
              <a:t>돔페리돈에</a:t>
            </a:r>
            <a:r>
              <a:rPr lang="ko-KR" altLang="en-US" dirty="0"/>
              <a:t> 비해 파킨슨병 환자 치료에서의 장 운동기능 개선 효과 및 안전성을 입증한 약물입니다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B22A26EB-50B7-421F-BDE2-6EFA38BB7EA3}" type="slidenum">
              <a:rPr lang="en-US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바탕"/>
              </a:rPr>
              <a:t>10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36235340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모티리톤은</a:t>
            </a:r>
            <a:r>
              <a:rPr lang="ko-KR" altLang="en-US" dirty="0"/>
              <a:t> 중추신경계의 도파민에 대해 거의 작용하지 않는 약제로서 투여 후 파킨슨병 환자의 </a:t>
            </a:r>
            <a:r>
              <a:rPr lang="ko-KR" altLang="en-US" dirty="0" err="1"/>
              <a:t>추체외로</a:t>
            </a:r>
            <a:r>
              <a:rPr lang="ko-KR" altLang="en-US" dirty="0"/>
              <a:t> 증상이 악화되지 않았습니다</a:t>
            </a:r>
            <a:r>
              <a:rPr lang="en-US" altLang="ko-KR" dirty="0"/>
              <a:t>.(</a:t>
            </a:r>
            <a:r>
              <a:rPr lang="ko-KR" altLang="en-US" dirty="0" err="1"/>
              <a:t>추체외로</a:t>
            </a:r>
            <a:r>
              <a:rPr lang="en-US" altLang="ko-KR" baseline="0" dirty="0"/>
              <a:t> extrapyramidal track</a:t>
            </a:r>
            <a:r>
              <a:rPr lang="en-US" altLang="ko-KR" dirty="0"/>
              <a:t>: </a:t>
            </a:r>
            <a:r>
              <a:rPr lang="ko-KR" altLang="en-US" dirty="0"/>
              <a:t>기저핵의 손상으로 일어나는 운동장애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그리고 혈중 </a:t>
            </a:r>
            <a:r>
              <a:rPr lang="ko-KR" altLang="en-US" dirty="0" err="1"/>
              <a:t>프로락틴</a:t>
            </a:r>
            <a:r>
              <a:rPr lang="ko-KR" altLang="en-US" dirty="0"/>
              <a:t> 수치 또한 상한기준치 이하로 확인되어 유즙 분비 가능성이 매우 낮은 안전한 약물로 확인되었습니다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B22A26EB-50B7-421F-BDE2-6EFA38BB7EA3}" type="slidenum">
              <a:rPr lang="en-US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바탕"/>
              </a:rPr>
              <a:t>11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3527891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BDF49-3532-4651-A444-2658138A77B2}" type="datetimeFigureOut">
              <a:rPr lang="ko-KR" altLang="en-US" smtClean="0"/>
              <a:t>2023-02-08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0F316-7C3C-44C5-A385-443E29C3C2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1325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BDF49-3532-4651-A444-2658138A77B2}" type="datetimeFigureOut">
              <a:rPr lang="ko-KR" altLang="en-US" smtClean="0"/>
              <a:t>2023-02-08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0F316-7C3C-44C5-A385-443E29C3C2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9244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BDF49-3532-4651-A444-2658138A77B2}" type="datetimeFigureOut">
              <a:rPr lang="ko-KR" altLang="en-US" smtClean="0"/>
              <a:t>2023-02-08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0F316-7C3C-44C5-A385-443E29C3C2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9188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6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6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BDF49-3532-4651-A444-2658138A77B2}" type="datetimeFigureOut">
              <a:rPr lang="ko-KR" altLang="en-US" smtClean="0"/>
              <a:t>2023-02-08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0F316-7C3C-44C5-A385-443E29C3C2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0647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BDF49-3532-4651-A444-2658138A77B2}" type="datetimeFigureOut">
              <a:rPr lang="ko-KR" altLang="en-US" smtClean="0"/>
              <a:t>2023-02-08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0F316-7C3C-44C5-A385-443E29C3C2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9241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BDF49-3532-4651-A444-2658138A77B2}" type="datetimeFigureOut">
              <a:rPr lang="ko-KR" altLang="en-US" smtClean="0"/>
              <a:t>2023-02-08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0F316-7C3C-44C5-A385-443E29C3C2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88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BDF49-3532-4651-A444-2658138A77B2}" type="datetimeFigureOut">
              <a:rPr lang="ko-KR" altLang="en-US" smtClean="0"/>
              <a:t>2023-02-08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0F316-7C3C-44C5-A385-443E29C3C2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7215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BDF49-3532-4651-A444-2658138A77B2}" type="datetimeFigureOut">
              <a:rPr lang="ko-KR" altLang="en-US" smtClean="0"/>
              <a:t>2023-02-08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0F316-7C3C-44C5-A385-443E29C3C2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0206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BDF49-3532-4651-A444-2658138A77B2}" type="datetimeFigureOut">
              <a:rPr lang="ko-KR" altLang="en-US" smtClean="0"/>
              <a:t>2023-02-08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0F316-7C3C-44C5-A385-443E29C3C2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8222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BDF49-3532-4651-A444-2658138A77B2}" type="datetimeFigureOut">
              <a:rPr lang="ko-KR" altLang="en-US" smtClean="0"/>
              <a:t>2023-02-08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0F316-7C3C-44C5-A385-443E29C3C2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1861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44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44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BDF49-3532-4651-A444-2658138A77B2}" type="datetimeFigureOut">
              <a:rPr lang="ko-KR" altLang="en-US" smtClean="0"/>
              <a:t>2023-02-08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0F316-7C3C-44C5-A385-443E29C3C2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12638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 userDrawn="1"/>
        </p:nvSpPr>
        <p:spPr>
          <a:xfrm>
            <a:off x="124971" y="67741"/>
            <a:ext cx="8892000" cy="669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4" name="직각 삼각형 13"/>
          <p:cNvSpPr/>
          <p:nvPr userDrawn="1"/>
        </p:nvSpPr>
        <p:spPr>
          <a:xfrm flipH="1" flipV="1">
            <a:off x="0" y="795909"/>
            <a:ext cx="126000" cy="126000"/>
          </a:xfrm>
          <a:prstGeom prst="rtTriangle">
            <a:avLst/>
          </a:prstGeom>
          <a:solidFill>
            <a:srgbClr val="2F39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Shape 30"/>
          <p:cNvSpPr/>
          <p:nvPr userDrawn="1"/>
        </p:nvSpPr>
        <p:spPr>
          <a:xfrm>
            <a:off x="0" y="184773"/>
            <a:ext cx="9144000" cy="612000"/>
          </a:xfrm>
          <a:prstGeom prst="rect">
            <a:avLst/>
          </a:prstGeom>
          <a:solidFill>
            <a:srgbClr val="48577D"/>
          </a:solidFill>
          <a:ln>
            <a:noFill/>
          </a:ln>
          <a:effectLst/>
        </p:spPr>
        <p:txBody>
          <a:bodyPr lIns="91425" tIns="91425" rIns="91425" bIns="91425" anchor="ctr" anchorCtr="0">
            <a:noAutofit/>
          </a:bodyPr>
          <a:lstStyle/>
          <a:p>
            <a:r>
              <a:rPr lang="en-US" sz="2800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</p:txBody>
      </p:sp>
      <p:sp>
        <p:nvSpPr>
          <p:cNvPr id="16" name="직각 삼각형 15"/>
          <p:cNvSpPr/>
          <p:nvPr userDrawn="1"/>
        </p:nvSpPr>
        <p:spPr>
          <a:xfrm flipV="1">
            <a:off x="9016937" y="795909"/>
            <a:ext cx="126000" cy="126000"/>
          </a:xfrm>
          <a:prstGeom prst="rtTriangle">
            <a:avLst/>
          </a:prstGeom>
          <a:solidFill>
            <a:srgbClr val="2F39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08160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 userDrawn="1"/>
        </p:nvSpPr>
        <p:spPr>
          <a:xfrm>
            <a:off x="124971" y="67741"/>
            <a:ext cx="8892000" cy="669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4" name="직각 삼각형 13"/>
          <p:cNvSpPr/>
          <p:nvPr userDrawn="1"/>
        </p:nvSpPr>
        <p:spPr>
          <a:xfrm flipH="1" flipV="1">
            <a:off x="0" y="795909"/>
            <a:ext cx="126000" cy="126000"/>
          </a:xfrm>
          <a:prstGeom prst="rtTriangle">
            <a:avLst/>
          </a:prstGeom>
          <a:solidFill>
            <a:srgbClr val="2F39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Shape 30"/>
          <p:cNvSpPr/>
          <p:nvPr userDrawn="1"/>
        </p:nvSpPr>
        <p:spPr>
          <a:xfrm>
            <a:off x="0" y="184773"/>
            <a:ext cx="9144000" cy="612000"/>
          </a:xfrm>
          <a:prstGeom prst="rect">
            <a:avLst/>
          </a:prstGeom>
          <a:solidFill>
            <a:srgbClr val="48577D"/>
          </a:solidFill>
          <a:ln>
            <a:noFill/>
          </a:ln>
          <a:effectLst/>
        </p:spPr>
        <p:txBody>
          <a:bodyPr lIns="91425" tIns="91425" rIns="91425" bIns="91425" anchor="ctr" anchorCtr="0">
            <a:noAutofit/>
          </a:bodyPr>
          <a:lstStyle/>
          <a:p>
            <a:r>
              <a:rPr lang="en-US" sz="2800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</p:txBody>
      </p:sp>
      <p:sp>
        <p:nvSpPr>
          <p:cNvPr id="16" name="직각 삼각형 15"/>
          <p:cNvSpPr/>
          <p:nvPr userDrawn="1"/>
        </p:nvSpPr>
        <p:spPr>
          <a:xfrm flipV="1">
            <a:off x="9016937" y="795909"/>
            <a:ext cx="126000" cy="126000"/>
          </a:xfrm>
          <a:prstGeom prst="rtTriangle">
            <a:avLst/>
          </a:prstGeom>
          <a:solidFill>
            <a:srgbClr val="2F39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41068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 userDrawn="1"/>
        </p:nvSpPr>
        <p:spPr>
          <a:xfrm>
            <a:off x="124971" y="67741"/>
            <a:ext cx="8892000" cy="669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4" name="직각 삼각형 13"/>
          <p:cNvSpPr/>
          <p:nvPr userDrawn="1"/>
        </p:nvSpPr>
        <p:spPr>
          <a:xfrm flipH="1" flipV="1">
            <a:off x="0" y="795909"/>
            <a:ext cx="126000" cy="126000"/>
          </a:xfrm>
          <a:prstGeom prst="rtTriangle">
            <a:avLst/>
          </a:prstGeom>
          <a:solidFill>
            <a:srgbClr val="2F39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Shape 30"/>
          <p:cNvSpPr/>
          <p:nvPr userDrawn="1"/>
        </p:nvSpPr>
        <p:spPr>
          <a:xfrm>
            <a:off x="0" y="184773"/>
            <a:ext cx="9144000" cy="612000"/>
          </a:xfrm>
          <a:prstGeom prst="rect">
            <a:avLst/>
          </a:prstGeom>
          <a:solidFill>
            <a:srgbClr val="48577D"/>
          </a:solidFill>
          <a:ln>
            <a:noFill/>
          </a:ln>
          <a:effectLst/>
        </p:spPr>
        <p:txBody>
          <a:bodyPr lIns="91425" tIns="91425" rIns="91425" bIns="91425" anchor="ctr" anchorCtr="0">
            <a:noAutofit/>
          </a:bodyPr>
          <a:lstStyle/>
          <a:p>
            <a:r>
              <a:rPr lang="en-US" sz="2800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</p:txBody>
      </p:sp>
      <p:sp>
        <p:nvSpPr>
          <p:cNvPr id="16" name="직각 삼각형 15"/>
          <p:cNvSpPr/>
          <p:nvPr userDrawn="1"/>
        </p:nvSpPr>
        <p:spPr>
          <a:xfrm flipV="1">
            <a:off x="9016937" y="795909"/>
            <a:ext cx="126000" cy="126000"/>
          </a:xfrm>
          <a:prstGeom prst="rtTriangle">
            <a:avLst/>
          </a:prstGeom>
          <a:solidFill>
            <a:srgbClr val="2F39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22520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 userDrawn="1"/>
        </p:nvSpPr>
        <p:spPr>
          <a:xfrm>
            <a:off x="124971" y="67741"/>
            <a:ext cx="8892000" cy="669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4" name="직각 삼각형 13"/>
          <p:cNvSpPr/>
          <p:nvPr userDrawn="1"/>
        </p:nvSpPr>
        <p:spPr>
          <a:xfrm flipH="1" flipV="1">
            <a:off x="0" y="795909"/>
            <a:ext cx="126000" cy="126000"/>
          </a:xfrm>
          <a:prstGeom prst="rtTriangle">
            <a:avLst/>
          </a:prstGeom>
          <a:solidFill>
            <a:srgbClr val="2F39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Shape 30"/>
          <p:cNvSpPr/>
          <p:nvPr userDrawn="1"/>
        </p:nvSpPr>
        <p:spPr>
          <a:xfrm>
            <a:off x="0" y="184773"/>
            <a:ext cx="9144000" cy="612000"/>
          </a:xfrm>
          <a:prstGeom prst="rect">
            <a:avLst/>
          </a:prstGeom>
          <a:solidFill>
            <a:srgbClr val="48577D"/>
          </a:solidFill>
          <a:ln>
            <a:noFill/>
          </a:ln>
          <a:effectLst/>
        </p:spPr>
        <p:txBody>
          <a:bodyPr lIns="91425" tIns="91425" rIns="91425" bIns="91425" anchor="ctr" anchorCtr="0">
            <a:noAutofit/>
          </a:bodyPr>
          <a:lstStyle/>
          <a:p>
            <a:r>
              <a:rPr lang="en-US" sz="2800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</p:txBody>
      </p:sp>
      <p:sp>
        <p:nvSpPr>
          <p:cNvPr id="16" name="직각 삼각형 15"/>
          <p:cNvSpPr/>
          <p:nvPr userDrawn="1"/>
        </p:nvSpPr>
        <p:spPr>
          <a:xfrm flipV="1">
            <a:off x="9016937" y="795909"/>
            <a:ext cx="126000" cy="126000"/>
          </a:xfrm>
          <a:prstGeom prst="rtTriangle">
            <a:avLst/>
          </a:prstGeom>
          <a:solidFill>
            <a:srgbClr val="2F39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69375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 userDrawn="1"/>
        </p:nvSpPr>
        <p:spPr>
          <a:xfrm>
            <a:off x="124971" y="67741"/>
            <a:ext cx="8892000" cy="669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4" name="직각 삼각형 13"/>
          <p:cNvSpPr/>
          <p:nvPr userDrawn="1"/>
        </p:nvSpPr>
        <p:spPr>
          <a:xfrm flipH="1" flipV="1">
            <a:off x="0" y="795909"/>
            <a:ext cx="126000" cy="126000"/>
          </a:xfrm>
          <a:prstGeom prst="rtTriangle">
            <a:avLst/>
          </a:prstGeom>
          <a:solidFill>
            <a:srgbClr val="2F39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Shape 30"/>
          <p:cNvSpPr/>
          <p:nvPr userDrawn="1"/>
        </p:nvSpPr>
        <p:spPr>
          <a:xfrm>
            <a:off x="0" y="184773"/>
            <a:ext cx="9144000" cy="612000"/>
          </a:xfrm>
          <a:prstGeom prst="rect">
            <a:avLst/>
          </a:prstGeom>
          <a:solidFill>
            <a:srgbClr val="48577D"/>
          </a:solidFill>
          <a:ln>
            <a:noFill/>
          </a:ln>
          <a:effectLst/>
        </p:spPr>
        <p:txBody>
          <a:bodyPr lIns="91425" tIns="91425" rIns="91425" bIns="91425" anchor="ctr" anchorCtr="0">
            <a:noAutofit/>
          </a:bodyPr>
          <a:lstStyle/>
          <a:p>
            <a:r>
              <a:rPr lang="en-US" sz="2800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</p:txBody>
      </p:sp>
      <p:sp>
        <p:nvSpPr>
          <p:cNvPr id="16" name="직각 삼각형 15"/>
          <p:cNvSpPr/>
          <p:nvPr userDrawn="1"/>
        </p:nvSpPr>
        <p:spPr>
          <a:xfrm flipV="1">
            <a:off x="9016937" y="795909"/>
            <a:ext cx="126000" cy="126000"/>
          </a:xfrm>
          <a:prstGeom prst="rtTriangle">
            <a:avLst/>
          </a:prstGeom>
          <a:solidFill>
            <a:srgbClr val="2F39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21859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42166" y="1920038"/>
            <a:ext cx="8083944" cy="1470025"/>
          </a:xfrm>
        </p:spPr>
        <p:txBody>
          <a:bodyPr/>
          <a:lstStyle>
            <a:lvl1pPr>
              <a:defRPr sz="5500" b="1" baseline="0">
                <a:solidFill>
                  <a:srgbClr val="FDEB7F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695915" y="3675807"/>
            <a:ext cx="7800722" cy="1752600"/>
          </a:xfrm>
        </p:spPr>
        <p:txBody>
          <a:bodyPr/>
          <a:lstStyle>
            <a:lvl1pPr marL="0" indent="0" algn="ctr">
              <a:buNone/>
              <a:defRPr sz="2000" baseline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5789310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0C2E96-71AF-45AB-A3C6-6AD2E34826AE}" type="datetimeFigureOut">
              <a:rPr lang="ko-KR" altLang="en-US"/>
              <a:pPr>
                <a:defRPr/>
              </a:pPr>
              <a:t>2023-02-08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2BD97C-6870-4EE8-A491-8B10666399E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07583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0333DA-21CD-45CE-89EC-5A5F3A34384C}" type="datetimeFigureOut">
              <a:rPr lang="ko-KR" altLang="en-US"/>
              <a:pPr>
                <a:defRPr/>
              </a:pPr>
              <a:t>2023-02-08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C0A41C-83A0-46A7-8C11-587E35DD304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27919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6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6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AF7001-1021-443F-8BD8-F38EBC6F4872}" type="datetimeFigureOut">
              <a:rPr lang="ko-KR" altLang="en-US"/>
              <a:pPr>
                <a:defRPr/>
              </a:pPr>
              <a:t>2023-02-08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E4B53B-2769-4081-8C2E-4B33255A77F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0066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AE9572-CDD2-4EDB-8BB4-88F895308523}" type="datetimeFigureOut">
              <a:rPr lang="ko-KR" altLang="en-US"/>
              <a:pPr>
                <a:defRPr/>
              </a:pPr>
              <a:t>2023-02-08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0B892B-947B-440B-905E-E90D53F1304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88554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C9784A-B09D-42E2-A31E-E2824D6DC2AD}" type="datetimeFigureOut">
              <a:rPr lang="ko-KR" altLang="en-US"/>
              <a:pPr>
                <a:defRPr/>
              </a:pPr>
              <a:t>2023-02-08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C79EE6-2638-41AE-B3BB-B495AF96AEC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57043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7AEC58-E1B2-42A7-95FD-C32FF3D480CC}" type="datetimeFigureOut">
              <a:rPr lang="ko-KR" altLang="en-US"/>
              <a:pPr>
                <a:defRPr/>
              </a:pPr>
              <a:t>2023-02-08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518DD2-9907-4457-A985-6368FBEE883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4792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83560E-4E35-4386-9447-7E1E8641EAC9}" type="datetimeFigureOut">
              <a:rPr lang="ko-KR" altLang="en-US"/>
              <a:pPr>
                <a:defRPr/>
              </a:pPr>
              <a:t>2023-02-08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29DA07-102C-4EC3-875C-AAFA060521C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0404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F8705F-1B50-4F6D-B7A8-557E44FB073E}" type="datetimeFigureOut">
              <a:rPr lang="ko-KR" altLang="en-US"/>
              <a:pPr>
                <a:defRPr/>
              </a:pPr>
              <a:t>2023-02-08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E3B1AA-A5EE-43B3-8A0E-0CABD00D664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81862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25D00F-1354-40B2-A896-DD8442617F94}" type="datetimeFigureOut">
              <a:rPr lang="ko-KR" altLang="en-US"/>
              <a:pPr>
                <a:defRPr/>
              </a:pPr>
              <a:t>2023-02-08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418AA9-CA90-47E8-A757-B181161E3CD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00860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44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44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B0DCBB-A4B5-429B-A3B6-971AF16BFD64}" type="datetimeFigureOut">
              <a:rPr lang="ko-KR" altLang="en-US"/>
              <a:pPr>
                <a:defRPr/>
              </a:pPr>
              <a:t>2023-02-08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E34175-74D2-4A78-AA3E-9C850BD1492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823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BBDF49-3532-4651-A444-2658138A77B2}" type="datetimeFigureOut">
              <a:rPr lang="ko-KR" altLang="en-US" smtClean="0"/>
              <a:t>2023-02-08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00F316-7C3C-44C5-A385-443E29C3C2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8647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795" r:id="rId12"/>
    <p:sldLayoutId id="2147483797" r:id="rId13"/>
    <p:sldLayoutId id="2147483798" r:id="rId14"/>
    <p:sldLayoutId id="2147483799" r:id="rId15"/>
    <p:sldLayoutId id="2147483800" r:id="rId16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075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6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rgbClr val="000000">
                    <a:tint val="75000"/>
                  </a:srgb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158AEBD-1C01-41C8-B9EC-A25DB9AA1E03}" type="datetimeFigureOut">
              <a:rPr lang="ko-KR" altLang="en-US"/>
              <a:pPr>
                <a:defRPr/>
              </a:pPr>
              <a:t>2023-02-08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rgbClr val="000000">
                    <a:tint val="75000"/>
                  </a:srgb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rgbClr val="000000">
                    <a:tint val="75000"/>
                  </a:srgb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A01B3E2-1116-41AF-98E0-F23D8D70990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  <p:pic>
        <p:nvPicPr>
          <p:cNvPr id="3079" name="Picture 2" descr="C:\Documents and Settings\EunMin.Yeo\바탕 화면\업무\2.클라이언트\Pfizer\RBP1141 졸로푸트 100mg Launching\PPT 참고\마스터\졸로푸트PPT B내지-흰면뺀것2.jpg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2" y="0"/>
            <a:ext cx="9142413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09778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/>
          <p:cNvSpPr/>
          <p:nvPr/>
        </p:nvSpPr>
        <p:spPr>
          <a:xfrm>
            <a:off x="227446" y="6525344"/>
            <a:ext cx="8905840" cy="332655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marL="228600" indent="-228600" algn="r">
              <a:lnSpc>
                <a:spcPct val="115000"/>
              </a:lnSpc>
              <a:buAutoNum type="arabicPeriod"/>
            </a:pPr>
            <a:r>
              <a:rPr lang="en-US" altLang="ko-KR" sz="900" i="1" dirty="0">
                <a:solidFill>
                  <a:prstClr val="black"/>
                </a:solidFill>
              </a:rPr>
              <a:t>V. </a:t>
            </a:r>
            <a:r>
              <a:rPr lang="en-US" altLang="ko-KR" sz="900" i="1" dirty="0" err="1">
                <a:solidFill>
                  <a:prstClr val="black"/>
                </a:solidFill>
              </a:rPr>
              <a:t>Olica</a:t>
            </a:r>
            <a:r>
              <a:rPr lang="en-US" altLang="ko-KR" sz="900" i="1" dirty="0">
                <a:solidFill>
                  <a:prstClr val="black"/>
                </a:solidFill>
              </a:rPr>
              <a:t> et al., Prog in </a:t>
            </a:r>
            <a:r>
              <a:rPr lang="en-US" altLang="ko-KR" sz="900" i="1" dirty="0" err="1">
                <a:solidFill>
                  <a:prstClr val="black"/>
                </a:solidFill>
              </a:rPr>
              <a:t>Neuropsycholpharmacology</a:t>
            </a:r>
            <a:r>
              <a:rPr lang="en-US" altLang="ko-KR" sz="900" i="1" dirty="0">
                <a:solidFill>
                  <a:prstClr val="black"/>
                </a:solidFill>
              </a:rPr>
              <a:t> &amp; Biological </a:t>
            </a:r>
            <a:r>
              <a:rPr lang="en-US" altLang="ko-KR" sz="900" i="1" dirty="0" err="1">
                <a:solidFill>
                  <a:prstClr val="black"/>
                </a:solidFill>
              </a:rPr>
              <a:t>Psychiary</a:t>
            </a:r>
            <a:r>
              <a:rPr lang="en-US" altLang="ko-KR" sz="900" i="1" dirty="0">
                <a:solidFill>
                  <a:prstClr val="black"/>
                </a:solidFill>
              </a:rPr>
              <a:t> 109(2021) 110226</a:t>
            </a:r>
          </a:p>
        </p:txBody>
      </p:sp>
      <p:sp>
        <p:nvSpPr>
          <p:cNvPr id="19" name="CustomShape 1"/>
          <p:cNvSpPr/>
          <p:nvPr/>
        </p:nvSpPr>
        <p:spPr>
          <a:xfrm>
            <a:off x="-6120" y="183877"/>
            <a:ext cx="9150840" cy="612000"/>
          </a:xfrm>
          <a:prstGeom prst="homePlate">
            <a:avLst/>
          </a:prstGeom>
          <a:solidFill>
            <a:srgbClr val="002060"/>
          </a:solidFill>
          <a:ln>
            <a:noFill/>
          </a:ln>
          <a:effectLst/>
        </p:spPr>
        <p:txBody>
          <a:bodyPr lIns="91425" tIns="91425" rIns="91425" bIns="91425" anchor="ctr" anchorCtr="0">
            <a:noAutofit/>
          </a:bodyPr>
          <a:lstStyle/>
          <a:p>
            <a:r>
              <a:rPr lang="en-US" sz="2800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2800" b="1" dirty="0" err="1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Antidepressants_GI</a:t>
            </a:r>
            <a:r>
              <a:rPr lang="en-US" altLang="ko-KR" sz="2800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side effects</a:t>
            </a:r>
            <a:endParaRPr lang="en-US" sz="2800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E4EE12EC-8DF9-81DB-B8E4-5BFB748AF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961791"/>
            <a:ext cx="6422932" cy="5693395"/>
          </a:xfrm>
          <a:prstGeom prst="rect">
            <a:avLst/>
          </a:prstGeom>
        </p:spPr>
      </p:pic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xmlns="" id="{DF22DB02-01E7-7B95-FB86-A81210ADB71A}"/>
              </a:ext>
            </a:extLst>
          </p:cNvPr>
          <p:cNvCxnSpPr>
            <a:cxnSpLocks/>
          </p:cNvCxnSpPr>
          <p:nvPr/>
        </p:nvCxnSpPr>
        <p:spPr>
          <a:xfrm>
            <a:off x="4726057" y="6295680"/>
            <a:ext cx="288449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xmlns="" id="{99F0F7F3-D6DD-02B3-053A-3FD4AC8DE56F}"/>
              </a:ext>
            </a:extLst>
          </p:cNvPr>
          <p:cNvCxnSpPr>
            <a:cxnSpLocks/>
          </p:cNvCxnSpPr>
          <p:nvPr/>
        </p:nvCxnSpPr>
        <p:spPr>
          <a:xfrm>
            <a:off x="3214618" y="6419643"/>
            <a:ext cx="442364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6067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/>
          <p:cNvSpPr/>
          <p:nvPr/>
        </p:nvSpPr>
        <p:spPr>
          <a:xfrm>
            <a:off x="227446" y="6525344"/>
            <a:ext cx="8905840" cy="332655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marL="228600" indent="-228600" algn="r">
              <a:lnSpc>
                <a:spcPct val="115000"/>
              </a:lnSpc>
              <a:buAutoNum type="arabicPeriod"/>
            </a:pPr>
            <a:r>
              <a:rPr lang="en-US" altLang="ko-KR" sz="900" i="1" dirty="0">
                <a:solidFill>
                  <a:prstClr val="black"/>
                </a:solidFill>
              </a:rPr>
              <a:t>V. </a:t>
            </a:r>
            <a:r>
              <a:rPr lang="en-US" altLang="ko-KR" sz="900" i="1" dirty="0" err="1">
                <a:solidFill>
                  <a:prstClr val="black"/>
                </a:solidFill>
              </a:rPr>
              <a:t>Olica</a:t>
            </a:r>
            <a:r>
              <a:rPr lang="en-US" altLang="ko-KR" sz="900" i="1" dirty="0">
                <a:solidFill>
                  <a:prstClr val="black"/>
                </a:solidFill>
              </a:rPr>
              <a:t> et al., Prog in </a:t>
            </a:r>
            <a:r>
              <a:rPr lang="en-US" altLang="ko-KR" sz="900" i="1" dirty="0" err="1">
                <a:solidFill>
                  <a:prstClr val="black"/>
                </a:solidFill>
              </a:rPr>
              <a:t>Neuropsycholpharmacology</a:t>
            </a:r>
            <a:r>
              <a:rPr lang="en-US" altLang="ko-KR" sz="900" i="1" dirty="0">
                <a:solidFill>
                  <a:prstClr val="black"/>
                </a:solidFill>
              </a:rPr>
              <a:t> &amp; Biological </a:t>
            </a:r>
            <a:r>
              <a:rPr lang="en-US" altLang="ko-KR" sz="900" i="1" dirty="0" err="1">
                <a:solidFill>
                  <a:prstClr val="black"/>
                </a:solidFill>
              </a:rPr>
              <a:t>Psychiary</a:t>
            </a:r>
            <a:r>
              <a:rPr lang="en-US" altLang="ko-KR" sz="900" i="1" dirty="0">
                <a:solidFill>
                  <a:prstClr val="black"/>
                </a:solidFill>
              </a:rPr>
              <a:t> 109(2021) 110226</a:t>
            </a:r>
          </a:p>
        </p:txBody>
      </p:sp>
      <p:sp>
        <p:nvSpPr>
          <p:cNvPr id="19" name="CustomShape 1"/>
          <p:cNvSpPr/>
          <p:nvPr/>
        </p:nvSpPr>
        <p:spPr>
          <a:xfrm>
            <a:off x="-6120" y="183877"/>
            <a:ext cx="9150840" cy="612000"/>
          </a:xfrm>
          <a:prstGeom prst="homePlate">
            <a:avLst/>
          </a:prstGeom>
          <a:solidFill>
            <a:srgbClr val="002060"/>
          </a:solidFill>
          <a:ln>
            <a:noFill/>
          </a:ln>
          <a:effectLst/>
        </p:spPr>
        <p:txBody>
          <a:bodyPr lIns="91425" tIns="91425" rIns="91425" bIns="91425" anchor="ctr" anchorCtr="0">
            <a:noAutofit/>
          </a:bodyPr>
          <a:lstStyle/>
          <a:p>
            <a:r>
              <a:rPr lang="en-US" sz="2800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2800" b="1" dirty="0" err="1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Antidepressants_GI</a:t>
            </a:r>
            <a:r>
              <a:rPr lang="en-US" altLang="ko-KR" sz="2800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side effects</a:t>
            </a:r>
            <a:endParaRPr lang="en-US" sz="2800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B990C00D-B7EF-DE58-6416-85FA0DB10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" y="1290637"/>
            <a:ext cx="8953500" cy="4658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446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1"/>
          <p:cNvSpPr/>
          <p:nvPr/>
        </p:nvSpPr>
        <p:spPr>
          <a:xfrm>
            <a:off x="-6120" y="183877"/>
            <a:ext cx="9150840" cy="612000"/>
          </a:xfrm>
          <a:prstGeom prst="homePlate">
            <a:avLst/>
          </a:prstGeom>
          <a:solidFill>
            <a:srgbClr val="002060"/>
          </a:solidFill>
          <a:ln>
            <a:noFill/>
          </a:ln>
          <a:effectLst/>
        </p:spPr>
        <p:txBody>
          <a:bodyPr lIns="91425" tIns="91425" rIns="91425" bIns="91425" anchor="ctr" anchorCtr="0">
            <a:noAutofit/>
          </a:bodyPr>
          <a:lstStyle/>
          <a:p>
            <a:r>
              <a:rPr lang="en-US" altLang="ko-KR" sz="2800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2800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항우울제 </a:t>
            </a:r>
            <a:r>
              <a:rPr lang="en-US" altLang="ko-KR" sz="2800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Side Effects</a:t>
            </a:r>
            <a:endParaRPr lang="en-US" sz="2200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7330C5D5-BB8C-6FEF-783A-AB259B8D4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795877"/>
            <a:ext cx="7560840" cy="5884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8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/>
          <p:cNvSpPr/>
          <p:nvPr/>
        </p:nvSpPr>
        <p:spPr>
          <a:xfrm>
            <a:off x="227446" y="6525344"/>
            <a:ext cx="8905840" cy="332655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marL="228600" indent="-228600" algn="r">
              <a:lnSpc>
                <a:spcPct val="115000"/>
              </a:lnSpc>
              <a:buAutoNum type="arabicPeriod"/>
            </a:pPr>
            <a:r>
              <a:rPr lang="en-US" altLang="ko-KR" sz="900" i="1" dirty="0">
                <a:solidFill>
                  <a:prstClr val="black"/>
                </a:solidFill>
              </a:rPr>
              <a:t>V. </a:t>
            </a:r>
            <a:r>
              <a:rPr lang="en-US" altLang="ko-KR" sz="900" i="1" dirty="0" err="1">
                <a:solidFill>
                  <a:prstClr val="black"/>
                </a:solidFill>
              </a:rPr>
              <a:t>Olica</a:t>
            </a:r>
            <a:r>
              <a:rPr lang="en-US" altLang="ko-KR" sz="900" i="1" dirty="0">
                <a:solidFill>
                  <a:prstClr val="black"/>
                </a:solidFill>
              </a:rPr>
              <a:t> et al., Prog in </a:t>
            </a:r>
            <a:r>
              <a:rPr lang="en-US" altLang="ko-KR" sz="900" i="1" dirty="0" err="1">
                <a:solidFill>
                  <a:prstClr val="black"/>
                </a:solidFill>
              </a:rPr>
              <a:t>Neuropsycholpharmacology</a:t>
            </a:r>
            <a:r>
              <a:rPr lang="en-US" altLang="ko-KR" sz="900" i="1" dirty="0">
                <a:solidFill>
                  <a:prstClr val="black"/>
                </a:solidFill>
              </a:rPr>
              <a:t> &amp; Biological </a:t>
            </a:r>
            <a:r>
              <a:rPr lang="en-US" altLang="ko-KR" sz="900" i="1" dirty="0" err="1">
                <a:solidFill>
                  <a:prstClr val="black"/>
                </a:solidFill>
              </a:rPr>
              <a:t>Psychiary</a:t>
            </a:r>
            <a:r>
              <a:rPr lang="en-US" altLang="ko-KR" sz="900" i="1" dirty="0">
                <a:solidFill>
                  <a:prstClr val="black"/>
                </a:solidFill>
              </a:rPr>
              <a:t> 109(2021) 110226</a:t>
            </a:r>
          </a:p>
        </p:txBody>
      </p:sp>
      <p:sp>
        <p:nvSpPr>
          <p:cNvPr id="19" name="CustomShape 1"/>
          <p:cNvSpPr/>
          <p:nvPr/>
        </p:nvSpPr>
        <p:spPr>
          <a:xfrm>
            <a:off x="-6120" y="183877"/>
            <a:ext cx="9150840" cy="612000"/>
          </a:xfrm>
          <a:prstGeom prst="homePlate">
            <a:avLst/>
          </a:prstGeom>
          <a:solidFill>
            <a:srgbClr val="002060"/>
          </a:solidFill>
          <a:ln>
            <a:noFill/>
          </a:ln>
          <a:effectLst/>
        </p:spPr>
        <p:txBody>
          <a:bodyPr lIns="91425" tIns="91425" rIns="91425" bIns="91425" anchor="ctr" anchorCtr="0">
            <a:noAutofit/>
          </a:bodyPr>
          <a:lstStyle/>
          <a:p>
            <a:r>
              <a:rPr lang="en-US" sz="2800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2800" b="1" dirty="0" err="1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Antidepressants_GI</a:t>
            </a:r>
            <a:r>
              <a:rPr lang="en-US" altLang="ko-KR" sz="2800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side effects</a:t>
            </a:r>
            <a:endParaRPr lang="en-US" sz="2800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1B79C035-C6D0-83CD-5228-79FFF592B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1114202"/>
            <a:ext cx="3735874" cy="266197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894F6FCE-706B-9770-62F0-23C57B3363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366" y="1083880"/>
            <a:ext cx="3708449" cy="266197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136452CA-8C3D-38D9-76A1-70BA0771B0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0311" y="3776174"/>
            <a:ext cx="3940563" cy="2973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20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1"/>
          <p:cNvSpPr/>
          <p:nvPr/>
        </p:nvSpPr>
        <p:spPr>
          <a:xfrm>
            <a:off x="-6120" y="183877"/>
            <a:ext cx="9150840" cy="612000"/>
          </a:xfrm>
          <a:prstGeom prst="homePlate">
            <a:avLst/>
          </a:prstGeom>
          <a:solidFill>
            <a:srgbClr val="002060"/>
          </a:solidFill>
          <a:ln>
            <a:noFill/>
          </a:ln>
          <a:effectLst/>
        </p:spPr>
        <p:txBody>
          <a:bodyPr lIns="91425" tIns="91425" rIns="91425" bIns="91425" anchor="ctr" anchorCtr="0">
            <a:noAutofit/>
          </a:bodyPr>
          <a:lstStyle/>
          <a:p>
            <a:r>
              <a:rPr lang="en-US" altLang="ko-KR" sz="2800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Motilitone : Prokinetics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1CB979E6-FEB5-0115-8C4F-577974803AF8}"/>
              </a:ext>
            </a:extLst>
          </p:cNvPr>
          <p:cNvSpPr/>
          <p:nvPr/>
        </p:nvSpPr>
        <p:spPr>
          <a:xfrm>
            <a:off x="5258197" y="6452950"/>
            <a:ext cx="369829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r-FR" altLang="ko-KR" sz="1000" dirty="0"/>
              <a:t>YS Kwon  et al. biomolecules &amp; therapeutics (2013)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F9977F96-EBFD-70E4-F5AE-5E83465162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44" t="30034" r="5203"/>
          <a:stretch/>
        </p:blipFill>
        <p:spPr>
          <a:xfrm>
            <a:off x="299822" y="2278701"/>
            <a:ext cx="8656671" cy="36674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90383ED-75F4-4297-FCC1-94CE8F7D4017}"/>
              </a:ext>
            </a:extLst>
          </p:cNvPr>
          <p:cNvSpPr txBox="1"/>
          <p:nvPr/>
        </p:nvSpPr>
        <p:spPr>
          <a:xfrm>
            <a:off x="95651" y="1337466"/>
            <a:ext cx="8952698" cy="80003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91425" tIns="45700" rIns="91425" bIns="45700" rtlCol="0" anchor="ctr" anchorCtr="0">
            <a:noAutofit/>
          </a:bodyPr>
          <a:lstStyle/>
          <a:p>
            <a: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A300"/>
              </a:buClr>
              <a:buSzPct val="25000"/>
              <a:buFont typeface="Arial"/>
              <a:buNone/>
            </a:pPr>
            <a:r>
              <a:rPr lang="en-US" altLang="ko-KR" b="1" i="0" u="none" strike="noStrike" cap="none" baseline="0" dirty="0">
                <a:latin typeface="Arial"/>
                <a:ea typeface="Arial"/>
                <a:cs typeface="Arial"/>
                <a:sym typeface="Arial"/>
              </a:rPr>
              <a:t>Motilitone : A New Multi-Acting Drug for the Treatment of Functional Dyspepsia</a:t>
            </a:r>
            <a:endParaRPr lang="ko-KR" altLang="en-US" b="1" i="0" u="none" strike="noStrike" cap="none" baseline="0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43078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1"/>
          <p:cNvSpPr/>
          <p:nvPr/>
        </p:nvSpPr>
        <p:spPr>
          <a:xfrm>
            <a:off x="-6120" y="183877"/>
            <a:ext cx="9150840" cy="612000"/>
          </a:xfrm>
          <a:prstGeom prst="homePlate">
            <a:avLst/>
          </a:prstGeom>
          <a:solidFill>
            <a:srgbClr val="002060"/>
          </a:solidFill>
          <a:ln>
            <a:noFill/>
          </a:ln>
          <a:effectLst/>
        </p:spPr>
        <p:txBody>
          <a:bodyPr lIns="91425" tIns="91425" rIns="91425" bIns="91425" anchor="ctr" anchorCtr="0">
            <a:noAutofit/>
          </a:bodyPr>
          <a:lstStyle/>
          <a:p>
            <a:r>
              <a:rPr lang="en-US" altLang="ko-KR" sz="2800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Receptor affinities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xmlns="" id="{7070A8AB-8D04-2656-C2DC-D80134307B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717318"/>
            <a:ext cx="8496944" cy="3511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B54F32D-2BCA-B950-5516-1208416B44E2}"/>
              </a:ext>
            </a:extLst>
          </p:cNvPr>
          <p:cNvSpPr txBox="1"/>
          <p:nvPr/>
        </p:nvSpPr>
        <p:spPr>
          <a:xfrm>
            <a:off x="3419872" y="1465805"/>
            <a:ext cx="1368152" cy="216024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rtlCol="0" anchor="t" anchorCtr="0">
            <a:noAutofit/>
          </a:bodyPr>
          <a:lstStyle/>
          <a:p>
            <a: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A300"/>
              </a:buClr>
              <a:buSzPct val="25000"/>
              <a:buFont typeface="Arial"/>
              <a:buNone/>
            </a:pPr>
            <a:r>
              <a:rPr lang="ko-KR" altLang="en-US" sz="2000" b="1" i="0" u="none" strike="noStrike" cap="none" baseline="0" dirty="0">
                <a:latin typeface="Arial"/>
                <a:ea typeface="Arial"/>
                <a:cs typeface="Arial"/>
                <a:sym typeface="Arial"/>
              </a:rPr>
              <a:t>모티리톤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8C9640E6-8229-57AA-0378-0991FEC4A930}"/>
              </a:ext>
            </a:extLst>
          </p:cNvPr>
          <p:cNvSpPr/>
          <p:nvPr/>
        </p:nvSpPr>
        <p:spPr>
          <a:xfrm>
            <a:off x="3275856" y="1844824"/>
            <a:ext cx="1656184" cy="21602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9042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1"/>
          <p:cNvSpPr/>
          <p:nvPr/>
        </p:nvSpPr>
        <p:spPr>
          <a:xfrm>
            <a:off x="-6120" y="183877"/>
            <a:ext cx="9150840" cy="612000"/>
          </a:xfrm>
          <a:prstGeom prst="homePlate">
            <a:avLst/>
          </a:prstGeom>
          <a:solidFill>
            <a:srgbClr val="002060"/>
          </a:solidFill>
          <a:ln>
            <a:noFill/>
          </a:ln>
          <a:effectLst/>
        </p:spPr>
        <p:txBody>
          <a:bodyPr lIns="91425" tIns="91425" rIns="91425" bIns="91425" anchor="ctr" anchorCtr="0">
            <a:noAutofit/>
          </a:bodyPr>
          <a:lstStyle/>
          <a:p>
            <a:r>
              <a:rPr lang="en-US" altLang="ko-KR" sz="2800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Motilitone in Constipation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89FBCA60-4B52-9EBD-BD11-E3D74CD3B682}"/>
              </a:ext>
            </a:extLst>
          </p:cNvPr>
          <p:cNvSpPr/>
          <p:nvPr/>
        </p:nvSpPr>
        <p:spPr>
          <a:xfrm>
            <a:off x="3743400" y="6611779"/>
            <a:ext cx="54006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1000" dirty="0"/>
              <a:t>Kim SY, et al. Journal of Gastroenterology and </a:t>
            </a:r>
            <a:r>
              <a:rPr lang="en-US" altLang="ko-KR" sz="1000" dirty="0" err="1"/>
              <a:t>Hepatology</a:t>
            </a:r>
            <a:r>
              <a:rPr lang="en-US" altLang="ko-KR" sz="1000" dirty="0"/>
              <a:t> 32 (2017) 1943–1948</a:t>
            </a:r>
            <a:endParaRPr lang="ko-KR" altLang="en-US" sz="1000" dirty="0"/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xmlns="" id="{C306BF46-A2C2-59CD-7543-F9FA77EE2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r="2091" b="1195"/>
          <a:stretch>
            <a:fillRect/>
          </a:stretch>
        </p:blipFill>
        <p:spPr bwMode="auto">
          <a:xfrm>
            <a:off x="4427984" y="1733907"/>
            <a:ext cx="3960440" cy="273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xmlns="" id="{C0C9CD43-1FCA-DECF-DAE6-9E33AE01E835}"/>
              </a:ext>
            </a:extLst>
          </p:cNvPr>
          <p:cNvGrpSpPr/>
          <p:nvPr/>
        </p:nvGrpSpPr>
        <p:grpSpPr>
          <a:xfrm>
            <a:off x="382377" y="1733907"/>
            <a:ext cx="3908594" cy="1872208"/>
            <a:chOff x="309880" y="1484784"/>
            <a:chExt cx="3672408" cy="1554446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xmlns="" id="{BDBBDED7-6B65-3000-F344-8C80828B3F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/>
            <a:srcRect r="903"/>
            <a:stretch>
              <a:fillRect/>
            </a:stretch>
          </p:blipFill>
          <p:spPr bwMode="auto">
            <a:xfrm>
              <a:off x="323528" y="1484784"/>
              <a:ext cx="3657572" cy="15544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xmlns="" id="{8EFED00E-8377-5052-EA2B-B389B1B19118}"/>
                </a:ext>
              </a:extLst>
            </p:cNvPr>
            <p:cNvSpPr/>
            <p:nvPr/>
          </p:nvSpPr>
          <p:spPr>
            <a:xfrm>
              <a:off x="309880" y="2435230"/>
              <a:ext cx="3672408" cy="2178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7C02BFFB-886D-7F4C-15BE-7D57061EA5FC}"/>
              </a:ext>
            </a:extLst>
          </p:cNvPr>
          <p:cNvSpPr txBox="1"/>
          <p:nvPr/>
        </p:nvSpPr>
        <p:spPr>
          <a:xfrm>
            <a:off x="395536" y="5589240"/>
            <a:ext cx="81340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ko-KR" sz="1600" b="1" dirty="0">
                <a:latin typeface="+mj-lt"/>
                <a:ea typeface="나눔스퀘어_ac"/>
                <a:cs typeface="Calibri" pitchFamily="34" charset="0"/>
              </a:rPr>
              <a:t>⇒  </a:t>
            </a:r>
            <a:r>
              <a:rPr lang="en-US" altLang="ko-KR" sz="1600" b="1" dirty="0" err="1">
                <a:latin typeface="+mj-lt"/>
                <a:cs typeface="Calibri" pitchFamily="34" charset="0"/>
              </a:rPr>
              <a:t>Motilitone</a:t>
            </a:r>
            <a:r>
              <a:rPr lang="en-US" altLang="ko-KR" sz="1600" b="1" dirty="0">
                <a:latin typeface="+mj-lt"/>
                <a:cs typeface="Calibri" pitchFamily="34" charset="0"/>
              </a:rPr>
              <a:t> accelerates colonic transit and safely improves symptoms in patients with functional constipation.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5ED422E5-2B13-2D05-B8A9-B911AD48BC62}"/>
              </a:ext>
            </a:extLst>
          </p:cNvPr>
          <p:cNvSpPr/>
          <p:nvPr/>
        </p:nvSpPr>
        <p:spPr>
          <a:xfrm>
            <a:off x="382377" y="3644255"/>
            <a:ext cx="397359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&lt;Analysis of CTT (colon transit time) and clinical symptoms&gt;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6A88AC3F-CEEB-DCAE-FF2A-9AF543A44FBE}"/>
              </a:ext>
            </a:extLst>
          </p:cNvPr>
          <p:cNvSpPr/>
          <p:nvPr/>
        </p:nvSpPr>
        <p:spPr>
          <a:xfrm>
            <a:off x="395536" y="4653136"/>
            <a:ext cx="820891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+mj-lt"/>
                <a:cs typeface="Calibri" pitchFamily="34" charset="0"/>
              </a:rPr>
              <a:t>- The CTT measured by abdominal X-ray was 34.9 ± 17.6 h before treatment, which significantly decreased to 23.7 ± 19.1 h at the end of treatment (P = 0.001).</a:t>
            </a:r>
          </a:p>
          <a:p>
            <a:r>
              <a:rPr lang="en-US" altLang="ko-KR" sz="1400" dirty="0">
                <a:latin typeface="+mj-lt"/>
                <a:cs typeface="Calibri" pitchFamily="34" charset="0"/>
              </a:rPr>
              <a:t>- After treatment, all subjective symptoms significantly improved compared with before treatment</a:t>
            </a:r>
            <a:endParaRPr lang="ko-KR" altLang="en-US" sz="1400" dirty="0">
              <a:latin typeface="+mj-lt"/>
              <a:cs typeface="Calibri" pitchFamily="34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262770D5-51CB-F624-EE14-3CF60E0BF6C2}"/>
              </a:ext>
            </a:extLst>
          </p:cNvPr>
          <p:cNvSpPr/>
          <p:nvPr/>
        </p:nvSpPr>
        <p:spPr>
          <a:xfrm>
            <a:off x="286086" y="1364575"/>
            <a:ext cx="83529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altLang="ko-KR" sz="2000" dirty="0">
                <a:latin typeface="+mj-lt"/>
                <a:cs typeface="Calibri" pitchFamily="34" charset="0"/>
              </a:rPr>
              <a:t> Results</a:t>
            </a:r>
          </a:p>
        </p:txBody>
      </p:sp>
    </p:spTree>
    <p:extLst>
      <p:ext uri="{BB962C8B-B14F-4D97-AF65-F5344CB8AC3E}">
        <p14:creationId xmlns:p14="http://schemas.microsoft.com/office/powerpoint/2010/main" val="1141281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" name="차트 43">
            <a:extLst>
              <a:ext uri="{FF2B5EF4-FFF2-40B4-BE49-F238E27FC236}">
                <a16:creationId xmlns:a16="http://schemas.microsoft.com/office/drawing/2014/main" xmlns="" id="{73921AA9-6716-9ACB-6EA7-0F1985A636AE}"/>
              </a:ext>
            </a:extLst>
          </p:cNvPr>
          <p:cNvGraphicFramePr>
            <a:graphicFrameLocks/>
          </p:cNvGraphicFramePr>
          <p:nvPr/>
        </p:nvGraphicFramePr>
        <p:xfrm>
          <a:off x="1259632" y="3501008"/>
          <a:ext cx="3325258" cy="3279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6" name="차트 45">
            <a:extLst>
              <a:ext uri="{FF2B5EF4-FFF2-40B4-BE49-F238E27FC236}">
                <a16:creationId xmlns:a16="http://schemas.microsoft.com/office/drawing/2014/main" xmlns="" id="{EAF2E5EE-9921-CB4E-B17F-16009BA0FC56}"/>
              </a:ext>
            </a:extLst>
          </p:cNvPr>
          <p:cNvGraphicFramePr>
            <a:graphicFrameLocks/>
          </p:cNvGraphicFramePr>
          <p:nvPr/>
        </p:nvGraphicFramePr>
        <p:xfrm>
          <a:off x="4772902" y="3501008"/>
          <a:ext cx="3261054" cy="3279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CustomShape 1"/>
          <p:cNvSpPr/>
          <p:nvPr/>
        </p:nvSpPr>
        <p:spPr>
          <a:xfrm>
            <a:off x="-6120" y="183877"/>
            <a:ext cx="9150840" cy="612000"/>
          </a:xfrm>
          <a:prstGeom prst="homePlate">
            <a:avLst/>
          </a:prstGeom>
          <a:solidFill>
            <a:srgbClr val="002060"/>
          </a:solidFill>
          <a:ln>
            <a:noFill/>
          </a:ln>
          <a:effectLst/>
        </p:spPr>
        <p:txBody>
          <a:bodyPr lIns="91425" tIns="91425" rIns="91425" bIns="91425" anchor="ctr" anchorCtr="0">
            <a:noAutofit/>
          </a:bodyPr>
          <a:lstStyle/>
          <a:p>
            <a:r>
              <a:rPr lang="en-US" altLang="ko-KR" sz="2800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Motilitone : BBB</a:t>
            </a:r>
            <a:r>
              <a:rPr lang="ko-KR" altLang="en-US" sz="2800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Safety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xmlns="" id="{A6BB6DDA-EE9A-2792-E1C5-62C6269EB867}"/>
              </a:ext>
            </a:extLst>
          </p:cNvPr>
          <p:cNvSpPr txBox="1">
            <a:spLocks/>
          </p:cNvSpPr>
          <p:nvPr/>
        </p:nvSpPr>
        <p:spPr>
          <a:xfrm>
            <a:off x="284824" y="967417"/>
            <a:ext cx="8568952" cy="551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b="1" dirty="0" err="1">
                <a:solidFill>
                  <a:srgbClr val="FF0000"/>
                </a:solidFill>
              </a:rPr>
              <a:t>고용량</a:t>
            </a:r>
            <a:r>
              <a:rPr lang="ko-KR" altLang="en-US" sz="2000" b="1" dirty="0">
                <a:solidFill>
                  <a:srgbClr val="FF0000"/>
                </a:solidFill>
              </a:rPr>
              <a:t> 투여 후에도 뇌조직의 노출 정도가 매우 낮음</a:t>
            </a:r>
          </a:p>
        </p:txBody>
      </p:sp>
      <p:sp>
        <p:nvSpPr>
          <p:cNvPr id="36" name="내용 개체 틀 2">
            <a:extLst>
              <a:ext uri="{FF2B5EF4-FFF2-40B4-BE49-F238E27FC236}">
                <a16:creationId xmlns:a16="http://schemas.microsoft.com/office/drawing/2014/main" xmlns="" id="{EF7304E9-102F-ACF2-5A71-26A71CAC8A1F}"/>
              </a:ext>
            </a:extLst>
          </p:cNvPr>
          <p:cNvSpPr txBox="1">
            <a:spLocks/>
          </p:cNvSpPr>
          <p:nvPr/>
        </p:nvSpPr>
        <p:spPr>
          <a:xfrm>
            <a:off x="395536" y="1608385"/>
            <a:ext cx="8458239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1800" dirty="0">
                <a:latin typeface="Calibri" panose="020F0502020204030204" pitchFamily="34" charset="0"/>
                <a:cs typeface="Calibri" panose="020F0502020204030204" pitchFamily="34" charset="0"/>
              </a:rPr>
              <a:t>DA-9701 components having dopamine D2 receptor antagonizing activity, </a:t>
            </a:r>
          </a:p>
          <a:p>
            <a:pPr marL="0" indent="0" algn="ctr">
              <a:buNone/>
            </a:pPr>
            <a:r>
              <a:rPr lang="en-US" altLang="ko-KR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tetrahydropalmatine</a:t>
            </a:r>
            <a:r>
              <a:rPr lang="en-US" altLang="ko-KR" sz="1800" dirty="0">
                <a:latin typeface="Calibri" panose="020F0502020204030204" pitchFamily="34" charset="0"/>
                <a:cs typeface="Calibri" panose="020F0502020204030204" pitchFamily="34" charset="0"/>
              </a:rPr>
              <a:t> (THP) and </a:t>
            </a:r>
            <a:r>
              <a:rPr lang="en-US" altLang="ko-KR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tetrahydroberberine</a:t>
            </a:r>
            <a:r>
              <a:rPr lang="en-US" altLang="ko-KR" sz="1800" dirty="0">
                <a:latin typeface="Calibri" panose="020F0502020204030204" pitchFamily="34" charset="0"/>
                <a:cs typeface="Calibri" panose="020F0502020204030204" pitchFamily="34" charset="0"/>
              </a:rPr>
              <a:t> (THB)</a:t>
            </a:r>
          </a:p>
          <a:p>
            <a:pPr marL="0" indent="0">
              <a:buNone/>
            </a:pPr>
            <a:endParaRPr lang="ko-KR" alt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xmlns="" id="{3FB62212-23DD-05FB-3636-2C3E58F38D8B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267527" y="3691208"/>
            <a:ext cx="902871" cy="662788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xmlns="" id="{04EE6D0E-A6EE-EC13-ABAF-4B525F2AF6AE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895346" y="3691208"/>
            <a:ext cx="902871" cy="662788"/>
          </a:xfrm>
          <a:prstGeom prst="rect">
            <a:avLst/>
          </a:prstGeom>
        </p:spPr>
      </p:pic>
      <p:graphicFrame>
        <p:nvGraphicFramePr>
          <p:cNvPr id="42" name="표 41">
            <a:extLst>
              <a:ext uri="{FF2B5EF4-FFF2-40B4-BE49-F238E27FC236}">
                <a16:creationId xmlns:a16="http://schemas.microsoft.com/office/drawing/2014/main" xmlns="" id="{07301889-B52A-B762-13B9-C35C315DBECC}"/>
              </a:ext>
            </a:extLst>
          </p:cNvPr>
          <p:cNvGraphicFramePr>
            <a:graphicFrameLocks noGrp="1"/>
          </p:cNvGraphicFramePr>
          <p:nvPr/>
        </p:nvGraphicFramePr>
        <p:xfrm>
          <a:off x="1843173" y="2393909"/>
          <a:ext cx="5609147" cy="952878"/>
        </p:xfrm>
        <a:graphic>
          <a:graphicData uri="http://schemas.openxmlformats.org/drawingml/2006/table">
            <a:tbl>
              <a:tblPr/>
              <a:tblGrid>
                <a:gridCol w="185209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8648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1821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5235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461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328mg/kg, 30min</a:t>
                      </a:r>
                    </a:p>
                  </a:txBody>
                  <a:tcPr marL="7144" marR="7144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small intestine</a:t>
                      </a:r>
                    </a:p>
                  </a:txBody>
                  <a:tcPr marL="7144" marR="7144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stomach</a:t>
                      </a:r>
                    </a:p>
                  </a:txBody>
                  <a:tcPr marL="7144" marR="7144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brain</a:t>
                      </a:r>
                    </a:p>
                  </a:txBody>
                  <a:tcPr marL="7144" marR="7144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279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THP</a:t>
                      </a:r>
                    </a:p>
                  </a:txBody>
                  <a:tcPr marL="7144" marR="7144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15,700</a:t>
                      </a:r>
                    </a:p>
                  </a:txBody>
                  <a:tcPr marL="7144" marR="7144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6,020</a:t>
                      </a:r>
                    </a:p>
                  </a:txBody>
                  <a:tcPr marL="7144" marR="7144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376</a:t>
                      </a:r>
                    </a:p>
                  </a:txBody>
                  <a:tcPr marL="7144" marR="7144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79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THB</a:t>
                      </a:r>
                    </a:p>
                  </a:txBody>
                  <a:tcPr marL="7144" marR="7144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8,990</a:t>
                      </a:r>
                    </a:p>
                  </a:txBody>
                  <a:tcPr marL="7144" marR="7144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5,290</a:t>
                      </a:r>
                    </a:p>
                  </a:txBody>
                  <a:tcPr marL="7144" marR="7144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36.3</a:t>
                      </a:r>
                    </a:p>
                  </a:txBody>
                  <a:tcPr marL="7144" marR="7144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48" name="직사각형 47">
            <a:extLst>
              <a:ext uri="{FF2B5EF4-FFF2-40B4-BE49-F238E27FC236}">
                <a16:creationId xmlns:a16="http://schemas.microsoft.com/office/drawing/2014/main" xmlns="" id="{4812F99B-C5F9-232F-6BAA-51F2319D4455}"/>
              </a:ext>
            </a:extLst>
          </p:cNvPr>
          <p:cNvSpPr/>
          <p:nvPr/>
        </p:nvSpPr>
        <p:spPr>
          <a:xfrm>
            <a:off x="2843808" y="6499026"/>
            <a:ext cx="618812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1000" dirty="0"/>
              <a:t>Jung, Ji Won, et al.  Biological and Pharmaceutical Bulletin 38.2 (2015): 285-291</a:t>
            </a:r>
          </a:p>
        </p:txBody>
      </p:sp>
    </p:spTree>
    <p:extLst>
      <p:ext uri="{BB962C8B-B14F-4D97-AF65-F5344CB8AC3E}">
        <p14:creationId xmlns:p14="http://schemas.microsoft.com/office/powerpoint/2010/main" val="2017094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1"/>
          <p:cNvSpPr/>
          <p:nvPr/>
        </p:nvSpPr>
        <p:spPr>
          <a:xfrm>
            <a:off x="-6120" y="183877"/>
            <a:ext cx="9150840" cy="612000"/>
          </a:xfrm>
          <a:prstGeom prst="homePlate">
            <a:avLst/>
          </a:prstGeom>
          <a:solidFill>
            <a:srgbClr val="002060"/>
          </a:solidFill>
          <a:ln>
            <a:noFill/>
          </a:ln>
          <a:effectLst/>
        </p:spPr>
        <p:txBody>
          <a:bodyPr lIns="91425" tIns="91425" rIns="91425" bIns="91425" anchor="ctr" anchorCtr="0">
            <a:noAutofit/>
          </a:bodyPr>
          <a:lstStyle/>
          <a:p>
            <a:r>
              <a:rPr lang="en-US" altLang="ko-KR" sz="2800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Motilitone in Parkinsonism 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xmlns="" id="{85A8BD75-9CCC-AD6C-DF06-9E768426D052}"/>
              </a:ext>
            </a:extLst>
          </p:cNvPr>
          <p:cNvGraphicFramePr>
            <a:graphicFrameLocks noGrp="1"/>
          </p:cNvGraphicFramePr>
          <p:nvPr/>
        </p:nvGraphicFramePr>
        <p:xfrm>
          <a:off x="213296" y="3573015"/>
          <a:ext cx="8712008" cy="295232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0866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10334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671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</a:rPr>
                        <a:t>시험제목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Arial" panose="020B0604020202020204" pitchFamily="34" charset="0"/>
                      </a:endParaRPr>
                    </a:p>
                  </a:txBody>
                  <a:tcPr marL="91441" marR="91441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파킨슨병 환자에서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DA-9701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의 위장 기능 개선 및 안전성 연구</a:t>
                      </a:r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marL="88900" marR="0" lvl="0" indent="-889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en-US" altLang="ko-KR" sz="1400" kern="12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400" kern="1200" baseline="0" dirty="0">
                          <a:solidFill>
                            <a:schemeClr val="tx1"/>
                          </a:solidFill>
                        </a:rPr>
                        <a:t>무작위 배정</a:t>
                      </a:r>
                      <a:r>
                        <a:rPr lang="en-US" altLang="ko-KR" sz="1400" kern="12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kern="1200" baseline="0" dirty="0">
                          <a:solidFill>
                            <a:schemeClr val="tx1"/>
                          </a:solidFill>
                        </a:rPr>
                        <a:t>이중 눈가림</a:t>
                      </a:r>
                      <a:r>
                        <a:rPr lang="en-US" altLang="ko-KR" sz="1400" kern="12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kern="1200" baseline="0" dirty="0" err="1">
                          <a:solidFill>
                            <a:schemeClr val="tx1"/>
                          </a:solidFill>
                        </a:rPr>
                        <a:t>비교약</a:t>
                      </a:r>
                      <a:r>
                        <a:rPr lang="ko-KR" altLang="en-US" sz="1400" kern="1200" baseline="0" dirty="0">
                          <a:solidFill>
                            <a:schemeClr val="tx1"/>
                          </a:solidFill>
                        </a:rPr>
                        <a:t>  대조 연구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Arial" panose="020B0604020202020204" pitchFamily="34" charset="0"/>
                      </a:endParaRPr>
                    </a:p>
                  </a:txBody>
                  <a:tcPr marL="91441" marR="91441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447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/>
                        <a:t>시험 대상</a:t>
                      </a:r>
                      <a:endParaRPr lang="ko-KR" altLang="en-US" sz="1200" b="1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Arial" panose="020B0604020202020204" pitchFamily="34" charset="0"/>
                      </a:endParaRPr>
                    </a:p>
                  </a:txBody>
                  <a:tcPr marL="91441" marR="9144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200" kern="1200" dirty="0"/>
                        <a:t> 파킨슨병 환자 </a:t>
                      </a:r>
                      <a:r>
                        <a:rPr lang="en-US" altLang="ko-KR" sz="1200" kern="1200" dirty="0"/>
                        <a:t>40</a:t>
                      </a:r>
                      <a:r>
                        <a:rPr lang="ko-KR" altLang="en-US" sz="1200" kern="1200" dirty="0"/>
                        <a:t>명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Arial" panose="020B0604020202020204" pitchFamily="34" charset="0"/>
                      </a:endParaRPr>
                    </a:p>
                  </a:txBody>
                  <a:tcPr marL="91441" marR="9144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134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/>
                        <a:t>투여군 및 기간</a:t>
                      </a:r>
                      <a:endParaRPr lang="ko-KR" altLang="en-US" sz="1200" b="1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Arial" panose="020B0604020202020204" pitchFamily="34" charset="0"/>
                      </a:endParaRPr>
                    </a:p>
                  </a:txBody>
                  <a:tcPr marL="91441" marR="9144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200" kern="1200" dirty="0"/>
                        <a:t> </a:t>
                      </a:r>
                      <a:r>
                        <a:rPr lang="ko-KR" altLang="en-US" sz="1200" kern="1200" dirty="0" err="1"/>
                        <a:t>모티리톤</a:t>
                      </a:r>
                      <a:r>
                        <a:rPr lang="en-US" altLang="ko-KR" sz="1200" kern="1200" dirty="0"/>
                        <a:t>(n=20)</a:t>
                      </a:r>
                      <a:r>
                        <a:rPr lang="ko-KR" altLang="en-US" sz="1200" kern="1200" dirty="0"/>
                        <a:t>과 대조군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en-US" altLang="ko-KR" sz="1200" kern="1200" dirty="0" err="1"/>
                        <a:t>Domperidone</a:t>
                      </a:r>
                      <a:r>
                        <a:rPr lang="en-US" altLang="ko-KR" sz="1200" kern="1200" dirty="0"/>
                        <a:t>,</a:t>
                      </a:r>
                      <a:r>
                        <a:rPr lang="en-US" altLang="ko-KR" sz="1200" kern="1200" baseline="0" dirty="0"/>
                        <a:t> n=20)</a:t>
                      </a:r>
                      <a:r>
                        <a:rPr lang="ko-KR" altLang="en-US" sz="1200" kern="1200" baseline="0" dirty="0"/>
                        <a:t> 비교임상</a:t>
                      </a:r>
                      <a:r>
                        <a:rPr lang="en-US" altLang="ko-KR" sz="1200" kern="1200" baseline="0" dirty="0"/>
                        <a:t>.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200" kern="1200" baseline="0" dirty="0"/>
                        <a:t> 4</a:t>
                      </a:r>
                      <a:r>
                        <a:rPr lang="ko-KR" altLang="en-US" sz="1200" kern="1200" baseline="0" dirty="0"/>
                        <a:t>주간 </a:t>
                      </a:r>
                      <a:r>
                        <a:rPr lang="en-US" altLang="ko-KR" sz="1200" kern="1200" baseline="0" dirty="0"/>
                        <a:t>1</a:t>
                      </a:r>
                      <a:r>
                        <a:rPr lang="ko-KR" altLang="en-US" sz="1200" kern="1200" baseline="0" dirty="0"/>
                        <a:t>회 </a:t>
                      </a:r>
                      <a:r>
                        <a:rPr lang="en-US" altLang="ko-KR" sz="1200" kern="1200" baseline="0" dirty="0"/>
                        <a:t>1</a:t>
                      </a:r>
                      <a:r>
                        <a:rPr lang="ko-KR" altLang="en-US" sz="1200" kern="1200" baseline="0" dirty="0"/>
                        <a:t>정</a:t>
                      </a:r>
                      <a:r>
                        <a:rPr lang="en-US" altLang="ko-KR" sz="1200" kern="1200" baseline="0" dirty="0"/>
                        <a:t>, 1</a:t>
                      </a:r>
                      <a:r>
                        <a:rPr lang="ko-KR" altLang="en-US" sz="1200" kern="1200" baseline="0" dirty="0"/>
                        <a:t>일 </a:t>
                      </a:r>
                      <a:r>
                        <a:rPr lang="en-US" altLang="ko-KR" sz="1200" kern="1200" baseline="0" dirty="0"/>
                        <a:t>3</a:t>
                      </a:r>
                      <a:r>
                        <a:rPr lang="ko-KR" altLang="en-US" sz="1200" kern="1200" baseline="0" dirty="0"/>
                        <a:t>회 경구 투여</a:t>
                      </a:r>
                      <a:endParaRPr lang="en-US" altLang="ko-KR" sz="1200" b="0" kern="1200" baseline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Arial" panose="020B0604020202020204" pitchFamily="34" charset="0"/>
                      </a:endParaRPr>
                    </a:p>
                  </a:txBody>
                  <a:tcPr marL="91441" marR="9144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2269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/>
                        <a:t>평가방법</a:t>
                      </a:r>
                      <a:endParaRPr lang="ko-KR" altLang="en-US" sz="1200" b="1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/>
                        <a:cs typeface="Arial" panose="020B0604020202020204" pitchFamily="34" charset="0"/>
                      </a:endParaRPr>
                    </a:p>
                  </a:txBody>
                  <a:tcPr marL="91441" marR="9144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dirty="0"/>
                        <a:t> - MRI</a:t>
                      </a:r>
                      <a:r>
                        <a:rPr lang="ko-KR" altLang="en-US" sz="1200" dirty="0"/>
                        <a:t>를 이용한 위 배출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위 순응도 평가</a:t>
                      </a:r>
                      <a:endParaRPr lang="en-US" altLang="ko-KR" sz="1200" dirty="0"/>
                    </a:p>
                    <a:p>
                      <a:pPr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dirty="0"/>
                        <a:t> - </a:t>
                      </a:r>
                      <a:r>
                        <a:rPr lang="ko-KR" altLang="en-US" sz="1200" dirty="0" err="1"/>
                        <a:t>추체외로</a:t>
                      </a:r>
                      <a:r>
                        <a:rPr lang="ko-KR" altLang="en-US" sz="1200" dirty="0"/>
                        <a:t> 증상 </a:t>
                      </a:r>
                      <a:r>
                        <a:rPr lang="en-US" altLang="ko-KR" sz="1200" dirty="0"/>
                        <a:t>(</a:t>
                      </a:r>
                      <a:r>
                        <a:rPr lang="en-US" altLang="ko-KR" sz="1200" dirty="0" err="1"/>
                        <a:t>extrapyramidal</a:t>
                      </a:r>
                      <a:r>
                        <a:rPr lang="en-US" altLang="ko-KR" sz="1200" baseline="0" dirty="0"/>
                        <a:t> </a:t>
                      </a:r>
                      <a:r>
                        <a:rPr lang="en-US" altLang="ko-KR" sz="1200" baseline="0" dirty="0" err="1"/>
                        <a:t>symtpom</a:t>
                      </a:r>
                      <a:r>
                        <a:rPr lang="en-US" altLang="ko-KR" sz="1200" baseline="0" dirty="0"/>
                        <a:t>) </a:t>
                      </a:r>
                      <a:r>
                        <a:rPr lang="ko-KR" altLang="en-US" sz="1200" baseline="0" dirty="0"/>
                        <a:t>등의 부작용 차이 확인</a:t>
                      </a:r>
                      <a:endParaRPr lang="en-US" altLang="ko-KR" sz="1200" baseline="0" dirty="0"/>
                    </a:p>
                    <a:p>
                      <a:pPr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baseline="0" dirty="0"/>
                        <a:t> - </a:t>
                      </a:r>
                      <a:r>
                        <a:rPr lang="ko-KR" altLang="en-US" sz="1200" baseline="0" dirty="0"/>
                        <a:t>약물투여 전 후 </a:t>
                      </a:r>
                      <a:r>
                        <a:rPr lang="ko-KR" altLang="en-US" sz="1200" baseline="0" dirty="0" err="1"/>
                        <a:t>파킨슨</a:t>
                      </a:r>
                      <a:r>
                        <a:rPr lang="ko-KR" altLang="en-US" sz="1200" baseline="0" dirty="0"/>
                        <a:t> 증상의 변화 </a:t>
                      </a:r>
                      <a:r>
                        <a:rPr lang="en-US" altLang="ko-KR" sz="1200" baseline="0" dirty="0"/>
                        <a:t>(UDPRS Ⅲ)</a:t>
                      </a:r>
                    </a:p>
                    <a:p>
                      <a:pPr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baseline="0" dirty="0"/>
                        <a:t> - </a:t>
                      </a:r>
                      <a:r>
                        <a:rPr lang="ko-KR" altLang="en-US" sz="1200" baseline="0" dirty="0"/>
                        <a:t>혈중 </a:t>
                      </a:r>
                      <a:r>
                        <a:rPr lang="en-US" altLang="ko-KR" sz="1200" baseline="0" dirty="0" err="1"/>
                        <a:t>Levodopa</a:t>
                      </a:r>
                      <a:r>
                        <a:rPr lang="en-US" altLang="ko-KR" sz="1200" baseline="0" dirty="0"/>
                        <a:t> </a:t>
                      </a:r>
                      <a:r>
                        <a:rPr lang="ko-KR" altLang="en-US" sz="1200" baseline="0" dirty="0"/>
                        <a:t>양 증가 정도</a:t>
                      </a:r>
                      <a:endParaRPr lang="en-US" altLang="ko-KR" sz="1200" dirty="0">
                        <a:solidFill>
                          <a:schemeClr val="tx1"/>
                        </a:solidFill>
                        <a:ea typeface="나눔고딕"/>
                      </a:endParaRPr>
                    </a:p>
                  </a:txBody>
                  <a:tcPr marL="91441" marR="9144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2AAA3FF4-2BBB-980F-6D2E-B0C082CF47F4}"/>
              </a:ext>
            </a:extLst>
          </p:cNvPr>
          <p:cNvSpPr txBox="1"/>
          <p:nvPr/>
        </p:nvSpPr>
        <p:spPr>
          <a:xfrm>
            <a:off x="5278839" y="6525344"/>
            <a:ext cx="38651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prstClr val="black"/>
                </a:solidFill>
              </a:rPr>
              <a:t>Shin CM et al., Parkinsonism </a:t>
            </a:r>
            <a:r>
              <a:rPr lang="en-US" altLang="ko-KR" sz="1100" dirty="0" err="1">
                <a:solidFill>
                  <a:prstClr val="black"/>
                </a:solidFill>
              </a:rPr>
              <a:t>Relat</a:t>
            </a:r>
            <a:r>
              <a:rPr lang="en-US" altLang="ko-KR" sz="1100" dirty="0">
                <a:solidFill>
                  <a:prstClr val="black"/>
                </a:solidFill>
              </a:rPr>
              <a:t> </a:t>
            </a:r>
            <a:r>
              <a:rPr lang="en-US" altLang="ko-KR" sz="1100" dirty="0" err="1">
                <a:solidFill>
                  <a:prstClr val="black"/>
                </a:solidFill>
              </a:rPr>
              <a:t>Disord</a:t>
            </a:r>
            <a:r>
              <a:rPr lang="en-US" altLang="ko-KR" sz="1100" dirty="0">
                <a:solidFill>
                  <a:prstClr val="black"/>
                </a:solidFill>
              </a:rPr>
              <a:t>, 2018, 54;84-89</a:t>
            </a:r>
            <a:endParaRPr lang="ko-KR" altLang="en-US" sz="1100" dirty="0">
              <a:solidFill>
                <a:prstClr val="black"/>
              </a:solidFill>
            </a:endParaRP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xmlns="" id="{7C310C1F-DA43-72A1-AB03-C3552649A1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2332" y="1151588"/>
            <a:ext cx="8419335" cy="2243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00320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1"/>
          <p:cNvSpPr/>
          <p:nvPr/>
        </p:nvSpPr>
        <p:spPr>
          <a:xfrm>
            <a:off x="-6120" y="183877"/>
            <a:ext cx="9150840" cy="612000"/>
          </a:xfrm>
          <a:prstGeom prst="homePlate">
            <a:avLst/>
          </a:prstGeom>
          <a:solidFill>
            <a:srgbClr val="002060"/>
          </a:solidFill>
          <a:ln>
            <a:noFill/>
          </a:ln>
          <a:effectLst/>
        </p:spPr>
        <p:txBody>
          <a:bodyPr lIns="91425" tIns="91425" rIns="91425" bIns="91425" anchor="ctr" anchorCtr="0">
            <a:noAutofit/>
          </a:bodyPr>
          <a:lstStyle/>
          <a:p>
            <a:r>
              <a:rPr lang="en-US" altLang="ko-KR" sz="2800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Motilitone in Parkinsonism 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xmlns="" id="{3493F01F-0CC8-DB28-8B69-C9D24D5DC0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8774" y="1460662"/>
            <a:ext cx="8224968" cy="3240360"/>
          </a:xfrm>
          <a:prstGeom prst="rect">
            <a:avLst/>
          </a:prstGeom>
          <a:noFill/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79494330-E829-E814-26E3-DE160F8A85AA}"/>
              </a:ext>
            </a:extLst>
          </p:cNvPr>
          <p:cNvSpPr/>
          <p:nvPr/>
        </p:nvSpPr>
        <p:spPr>
          <a:xfrm>
            <a:off x="508774" y="4917046"/>
            <a:ext cx="8280920" cy="461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latin typeface="+mj-lt"/>
                <a:cs typeface="Calibri" pitchFamily="34" charset="0"/>
              </a:rPr>
              <a:t>- Significant difference in 2-hr GER was observed in DA-9701 group only</a:t>
            </a:r>
          </a:p>
          <a:p>
            <a:r>
              <a:rPr lang="en-US" altLang="ko-KR" sz="1200" dirty="0">
                <a:latin typeface="+mj-lt"/>
                <a:cs typeface="Calibri" pitchFamily="34" charset="0"/>
              </a:rPr>
              <a:t>- 2-hr GER; 54.5% and 61.8%, before and after treatment, respectively</a:t>
            </a:r>
            <a:endParaRPr lang="ko-KR" altLang="en-US" sz="1200" dirty="0">
              <a:latin typeface="+mj-lt"/>
              <a:cs typeface="Calibri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118F822A-4CCB-8203-83DE-2DEAD95999A3}"/>
              </a:ext>
            </a:extLst>
          </p:cNvPr>
          <p:cNvSpPr/>
          <p:nvPr/>
        </p:nvSpPr>
        <p:spPr>
          <a:xfrm>
            <a:off x="364758" y="956606"/>
            <a:ext cx="8352928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dirty="0">
                <a:latin typeface="+mj-lt"/>
                <a:cs typeface="Calibri" pitchFamily="34" charset="0"/>
              </a:rPr>
              <a:t> Gastric Emptying before and after the treatment </a:t>
            </a:r>
            <a:endParaRPr lang="ko-KR" altLang="en-US" dirty="0">
              <a:latin typeface="+mj-lt"/>
              <a:cs typeface="Calibri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0BFF9305-F9C0-C746-5CED-799FB8E0CA62}"/>
              </a:ext>
            </a:extLst>
          </p:cNvPr>
          <p:cNvSpPr/>
          <p:nvPr/>
        </p:nvSpPr>
        <p:spPr>
          <a:xfrm>
            <a:off x="508774" y="5565118"/>
            <a:ext cx="8352928" cy="5232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+mj-lt"/>
                <a:ea typeface="나눔스퀘어_ac"/>
                <a:cs typeface="Calibri" pitchFamily="34" charset="0"/>
              </a:rPr>
              <a:t>⇒  </a:t>
            </a:r>
            <a:r>
              <a:rPr lang="en-US" altLang="ko-KR" sz="1400" u="sng" dirty="0">
                <a:latin typeface="+mj-lt"/>
                <a:ea typeface="나눔스퀘어_ac"/>
                <a:cs typeface="Calibri" pitchFamily="34" charset="0"/>
              </a:rPr>
              <a:t>DA-9701 can be used for the patients with PD to enhance gastric motility without aggravating PD symptoms.</a:t>
            </a:r>
            <a:endParaRPr lang="ko-KR" altLang="en-US" sz="1400" u="sng" dirty="0">
              <a:latin typeface="+mj-lt"/>
              <a:ea typeface="나눔스퀘어_ac"/>
              <a:cs typeface="Calibri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A502FF02-19EB-9F57-5042-8846852709A6}"/>
              </a:ext>
            </a:extLst>
          </p:cNvPr>
          <p:cNvSpPr/>
          <p:nvPr/>
        </p:nvSpPr>
        <p:spPr>
          <a:xfrm>
            <a:off x="41230" y="6443641"/>
            <a:ext cx="1592103" cy="2308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/>
              <a:t>GER; Gastric emptying rate</a:t>
            </a:r>
            <a:endParaRPr lang="ko-KR" altLang="en-US" sz="9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A2D0FF37-427C-89EB-91A2-F46C7B10B717}"/>
              </a:ext>
            </a:extLst>
          </p:cNvPr>
          <p:cNvSpPr txBox="1"/>
          <p:nvPr/>
        </p:nvSpPr>
        <p:spPr>
          <a:xfrm>
            <a:off x="5278839" y="6525344"/>
            <a:ext cx="38651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prstClr val="black"/>
                </a:solidFill>
              </a:rPr>
              <a:t>Shin CM et al., Parkinsonism </a:t>
            </a:r>
            <a:r>
              <a:rPr lang="en-US" altLang="ko-KR" sz="1100" dirty="0" err="1">
                <a:solidFill>
                  <a:prstClr val="black"/>
                </a:solidFill>
              </a:rPr>
              <a:t>Relat</a:t>
            </a:r>
            <a:r>
              <a:rPr lang="en-US" altLang="ko-KR" sz="1100" dirty="0">
                <a:solidFill>
                  <a:prstClr val="black"/>
                </a:solidFill>
              </a:rPr>
              <a:t> </a:t>
            </a:r>
            <a:r>
              <a:rPr lang="en-US" altLang="ko-KR" sz="1100" dirty="0" err="1">
                <a:solidFill>
                  <a:prstClr val="black"/>
                </a:solidFill>
              </a:rPr>
              <a:t>Disord</a:t>
            </a:r>
            <a:r>
              <a:rPr lang="en-US" altLang="ko-KR" sz="1100" dirty="0">
                <a:solidFill>
                  <a:prstClr val="black"/>
                </a:solidFill>
              </a:rPr>
              <a:t>, 2018, 54;84-89</a:t>
            </a:r>
            <a:endParaRPr lang="ko-KR" altLang="en-US" sz="11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5651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1"/>
          <p:cNvSpPr/>
          <p:nvPr/>
        </p:nvSpPr>
        <p:spPr>
          <a:xfrm>
            <a:off x="-6120" y="183877"/>
            <a:ext cx="9150840" cy="612000"/>
          </a:xfrm>
          <a:prstGeom prst="homePlate">
            <a:avLst/>
          </a:prstGeom>
          <a:solidFill>
            <a:srgbClr val="002060"/>
          </a:solidFill>
          <a:ln>
            <a:noFill/>
          </a:ln>
          <a:effectLst/>
        </p:spPr>
        <p:txBody>
          <a:bodyPr lIns="91425" tIns="91425" rIns="91425" bIns="91425" anchor="ctr" anchorCtr="0">
            <a:noAutofit/>
          </a:bodyPr>
          <a:lstStyle/>
          <a:p>
            <a:r>
              <a:rPr lang="en-US" altLang="ko-KR" sz="2800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Motilitone in Parkinsonism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6650C51A-76A7-6356-E25D-6C67DE83DA2C}"/>
              </a:ext>
            </a:extLst>
          </p:cNvPr>
          <p:cNvSpPr txBox="1"/>
          <p:nvPr/>
        </p:nvSpPr>
        <p:spPr>
          <a:xfrm>
            <a:off x="461596" y="929045"/>
            <a:ext cx="78149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600" b="1" dirty="0">
                <a:solidFill>
                  <a:srgbClr val="002060"/>
                </a:solidFill>
              </a:rPr>
              <a:t> </a:t>
            </a:r>
            <a:r>
              <a:rPr lang="ko-KR" altLang="en-US" sz="1600" b="1" dirty="0">
                <a:solidFill>
                  <a:srgbClr val="002060"/>
                </a:solidFill>
              </a:rPr>
              <a:t>모티리톤 투여 후 파킨슨병 환자의 </a:t>
            </a:r>
            <a:r>
              <a:rPr lang="ko-KR" altLang="en-US" sz="1600" b="1" dirty="0" err="1">
                <a:solidFill>
                  <a:srgbClr val="002060"/>
                </a:solidFill>
              </a:rPr>
              <a:t>추체외로</a:t>
            </a:r>
            <a:r>
              <a:rPr lang="ko-KR" altLang="en-US" sz="1600" b="1" dirty="0">
                <a:solidFill>
                  <a:srgbClr val="002060"/>
                </a:solidFill>
              </a:rPr>
              <a:t> 증상악화가 발견되지 않았습니다</a:t>
            </a:r>
            <a:r>
              <a:rPr lang="en-US" altLang="ko-KR" sz="1600" b="1" dirty="0">
                <a:solidFill>
                  <a:srgbClr val="002060"/>
                </a:solidFill>
              </a:rPr>
              <a:t>. </a:t>
            </a:r>
            <a:endParaRPr lang="ko-KR" altLang="en-US" sz="1600" b="1" dirty="0">
              <a:solidFill>
                <a:srgbClr val="00206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8FD3A849-C7FA-8B80-2F70-F4E04E3C9739}"/>
              </a:ext>
            </a:extLst>
          </p:cNvPr>
          <p:cNvSpPr txBox="1"/>
          <p:nvPr/>
        </p:nvSpPr>
        <p:spPr>
          <a:xfrm>
            <a:off x="461596" y="3864081"/>
            <a:ext cx="74045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600" b="1" dirty="0">
                <a:solidFill>
                  <a:srgbClr val="002060"/>
                </a:solidFill>
              </a:rPr>
              <a:t>모티리톤 투여 후 파킨슨병 환자의 혈중 </a:t>
            </a:r>
            <a:r>
              <a:rPr lang="ko-KR" altLang="en-US" sz="1600" b="1" dirty="0" err="1">
                <a:solidFill>
                  <a:srgbClr val="002060"/>
                </a:solidFill>
              </a:rPr>
              <a:t>프로락틴</a:t>
            </a:r>
            <a:r>
              <a:rPr lang="ko-KR" altLang="en-US" sz="1600" b="1" dirty="0">
                <a:solidFill>
                  <a:srgbClr val="002060"/>
                </a:solidFill>
              </a:rPr>
              <a:t> 수치 변화가 없었습니다</a:t>
            </a:r>
            <a:r>
              <a:rPr lang="en-US" altLang="ko-KR" sz="1600" b="1" dirty="0">
                <a:solidFill>
                  <a:srgbClr val="002060"/>
                </a:solidFill>
              </a:rPr>
              <a:t>. </a:t>
            </a:r>
            <a:endParaRPr lang="ko-KR" altLang="en-US" sz="1600" b="1" dirty="0">
              <a:solidFill>
                <a:srgbClr val="002060"/>
              </a:solidFill>
            </a:endParaRPr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xmlns="" id="{4540694D-6FE7-EE7C-DC19-CE9AD03F77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9592" y="1196753"/>
            <a:ext cx="7272808" cy="24482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3">
            <a:extLst>
              <a:ext uri="{FF2B5EF4-FFF2-40B4-BE49-F238E27FC236}">
                <a16:creationId xmlns:a16="http://schemas.microsoft.com/office/drawing/2014/main" xmlns="" id="{029FD631-82BA-A6CC-822D-11BEBD956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99592" y="4149080"/>
            <a:ext cx="7272808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7BE4F1AE-7B00-65DA-5971-AB6C84C3D8B7}"/>
              </a:ext>
            </a:extLst>
          </p:cNvPr>
          <p:cNvSpPr txBox="1"/>
          <p:nvPr/>
        </p:nvSpPr>
        <p:spPr>
          <a:xfrm>
            <a:off x="5278839" y="6525344"/>
            <a:ext cx="38651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prstClr val="black"/>
                </a:solidFill>
              </a:rPr>
              <a:t>Shin CM et al., Parkinsonism </a:t>
            </a:r>
            <a:r>
              <a:rPr lang="en-US" altLang="ko-KR" sz="1100" dirty="0" err="1">
                <a:solidFill>
                  <a:prstClr val="black"/>
                </a:solidFill>
              </a:rPr>
              <a:t>Relat</a:t>
            </a:r>
            <a:r>
              <a:rPr lang="en-US" altLang="ko-KR" sz="1100" dirty="0">
                <a:solidFill>
                  <a:prstClr val="black"/>
                </a:solidFill>
              </a:rPr>
              <a:t> </a:t>
            </a:r>
            <a:r>
              <a:rPr lang="en-US" altLang="ko-KR" sz="1100" dirty="0" err="1">
                <a:solidFill>
                  <a:prstClr val="black"/>
                </a:solidFill>
              </a:rPr>
              <a:t>Disord</a:t>
            </a:r>
            <a:r>
              <a:rPr lang="en-US" altLang="ko-KR" sz="1100" dirty="0">
                <a:solidFill>
                  <a:prstClr val="black"/>
                </a:solidFill>
              </a:rPr>
              <a:t>, 2018, 54;84-89</a:t>
            </a:r>
            <a:endParaRPr lang="ko-KR" altLang="en-US" sz="11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310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테마">
  <a:themeElements>
    <a:clrScheme name="1_Office 테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_Office 테마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Office 테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</TotalTime>
  <Words>696</Words>
  <Application>Microsoft Office PowerPoint</Application>
  <PresentationFormat>화면 슬라이드 쇼(4:3)</PresentationFormat>
  <Paragraphs>84</Paragraphs>
  <Slides>11</Slides>
  <Notes>8</Notes>
  <HiddenSlides>0</HiddenSlides>
  <MMClips>0</MMClips>
  <ScaleCrop>false</ScaleCrop>
  <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11</vt:i4>
      </vt:variant>
    </vt:vector>
  </HeadingPairs>
  <TitlesOfParts>
    <vt:vector size="13" baseType="lpstr">
      <vt:lpstr>Office 테마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우울증: 2013년 진단 기준의 변화를 중심으로</dc:title>
  <dc:creator>user</dc:creator>
  <cp:lastModifiedBy>ildong</cp:lastModifiedBy>
  <cp:revision>60</cp:revision>
  <dcterms:created xsi:type="dcterms:W3CDTF">2015-03-21T01:07:40Z</dcterms:created>
  <dcterms:modified xsi:type="dcterms:W3CDTF">2023-02-08T02:54:43Z</dcterms:modified>
</cp:coreProperties>
</file>