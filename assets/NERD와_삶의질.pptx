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7F8"/>
    <a:srgbClr val="16324A"/>
    <a:srgbClr val="E8E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43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6263640" cy="6309360"/>
          </a:xfrm>
          <a:prstGeom prst="rect">
            <a:avLst/>
          </a:prstGeom>
          <a:solidFill>
            <a:srgbClr val="E8ED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263641" y="0"/>
            <a:ext cx="4544586" cy="6309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GERD는 단순한 위산 역류가 아닙니다:
</a:t>
            </a:r>
            <a:r>
              <a:rPr lang="en-US" sz="2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않는 고통(NERD)이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환자의 일상을 파괴합니다.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173687" y="2377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NERD </a:t>
            </a:r>
            <a:r>
              <a:rPr lang="en-US" sz="20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환자의</a:t>
            </a:r>
            <a:r>
              <a:rPr lang="en-US" sz="2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0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삶의</a:t>
            </a:r>
            <a:r>
              <a:rPr lang="en-US" sz="2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질 훼손 지수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56567" y="713232"/>
            <a:ext cx="164592" cy="164592"/>
          </a:xfrm>
          <a:prstGeom prst="rect">
            <a:avLst/>
          </a:prstGeom>
          <a:solidFill>
            <a:srgbClr val="D1D4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566879" y="658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대조군(Control)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2487" y="713232"/>
            <a:ext cx="164592" cy="164592"/>
          </a:xfrm>
          <a:prstGeom prst="rect">
            <a:avLst/>
          </a:prstGeom>
          <a:solidFill>
            <a:srgbClr val="5A6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212799" y="6583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34007" y="713232"/>
            <a:ext cx="164592" cy="164592"/>
          </a:xfrm>
          <a:prstGeom prst="rect">
            <a:avLst/>
          </a:prstGeom>
          <a:solidFill>
            <a:srgbClr val="F055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287075" y="35272"/>
            <a:ext cx="10173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내부교육용</a:t>
            </a:r>
            <a:r>
              <a:rPr lang="en-US" altLang="ko-KR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5087" y="1408613"/>
            <a:ext cx="530352" cy="530352"/>
          </a:xfrm>
          <a:prstGeom prst="ellipse">
            <a:avLst/>
          </a:prstGeom>
          <a:solidFill>
            <a:srgbClr val="3A475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 descr="/home/claude/icon_sl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103" y="1527485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625047" y="1938965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장애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(PSQI Score)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05207" y="1408613"/>
            <a:ext cx="1808553" cy="182880"/>
          </a:xfrm>
          <a:prstGeom prst="rect">
            <a:avLst/>
          </a:prstGeom>
          <a:solidFill>
            <a:srgbClr val="D1D4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9759480" y="1381181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3.9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905207" y="1646357"/>
            <a:ext cx="2411403" cy="182880"/>
          </a:xfrm>
          <a:prstGeom prst="rect">
            <a:avLst/>
          </a:prstGeom>
          <a:solidFill>
            <a:srgbClr val="5A6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10362330" y="1618925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905207" y="1884101"/>
            <a:ext cx="2643269" cy="182880"/>
          </a:xfrm>
          <a:prstGeom prst="rect">
            <a:avLst/>
          </a:prstGeom>
          <a:solidFill>
            <a:srgbClr val="F055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10594196" y="185666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5.7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905207" y="2103557"/>
            <a:ext cx="3890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수면의 질 뚜렷한 저하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945087" y="2963093"/>
            <a:ext cx="530352" cy="530352"/>
          </a:xfrm>
          <a:prstGeom prst="ellipse">
            <a:avLst/>
          </a:prstGeom>
          <a:solidFill>
            <a:srgbClr val="3A475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" descr="/home/claude/icon_anxie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103" y="3081965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625046" y="3493445"/>
            <a:ext cx="115170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 상태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(HADS Anxiety Score)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7905207" y="2963093"/>
            <a:ext cx="1744789" cy="182880"/>
          </a:xfrm>
          <a:prstGeom prst="rect">
            <a:avLst/>
          </a:prstGeom>
          <a:solidFill>
            <a:srgbClr val="D1D4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/>
          <p:nvPr/>
        </p:nvSpPr>
        <p:spPr>
          <a:xfrm>
            <a:off x="9695717" y="2935661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7905207" y="3200837"/>
            <a:ext cx="2556320" cy="182880"/>
          </a:xfrm>
          <a:prstGeom prst="rect">
            <a:avLst/>
          </a:prstGeom>
          <a:solidFill>
            <a:srgbClr val="5A6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10507247" y="3173405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7905207" y="3438581"/>
            <a:ext cx="2840355" cy="182880"/>
          </a:xfrm>
          <a:prstGeom prst="rect">
            <a:avLst/>
          </a:prstGeom>
          <a:solidFill>
            <a:srgbClr val="F055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9"/>
          <p:cNvSpPr/>
          <p:nvPr/>
        </p:nvSpPr>
        <p:spPr>
          <a:xfrm>
            <a:off x="10791282" y="341114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7905207" y="3658037"/>
            <a:ext cx="3890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질환 임계점(Cut-off 7)에 도달한 심각한 불안감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945087" y="4517573"/>
            <a:ext cx="530352" cy="530352"/>
          </a:xfrm>
          <a:prstGeom prst="ellipse">
            <a:avLst/>
          </a:prstGeom>
          <a:solidFill>
            <a:srgbClr val="3A475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2" descr="/home/claude/icon_q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3103" y="4636445"/>
            <a:ext cx="274320" cy="27432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625047" y="5047925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 삶의 질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(WHOQOL-BREF Total)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7905207" y="4517573"/>
            <a:ext cx="2958607" cy="182880"/>
          </a:xfrm>
          <a:prstGeom prst="rect">
            <a:avLst/>
          </a:prstGeom>
          <a:solidFill>
            <a:srgbClr val="D1D4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/>
          <p:nvPr/>
        </p:nvSpPr>
        <p:spPr>
          <a:xfrm>
            <a:off x="10909534" y="4490141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63.8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7905207" y="4755317"/>
            <a:ext cx="2661818" cy="182880"/>
          </a:xfrm>
          <a:prstGeom prst="rect">
            <a:avLst/>
          </a:prstGeom>
          <a:solidFill>
            <a:srgbClr val="5A6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/>
          <p:nvPr/>
        </p:nvSpPr>
        <p:spPr>
          <a:xfrm>
            <a:off x="10612745" y="4727885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57.8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7905207" y="4993061"/>
            <a:ext cx="2545886" cy="182880"/>
          </a:xfrm>
          <a:prstGeom prst="rect">
            <a:avLst/>
          </a:prstGeom>
          <a:solidFill>
            <a:srgbClr val="F055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/>
          <p:nvPr/>
        </p:nvSpPr>
        <p:spPr>
          <a:xfrm>
            <a:off x="10496813" y="4965629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54.9</a:t>
            </a:r>
            <a:endParaRPr lang="en-US" sz="1050" dirty="0"/>
          </a:p>
        </p:txBody>
      </p:sp>
      <p:sp>
        <p:nvSpPr>
          <p:cNvPr id="56" name="Text 51"/>
          <p:cNvSpPr/>
          <p:nvPr/>
        </p:nvSpPr>
        <p:spPr>
          <a:xfrm>
            <a:off x="7905207" y="5212517"/>
            <a:ext cx="38905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신체적/심리적 건강 상태의 극감 (점수가 낮을수록 악화)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365760" y="6309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환자들은 내시경 소견과 무관하게, 야간 수면부터 낮 동안의 감정 상태까지 일상생활 전반에서 고통받고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있습니다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5E595C7D-CBC6-7A25-5662-40EE55D92B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81" t="2417" r="46072" b="9420"/>
          <a:stretch>
            <a:fillRect/>
          </a:stretch>
        </p:blipFill>
        <p:spPr>
          <a:xfrm>
            <a:off x="-64443" y="35272"/>
            <a:ext cx="6328084" cy="5677988"/>
          </a:xfrm>
          <a:prstGeom prst="rect">
            <a:avLst/>
          </a:prstGeom>
        </p:spPr>
      </p:pic>
      <p:sp>
        <p:nvSpPr>
          <p:cNvPr id="15" name="Shape 13"/>
          <p:cNvSpPr/>
          <p:nvPr/>
        </p:nvSpPr>
        <p:spPr>
          <a:xfrm>
            <a:off x="3163587" y="3844944"/>
            <a:ext cx="2670286" cy="1106642"/>
          </a:xfrm>
          <a:prstGeom prst="roundRect">
            <a:avLst>
              <a:gd name="adj" fmla="val 5161"/>
            </a:avLst>
          </a:prstGeom>
          <a:solidFill>
            <a:srgbClr val="2C35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57978" y="39284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흉통(Chest Pain) 호소 비율:
</a:t>
            </a:r>
            <a:r>
              <a:rPr lang="en-US" sz="1200" b="1" dirty="0">
                <a:solidFill>
                  <a:srgbClr val="FF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NERD 87.0%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ERD 57.4%</a:t>
            </a: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일상생활 지장도(GIS Impact Score):
</a:t>
            </a:r>
            <a:r>
              <a:rPr lang="en-US" sz="1200" b="1" dirty="0">
                <a:solidFill>
                  <a:srgbClr val="FF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NERD 9.2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ERD 6.5</a:t>
            </a:r>
            <a:endParaRPr lang="en-US" sz="11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D043EFB9-5DAA-3942-F801-8914E56609F7}"/>
              </a:ext>
            </a:extLst>
          </p:cNvPr>
          <p:cNvSpPr/>
          <p:nvPr/>
        </p:nvSpPr>
        <p:spPr>
          <a:xfrm>
            <a:off x="31151" y="0"/>
            <a:ext cx="6232490" cy="1810512"/>
          </a:xfrm>
          <a:prstGeom prst="rect">
            <a:avLst/>
          </a:prstGeom>
          <a:solidFill>
            <a:srgbClr val="F3F7F8"/>
          </a:solidFill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  <a:r>
              <a:rPr lang="en-US" sz="200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GERD는</a:t>
            </a:r>
            <a:r>
              <a:rPr lang="en-US" sz="20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</a:t>
            </a:r>
            <a:r>
              <a:rPr lang="ko-KR" altLang="en-US" sz="20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 </a:t>
            </a:r>
            <a:r>
              <a:rPr lang="ko-KR" altLang="en-US" sz="200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위산역류에서</a:t>
            </a:r>
            <a:r>
              <a:rPr lang="ko-KR" altLang="en-US" sz="20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그치지 않습니다</a:t>
            </a:r>
            <a:r>
              <a:rPr lang="en-US" altLang="ko-KR" sz="20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en-US" sz="20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    </a:t>
            </a:r>
            <a:r>
              <a:rPr lang="en-US" sz="28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보이지</a:t>
            </a:r>
            <a:r>
              <a:rPr lang="en-US" sz="2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않는 고통(NERD)이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sz="28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환자의</a:t>
            </a:r>
            <a:r>
              <a:rPr lang="en-US" sz="2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8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일상을</a:t>
            </a:r>
            <a:r>
              <a:rPr lang="en-US" sz="2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파괴할 수 있습니다</a:t>
            </a:r>
            <a:r>
              <a:rPr lang="en-US" altLang="ko-KR" sz="2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18872"/>
            <a:ext cx="12191695" cy="6309360"/>
          </a:xfrm>
          <a:prstGeom prst="rect">
            <a:avLst/>
          </a:prstGeom>
          <a:solidFill>
            <a:srgbClr val="F2F6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 err="1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과민성과</a:t>
            </a:r>
            <a:r>
              <a:rPr lang="en-US" sz="2000" dirty="0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dirty="0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심리적요인으로 인한 각 증상의 </a:t>
            </a:r>
            <a:r>
              <a:rPr lang="en-US" sz="2000" dirty="0" err="1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악순환</a:t>
            </a:r>
            <a:r>
              <a:rPr lang="en-US" sz="2000" dirty="0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
</a:t>
            </a:r>
            <a:r>
              <a:rPr lang="en-US" sz="2800" b="1" dirty="0">
                <a:solidFill>
                  <a:srgbClr val="1B9B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</a:t>
            </a:r>
            <a:r>
              <a:rPr lang="en-US" sz="2800" b="1" dirty="0" err="1">
                <a:solidFill>
                  <a:srgbClr val="1B9B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모티리톤</a:t>
            </a:r>
            <a:r>
              <a:rPr lang="en-US" altLang="ko-KR" sz="2800" b="1" dirty="0">
                <a:solidFill>
                  <a:srgbClr val="1B9B9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sz="2800" b="1" dirty="0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개선 할 수 있습니다</a:t>
            </a:r>
            <a:r>
              <a:rPr lang="en-US" altLang="ko-KR" sz="2800" b="1" dirty="0">
                <a:solidFill>
                  <a:srgbClr val="16324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2800" dirty="0">
              <a:solidFill>
                <a:srgbClr val="16324A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172200" y="1298448"/>
            <a:ext cx="0" cy="4800600"/>
          </a:xfrm>
          <a:prstGeom prst="line">
            <a:avLst/>
          </a:prstGeom>
          <a:noFill/>
          <a:ln w="12700">
            <a:solidFill>
              <a:srgbClr val="CBD5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39496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01633" y="2061753"/>
            <a:ext cx="3923213" cy="3923213"/>
          </a:xfrm>
          <a:prstGeom prst="donut">
            <a:avLst/>
          </a:prstGeom>
          <a:solidFill>
            <a:srgbClr val="F055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936396" y="3565888"/>
            <a:ext cx="224713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 억제(PPI)만으로는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끊을 수 없는 식도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0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과민성과 심리적 요인의 결합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1298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Motilitone?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1645920"/>
            <a:ext cx="5394960" cy="0"/>
          </a:xfrm>
          <a:prstGeom prst="line">
            <a:avLst/>
          </a:prstGeom>
          <a:noFill/>
          <a:ln w="12700">
            <a:solidFill>
              <a:srgbClr val="D8DE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46520" y="1828800"/>
            <a:ext cx="868680" cy="868680"/>
          </a:xfrm>
          <a:prstGeom prst="rect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/home/claude/icon_multi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29968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0" y="1810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</a:t>
            </a:r>
            <a:r>
              <a:rPr lang="en-US" sz="1300" b="1" dirty="0">
                <a:solidFill>
                  <a:srgbClr val="16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작용 기전 (Multi-action)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98080" y="21488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위산 억제를 넘어 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위장관 운동(Motility)을 직접 </a:t>
            </a: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촉진하여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근본적인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배출 </a:t>
            </a: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46520" y="2926080"/>
            <a:ext cx="5394960" cy="0"/>
          </a:xfrm>
          <a:prstGeom prst="line">
            <a:avLst/>
          </a:prstGeom>
          <a:noFill/>
          <a:ln w="12700">
            <a:solidFill>
              <a:srgbClr val="E4E9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446520" y="3108960"/>
            <a:ext cx="868680" cy="868680"/>
          </a:xfrm>
          <a:prstGeom prst="rect">
            <a:avLst/>
          </a:prstGeom>
          <a:solidFill>
            <a:srgbClr val="155A6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/home/claude/icon_hyper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310128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98080" y="3090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</a:t>
            </a:r>
            <a:r>
              <a:rPr lang="en-US" sz="1300" b="1" dirty="0">
                <a:solidFill>
                  <a:srgbClr val="16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과민성(Visceral Hypersensitivity) 완화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498080" y="34290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 위장관 조절을 통해 환자가 </a:t>
            </a:r>
            <a:r>
              <a:rPr lang="en-US" sz="105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체감하는</a:t>
            </a: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가슴쓰림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흉통 등 지각 이상 </a:t>
            </a: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46520" y="4206240"/>
            <a:ext cx="5394960" cy="0"/>
          </a:xfrm>
          <a:prstGeom prst="line">
            <a:avLst/>
          </a:prstGeom>
          <a:noFill/>
          <a:ln w="12700">
            <a:solidFill>
              <a:srgbClr val="E4E9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6446520" y="4389120"/>
            <a:ext cx="868680" cy="868680"/>
          </a:xfrm>
          <a:prstGeom prst="rect">
            <a:avLst/>
          </a:prstGeom>
          <a:solidFill>
            <a:srgbClr val="1B9B9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/home/claude/icon_sunr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590288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498080" y="4370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</a:t>
            </a:r>
            <a:r>
              <a:rPr lang="en-US" sz="1300" b="1" dirty="0">
                <a:solidFill>
                  <a:srgbClr val="16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삶의 질 온전한 회복 (QoL)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498080" y="47091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악순환을 차단하여 수면의 질을 높이고 불안감을 </a:t>
            </a:r>
            <a:r>
              <a:rPr lang="en-US" sz="105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낮춰</a:t>
            </a: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진정한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삶의 질 </a:t>
            </a: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회복</a:t>
            </a:r>
            <a:r>
              <a:rPr lang="en-US" sz="1050" b="1" dirty="0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1B9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365760" y="630936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식도 점막의 치료를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GERD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환자의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6FD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삶의</a:t>
            </a:r>
            <a:r>
              <a:rPr lang="en-US" sz="1300" b="1" dirty="0">
                <a:solidFill>
                  <a:srgbClr val="6FD6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모티리톤으로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개선할 수 있습니다</a:t>
            </a:r>
            <a:endParaRPr lang="en-US" sz="1300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B8F2940D-05FA-6A2E-B68B-D32771885316}"/>
              </a:ext>
            </a:extLst>
          </p:cNvPr>
          <p:cNvSpPr/>
          <p:nvPr/>
        </p:nvSpPr>
        <p:spPr>
          <a:xfrm>
            <a:off x="11287075" y="35272"/>
            <a:ext cx="10173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내부교육용</a:t>
            </a:r>
            <a:r>
              <a:rPr lang="en-US" altLang="ko-KR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endParaRPr lang="en-US" sz="1050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C7625BA-D309-01D5-DD47-FCD523B275C9}"/>
              </a:ext>
            </a:extLst>
          </p:cNvPr>
          <p:cNvSpPr/>
          <p:nvPr/>
        </p:nvSpPr>
        <p:spPr>
          <a:xfrm>
            <a:off x="1539112" y="2489324"/>
            <a:ext cx="3068072" cy="306807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Shape 7"/>
          <p:cNvSpPr/>
          <p:nvPr/>
        </p:nvSpPr>
        <p:spPr>
          <a:xfrm>
            <a:off x="2194560" y="1727564"/>
            <a:ext cx="1737360" cy="866394"/>
          </a:xfrm>
          <a:prstGeom prst="roundRect">
            <a:avLst>
              <a:gd name="adj" fmla="val 11765"/>
            </a:avLst>
          </a:prstGeom>
          <a:solidFill>
            <a:srgbClr val="F055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0" y="184736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GERD/NERD 증상 발생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(위산 역류 및 흉통)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3326" y="3536660"/>
            <a:ext cx="1737360" cy="866394"/>
          </a:xfrm>
          <a:prstGeom prst="roundRect">
            <a:avLst>
              <a:gd name="adj" fmla="val 11765"/>
            </a:avLst>
          </a:prstGeom>
          <a:solidFill>
            <a:srgbClr val="F055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39046" y="3658961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장애 및 불안 유발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(PSQI, HADS 수치 증가)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5257800"/>
            <a:ext cx="1737360" cy="866394"/>
          </a:xfrm>
          <a:prstGeom prst="roundRect">
            <a:avLst>
              <a:gd name="adj" fmla="val 11765"/>
            </a:avLst>
          </a:prstGeom>
          <a:solidFill>
            <a:srgbClr val="F055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13992" y="5389245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식도 과민성 증폭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(역치 감소 및 지각 이상)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173" y="3544443"/>
            <a:ext cx="1737360" cy="866394"/>
          </a:xfrm>
          <a:prstGeom prst="roundRect">
            <a:avLst>
              <a:gd name="adj" fmla="val 11765"/>
            </a:avLst>
          </a:prstGeom>
          <a:solidFill>
            <a:srgbClr val="F055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99380" y="3677031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위장관 운동 저하 및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재악화</a:t>
            </a:r>
            <a:endParaRPr lang="en-US" sz="1000" dirty="0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5DBB3F35-D66F-661E-7DAC-8C1DBC07ACC8}"/>
              </a:ext>
            </a:extLst>
          </p:cNvPr>
          <p:cNvSpPr/>
          <p:nvPr/>
        </p:nvSpPr>
        <p:spPr>
          <a:xfrm rot="2916524">
            <a:off x="4116951" y="2873716"/>
            <a:ext cx="289560" cy="34747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9D3D3AF9-BA04-9B9C-7C86-4EFFE8155A77}"/>
              </a:ext>
            </a:extLst>
          </p:cNvPr>
          <p:cNvSpPr/>
          <p:nvPr/>
        </p:nvSpPr>
        <p:spPr>
          <a:xfrm rot="18683476" flipH="1">
            <a:off x="4116952" y="4860575"/>
            <a:ext cx="289560" cy="34747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42CA0A5B-7AB5-0C56-6C54-1DEC2895C586}"/>
              </a:ext>
            </a:extLst>
          </p:cNvPr>
          <p:cNvSpPr/>
          <p:nvPr/>
        </p:nvSpPr>
        <p:spPr>
          <a:xfrm rot="2916524" flipH="1" flipV="1">
            <a:off x="1798321" y="4860575"/>
            <a:ext cx="289560" cy="34747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A404FA91-F2AF-CA33-0B92-17A6FA2AFA3C}"/>
              </a:ext>
            </a:extLst>
          </p:cNvPr>
          <p:cNvSpPr/>
          <p:nvPr/>
        </p:nvSpPr>
        <p:spPr>
          <a:xfrm rot="18683476" flipV="1">
            <a:off x="1798322" y="2825431"/>
            <a:ext cx="289560" cy="347472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316</Words>
  <Application>Microsoft Office PowerPoint</Application>
  <PresentationFormat>와이드스크린</PresentationFormat>
  <Paragraphs>55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Malgun Gothic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유요한</cp:lastModifiedBy>
  <cp:revision>5</cp:revision>
  <dcterms:created xsi:type="dcterms:W3CDTF">2026-08-11T05:22:09Z</dcterms:created>
  <dcterms:modified xsi:type="dcterms:W3CDTF">2026-08-11T08:25:57Z</dcterms:modified>
</cp:coreProperties>
</file>