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8" r:id="rId3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2846"/>
    <a:srgbClr val="D8E8F5"/>
    <a:srgbClr val="F4620A"/>
    <a:srgbClr val="2175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9" d="100"/>
          <a:sy n="59" d="100"/>
        </p:scale>
        <p:origin x="840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4C45459-F602-43B2-12E8-B96001F69A63}"/>
              </a:ext>
            </a:extLst>
          </p:cNvPr>
          <p:cNvSpPr txBox="1"/>
          <p:nvPr/>
        </p:nvSpPr>
        <p:spPr>
          <a:xfrm>
            <a:off x="355600" y="133014"/>
            <a:ext cx="15817129" cy="10976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dirty="0"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(JNM 2026 </a:t>
            </a:r>
            <a:r>
              <a:rPr lang="ko-KR" altLang="en-US" sz="2800" dirty="0"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최신 연구</a:t>
            </a:r>
            <a:r>
              <a:rPr lang="en-US" altLang="ko-KR" sz="2800" dirty="0"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) </a:t>
            </a:r>
          </a:p>
          <a:p>
            <a:pPr algn="ctr"/>
            <a:r>
              <a:rPr lang="en-US" altLang="ko-KR" sz="3733" dirty="0"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POTS </a:t>
            </a:r>
            <a:r>
              <a:rPr lang="ko-KR" altLang="en-US" sz="3733" dirty="0"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환자는 다양한 위장관 증상을 유발합니다</a:t>
            </a:r>
            <a:r>
              <a:rPr lang="en-US" altLang="ko-KR" sz="3733" dirty="0"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D68914-79A7-101D-042F-9740AB445B2F}"/>
              </a:ext>
            </a:extLst>
          </p:cNvPr>
          <p:cNvSpPr txBox="1"/>
          <p:nvPr/>
        </p:nvSpPr>
        <p:spPr>
          <a:xfrm>
            <a:off x="14967665" y="29727"/>
            <a:ext cx="1128835" cy="3181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67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[</a:t>
            </a:r>
            <a:r>
              <a:rPr lang="ko-KR" altLang="en-US" sz="1467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내부교육용</a:t>
            </a:r>
            <a:r>
              <a:rPr lang="en-US" altLang="ko-KR" sz="1467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]</a:t>
            </a:r>
            <a:endParaRPr lang="ko-KR" altLang="en-US" sz="1467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BA1B32-B0FB-589A-F1A8-946FF8F2E418}"/>
              </a:ext>
            </a:extLst>
          </p:cNvPr>
          <p:cNvSpPr txBox="1"/>
          <p:nvPr/>
        </p:nvSpPr>
        <p:spPr>
          <a:xfrm>
            <a:off x="10653613" y="8664942"/>
            <a:ext cx="5099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altLang="ko-KR" dirty="0"/>
              <a:t>J Neurogastroenterol Motil 2026 April 32(2):228-236</a:t>
            </a:r>
            <a:endParaRPr lang="ko-KR" altLang="en-US" sz="1467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590525A-243A-D959-C231-8BF0E71DF7E8}"/>
              </a:ext>
            </a:extLst>
          </p:cNvPr>
          <p:cNvSpPr txBox="1"/>
          <p:nvPr/>
        </p:nvSpPr>
        <p:spPr>
          <a:xfrm>
            <a:off x="4044429" y="1281619"/>
            <a:ext cx="99309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*POTS</a:t>
            </a:r>
            <a:r>
              <a:rPr lang="ko-KR" altLang="en-US" sz="2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2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Postural Tachycardia Syndrome (</a:t>
            </a:r>
            <a:r>
              <a:rPr lang="ko-KR" altLang="en-US" sz="2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기립성 </a:t>
            </a:r>
            <a:r>
              <a:rPr lang="ko-KR" altLang="en-US" sz="24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빈맥</a:t>
            </a:r>
            <a:r>
              <a:rPr lang="ko-KR" altLang="en-US" sz="2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증후군</a:t>
            </a:r>
            <a:r>
              <a:rPr lang="en-US" altLang="ko-KR" sz="2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  <a:endParaRPr lang="ko-KR" altLang="en-US" sz="2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15" name="Picture 2">
            <a:extLst>
              <a:ext uri="{FF2B5EF4-FFF2-40B4-BE49-F238E27FC236}">
                <a16:creationId xmlns:a16="http://schemas.microsoft.com/office/drawing/2014/main" id="{BD987834-6703-BC1F-6BC0-CEE013A60C0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380" t="20589" b="11931"/>
          <a:stretch>
            <a:fillRect/>
          </a:stretch>
        </p:blipFill>
        <p:spPr>
          <a:xfrm>
            <a:off x="8051800" y="2134207"/>
            <a:ext cx="7480282" cy="5791200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9BF706E8-40B5-6D01-4C17-436FB38F891E}"/>
              </a:ext>
            </a:extLst>
          </p:cNvPr>
          <p:cNvSpPr/>
          <p:nvPr/>
        </p:nvSpPr>
        <p:spPr>
          <a:xfrm>
            <a:off x="8128000" y="2133600"/>
            <a:ext cx="6839665" cy="5574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모티리톤의</a:t>
            </a:r>
            <a:r>
              <a:rPr lang="ko-KR" altLang="en-US" sz="2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2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Triple</a:t>
            </a:r>
            <a:r>
              <a:rPr lang="ko-KR" altLang="en-US" sz="2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2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Action</a:t>
            </a:r>
            <a:endParaRPr lang="ko-KR" altLang="en-US" sz="2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9E603ED-691F-3635-62A0-B0EA55C21F89}"/>
              </a:ext>
            </a:extLst>
          </p:cNvPr>
          <p:cNvSpPr/>
          <p:nvPr/>
        </p:nvSpPr>
        <p:spPr>
          <a:xfrm>
            <a:off x="8200406" y="5827755"/>
            <a:ext cx="4114800" cy="9540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위배출지연 및 </a:t>
            </a:r>
            <a:r>
              <a:rPr lang="ko-KR" altLang="en-US" dirty="0" err="1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위순응장애</a:t>
            </a:r>
            <a:r>
              <a:rPr lang="ko-KR" altLang="en-US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개선 </a:t>
            </a:r>
            <a:endParaRPr lang="en-US" altLang="ko-KR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en-US" altLang="ko-KR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Wingdings" panose="05000000000000000000" pitchFamily="2" charset="2"/>
              </a:rPr>
              <a:t></a:t>
            </a:r>
            <a:r>
              <a:rPr lang="en-US" altLang="ko-KR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dirty="0">
                <a:solidFill>
                  <a:srgbClr val="2175A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팽만감 및 소화불량 감소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056D83FC-A4FF-7762-4DB2-B421447DDC64}"/>
              </a:ext>
            </a:extLst>
          </p:cNvPr>
          <p:cNvSpPr/>
          <p:nvPr/>
        </p:nvSpPr>
        <p:spPr>
          <a:xfrm>
            <a:off x="12391406" y="5690577"/>
            <a:ext cx="2518394" cy="10912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위대장과민</a:t>
            </a:r>
            <a:r>
              <a:rPr lang="ko-KR" altLang="en-US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개선</a:t>
            </a:r>
            <a:endParaRPr lang="en-US" altLang="ko-KR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자율신경계 불균형 완화</a:t>
            </a:r>
            <a:endParaRPr lang="en-US" altLang="ko-KR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en-US" altLang="ko-KR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Wingdings" panose="05000000000000000000" pitchFamily="2" charset="2"/>
              </a:rPr>
              <a:t></a:t>
            </a:r>
            <a:r>
              <a:rPr lang="en-US" altLang="ko-KR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dirty="0" err="1">
                <a:solidFill>
                  <a:srgbClr val="F4620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상복부</a:t>
            </a:r>
            <a:r>
              <a:rPr lang="ko-KR" altLang="en-US" dirty="0">
                <a:solidFill>
                  <a:srgbClr val="F4620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통증 완화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3B9C2DB6-DFB4-4311-E10E-5527CB044BBB}"/>
              </a:ext>
            </a:extLst>
          </p:cNvPr>
          <p:cNvSpPr/>
          <p:nvPr/>
        </p:nvSpPr>
        <p:spPr>
          <a:xfrm>
            <a:off x="8177113" y="7341129"/>
            <a:ext cx="5410200" cy="954045"/>
          </a:xfrm>
          <a:prstGeom prst="roundRect">
            <a:avLst/>
          </a:prstGeom>
          <a:solidFill>
            <a:srgbClr val="D8E8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4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      </a:t>
            </a:r>
            <a:r>
              <a:rPr lang="ko-KR" altLang="en-US" sz="2400" b="1" dirty="0" err="1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모티리톤</a:t>
            </a:r>
            <a:r>
              <a:rPr lang="ko-KR" altLang="en-US" sz="24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 </a:t>
            </a:r>
            <a:r>
              <a:rPr lang="en-US" altLang="ko-KR" sz="24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Wingdings" panose="05000000000000000000" pitchFamily="2" charset="2"/>
              </a:rPr>
              <a:t></a:t>
            </a:r>
            <a:endParaRPr lang="ko-KR" altLang="en-US" sz="2400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FF832863-08DF-4999-8BD5-92D738C3A7B5}"/>
              </a:ext>
            </a:extLst>
          </p:cNvPr>
          <p:cNvSpPr/>
          <p:nvPr/>
        </p:nvSpPr>
        <p:spPr>
          <a:xfrm>
            <a:off x="10566400" y="7341129"/>
            <a:ext cx="4965682" cy="954045"/>
          </a:xfrm>
          <a:prstGeom prst="roundRect">
            <a:avLst/>
          </a:prstGeom>
          <a:solidFill>
            <a:srgbClr val="D8E8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1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Wingdings" panose="05000000000000000000" pitchFamily="2" charset="2"/>
              </a:rPr>
              <a:t>복부팽만감</a:t>
            </a:r>
            <a:r>
              <a:rPr lang="en-US" altLang="ko-KR" b="1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Wingdings" panose="05000000000000000000" pitchFamily="2" charset="2"/>
              </a:rPr>
              <a:t>, </a:t>
            </a:r>
            <a:r>
              <a:rPr lang="ko-KR" altLang="en-US" b="1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Wingdings" panose="05000000000000000000" pitchFamily="2" charset="2"/>
              </a:rPr>
              <a:t>소화불량</a:t>
            </a:r>
            <a:r>
              <a:rPr lang="en-US" altLang="ko-KR" b="1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Wingdings" panose="05000000000000000000" pitchFamily="2" charset="2"/>
              </a:rPr>
              <a:t>, </a:t>
            </a:r>
            <a:r>
              <a:rPr lang="ko-KR" altLang="en-US" b="1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Wingdings" panose="05000000000000000000" pitchFamily="2" charset="2"/>
              </a:rPr>
              <a:t>상복부통증</a:t>
            </a:r>
            <a:r>
              <a:rPr lang="ko-KR" altLang="en-US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Wingdings" panose="05000000000000000000" pitchFamily="2" charset="2"/>
              </a:rPr>
              <a:t> 개선 뿐 아니라</a:t>
            </a:r>
            <a:endParaRPr lang="en-US" altLang="ko-KR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Wingdings" panose="05000000000000000000" pitchFamily="2" charset="2"/>
            </a:endParaRPr>
          </a:p>
          <a:p>
            <a:r>
              <a:rPr lang="ko-KR" altLang="en-US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Wingdings" panose="05000000000000000000" pitchFamily="2" charset="2"/>
              </a:rPr>
              <a:t>편두통 임상을 통해 </a:t>
            </a:r>
            <a:r>
              <a:rPr lang="ko-KR" altLang="en-US" b="1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Wingdings" panose="05000000000000000000" pitchFamily="2" charset="2"/>
              </a:rPr>
              <a:t>오심</a:t>
            </a:r>
            <a:r>
              <a:rPr lang="en-US" altLang="ko-KR" b="1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Wingdings" panose="05000000000000000000" pitchFamily="2" charset="2"/>
              </a:rPr>
              <a:t>,</a:t>
            </a:r>
            <a:r>
              <a:rPr lang="ko-KR" altLang="en-US" b="1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Wingdings" panose="05000000000000000000" pitchFamily="2" charset="2"/>
              </a:rPr>
              <a:t> 구토 </a:t>
            </a:r>
            <a:r>
              <a:rPr lang="ko-KR" altLang="en-US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Wingdings" panose="05000000000000000000" pitchFamily="2" charset="2"/>
              </a:rPr>
              <a:t>개선도 입증</a:t>
            </a:r>
            <a:endParaRPr lang="en-US" altLang="ko-KR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28" name="Picture 2">
            <a:extLst>
              <a:ext uri="{FF2B5EF4-FFF2-40B4-BE49-F238E27FC236}">
                <a16:creationId xmlns:a16="http://schemas.microsoft.com/office/drawing/2014/main" id="{327D164D-FFDC-C8D8-69D6-2BE9EF5E8B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0589" r="51074" b="11931"/>
          <a:stretch>
            <a:fillRect/>
          </a:stretch>
        </p:blipFill>
        <p:spPr>
          <a:xfrm>
            <a:off x="50800" y="2133600"/>
            <a:ext cx="7527324" cy="5791200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54201191-B181-88FC-89C6-B9414BDE5337}"/>
              </a:ext>
            </a:extLst>
          </p:cNvPr>
          <p:cNvSpPr/>
          <p:nvPr/>
        </p:nvSpPr>
        <p:spPr>
          <a:xfrm>
            <a:off x="584200" y="2109558"/>
            <a:ext cx="7086600" cy="5574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POTS </a:t>
            </a:r>
            <a:r>
              <a:rPr lang="ko-KR" altLang="en-US" sz="2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환자의 위장관 증상</a:t>
            </a:r>
          </a:p>
        </p:txBody>
      </p: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E1F68E52-2860-79BB-1A66-F606A1E4C23F}"/>
              </a:ext>
            </a:extLst>
          </p:cNvPr>
          <p:cNvCxnSpPr/>
          <p:nvPr/>
        </p:nvCxnSpPr>
        <p:spPr>
          <a:xfrm flipV="1">
            <a:off x="7899400" y="1981200"/>
            <a:ext cx="0" cy="6858000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65B93BED-E771-1E41-6827-8CC767AFE8FA}"/>
              </a:ext>
            </a:extLst>
          </p:cNvPr>
          <p:cNvSpPr/>
          <p:nvPr/>
        </p:nvSpPr>
        <p:spPr>
          <a:xfrm>
            <a:off x="9152509" y="4530725"/>
            <a:ext cx="609600" cy="5486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2000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978FDA5A-6F4A-9B32-2568-BF1F4796DF71}"/>
              </a:ext>
            </a:extLst>
          </p:cNvPr>
          <p:cNvSpPr/>
          <p:nvPr/>
        </p:nvSpPr>
        <p:spPr>
          <a:xfrm>
            <a:off x="9067529" y="4700686"/>
            <a:ext cx="204216" cy="4094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2000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2C6002C6-76A3-2492-8BB8-C53896B781F3}"/>
              </a:ext>
            </a:extLst>
          </p:cNvPr>
          <p:cNvSpPr/>
          <p:nvPr/>
        </p:nvSpPr>
        <p:spPr>
          <a:xfrm>
            <a:off x="9649619" y="4707829"/>
            <a:ext cx="204216" cy="4094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2000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46ED47DD-5732-4ACF-36A9-B7E676AAF198}"/>
              </a:ext>
            </a:extLst>
          </p:cNvPr>
          <p:cNvSpPr/>
          <p:nvPr/>
        </p:nvSpPr>
        <p:spPr>
          <a:xfrm>
            <a:off x="9420352" y="4743076"/>
            <a:ext cx="204216" cy="4094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2000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212E1C74-A42A-F565-F6EB-0F75CEC32C6E}"/>
              </a:ext>
            </a:extLst>
          </p:cNvPr>
          <p:cNvSpPr/>
          <p:nvPr/>
        </p:nvSpPr>
        <p:spPr>
          <a:xfrm>
            <a:off x="8888476" y="4953000"/>
            <a:ext cx="1144523" cy="1571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2000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000ADC4B-D3A7-6D72-BD39-922AD1EE8005}"/>
              </a:ext>
            </a:extLst>
          </p:cNvPr>
          <p:cNvSpPr/>
          <p:nvPr/>
        </p:nvSpPr>
        <p:spPr>
          <a:xfrm>
            <a:off x="9674670" y="4912567"/>
            <a:ext cx="204216" cy="1571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2000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8404451F-8FE3-19A7-A0F0-734A1B13392C}"/>
              </a:ext>
            </a:extLst>
          </p:cNvPr>
          <p:cNvGrpSpPr/>
          <p:nvPr/>
        </p:nvGrpSpPr>
        <p:grpSpPr>
          <a:xfrm>
            <a:off x="11051514" y="4530725"/>
            <a:ext cx="1144523" cy="619287"/>
            <a:chOff x="11061039" y="4530725"/>
            <a:chExt cx="1144523" cy="619287"/>
          </a:xfrm>
        </p:grpSpPr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EF672D60-8AA2-1A2A-5B37-C34CE47954B1}"/>
                </a:ext>
              </a:extLst>
            </p:cNvPr>
            <p:cNvSpPr/>
            <p:nvPr/>
          </p:nvSpPr>
          <p:spPr>
            <a:xfrm>
              <a:off x="11328247" y="4530725"/>
              <a:ext cx="609600" cy="5461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altLang="ko-KR" sz="20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42608B79-27FC-718A-2D57-D6555D9D3755}"/>
                </a:ext>
              </a:extLst>
            </p:cNvPr>
            <p:cNvSpPr/>
            <p:nvPr/>
          </p:nvSpPr>
          <p:spPr>
            <a:xfrm>
              <a:off x="11240092" y="4698146"/>
              <a:ext cx="204216" cy="4094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altLang="ko-KR" sz="20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5070AFA5-5C01-32A1-FB10-50099820A2A0}"/>
                </a:ext>
              </a:extLst>
            </p:cNvPr>
            <p:cNvSpPr/>
            <p:nvPr/>
          </p:nvSpPr>
          <p:spPr>
            <a:xfrm>
              <a:off x="11822182" y="4705289"/>
              <a:ext cx="204216" cy="4094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altLang="ko-KR" sz="20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D3EF5690-41C2-0F04-A862-356822ECB785}"/>
                </a:ext>
              </a:extLst>
            </p:cNvPr>
            <p:cNvSpPr/>
            <p:nvPr/>
          </p:nvSpPr>
          <p:spPr>
            <a:xfrm>
              <a:off x="11592915" y="4740536"/>
              <a:ext cx="204216" cy="4094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altLang="ko-KR" sz="20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93696E48-EFFD-6AA7-EBBF-036F6D111721}"/>
                </a:ext>
              </a:extLst>
            </p:cNvPr>
            <p:cNvSpPr/>
            <p:nvPr/>
          </p:nvSpPr>
          <p:spPr>
            <a:xfrm>
              <a:off x="11061039" y="4950460"/>
              <a:ext cx="1144523" cy="15716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altLang="ko-KR" sz="20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9E6255EB-2673-BC6C-E35F-8FBA911F1D43}"/>
                </a:ext>
              </a:extLst>
            </p:cNvPr>
            <p:cNvSpPr/>
            <p:nvPr/>
          </p:nvSpPr>
          <p:spPr>
            <a:xfrm>
              <a:off x="11847233" y="4910027"/>
              <a:ext cx="204216" cy="15716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altLang="ko-KR" sz="20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1DCF8776-1B0E-5F12-B84B-1F52896D781A}"/>
              </a:ext>
            </a:extLst>
          </p:cNvPr>
          <p:cNvSpPr/>
          <p:nvPr/>
        </p:nvSpPr>
        <p:spPr>
          <a:xfrm>
            <a:off x="8651787" y="4518485"/>
            <a:ext cx="1642569" cy="9540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5-HT4 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Agonist</a:t>
            </a:r>
          </a:p>
          <a:p>
            <a:pPr algn="ctr"/>
            <a:endParaRPr lang="ko-KR" altLang="en-US" dirty="0">
              <a:solidFill>
                <a:srgbClr val="2175AC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CB894078-E51D-17C1-8049-94EA7B004D07}"/>
              </a:ext>
            </a:extLst>
          </p:cNvPr>
          <p:cNvSpPr/>
          <p:nvPr/>
        </p:nvSpPr>
        <p:spPr>
          <a:xfrm>
            <a:off x="10826232" y="4402453"/>
            <a:ext cx="1642569" cy="9540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D2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Antagonist</a:t>
            </a:r>
            <a:endParaRPr lang="ko-KR" altLang="en-US" dirty="0">
              <a:solidFill>
                <a:srgbClr val="2175AC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81F4EE4D-F3F0-F038-0E1A-846B54F89545}"/>
              </a:ext>
            </a:extLst>
          </p:cNvPr>
          <p:cNvSpPr/>
          <p:nvPr/>
        </p:nvSpPr>
        <p:spPr>
          <a:xfrm>
            <a:off x="13177717" y="4511585"/>
            <a:ext cx="1642569" cy="9540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2175AC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86DFFC15-02F4-EB7C-F341-610E79E1C334}"/>
              </a:ext>
            </a:extLst>
          </p:cNvPr>
          <p:cNvGrpSpPr/>
          <p:nvPr/>
        </p:nvGrpSpPr>
        <p:grpSpPr>
          <a:xfrm>
            <a:off x="13146533" y="4562313"/>
            <a:ext cx="1144523" cy="619287"/>
            <a:chOff x="11061039" y="4530725"/>
            <a:chExt cx="1144523" cy="619287"/>
          </a:xfrm>
        </p:grpSpPr>
        <p:sp>
          <p:nvSpPr>
            <p:cNvPr id="70" name="직사각형 69">
              <a:extLst>
                <a:ext uri="{FF2B5EF4-FFF2-40B4-BE49-F238E27FC236}">
                  <a16:creationId xmlns:a16="http://schemas.microsoft.com/office/drawing/2014/main" id="{1E22587F-D3D6-F607-B0ED-2F4FD8608B0C}"/>
                </a:ext>
              </a:extLst>
            </p:cNvPr>
            <p:cNvSpPr/>
            <p:nvPr/>
          </p:nvSpPr>
          <p:spPr>
            <a:xfrm>
              <a:off x="11326293" y="4530725"/>
              <a:ext cx="644895" cy="5461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altLang="ko-KR" sz="20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71" name="직사각형 70">
              <a:extLst>
                <a:ext uri="{FF2B5EF4-FFF2-40B4-BE49-F238E27FC236}">
                  <a16:creationId xmlns:a16="http://schemas.microsoft.com/office/drawing/2014/main" id="{20A63CFD-6FAD-A9F4-0D0A-E0FE648780EB}"/>
                </a:ext>
              </a:extLst>
            </p:cNvPr>
            <p:cNvSpPr/>
            <p:nvPr/>
          </p:nvSpPr>
          <p:spPr>
            <a:xfrm>
              <a:off x="11273433" y="4593154"/>
              <a:ext cx="204216" cy="42397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altLang="ko-KR" sz="20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72" name="직사각형 71">
              <a:extLst>
                <a:ext uri="{FF2B5EF4-FFF2-40B4-BE49-F238E27FC236}">
                  <a16:creationId xmlns:a16="http://schemas.microsoft.com/office/drawing/2014/main" id="{1EB34118-B8C1-B6E2-B2B0-D0C1DFD397E0}"/>
                </a:ext>
              </a:extLst>
            </p:cNvPr>
            <p:cNvSpPr/>
            <p:nvPr/>
          </p:nvSpPr>
          <p:spPr>
            <a:xfrm>
              <a:off x="11822182" y="4657659"/>
              <a:ext cx="204216" cy="4094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altLang="ko-KR" sz="20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73" name="직사각형 72">
              <a:extLst>
                <a:ext uri="{FF2B5EF4-FFF2-40B4-BE49-F238E27FC236}">
                  <a16:creationId xmlns:a16="http://schemas.microsoft.com/office/drawing/2014/main" id="{3CFF2FCB-E442-B6C5-6920-2563699E64D9}"/>
                </a:ext>
              </a:extLst>
            </p:cNvPr>
            <p:cNvSpPr/>
            <p:nvPr/>
          </p:nvSpPr>
          <p:spPr>
            <a:xfrm>
              <a:off x="11592915" y="4740536"/>
              <a:ext cx="204216" cy="4094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altLang="ko-KR" sz="20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74" name="직사각형 73">
              <a:extLst>
                <a:ext uri="{FF2B5EF4-FFF2-40B4-BE49-F238E27FC236}">
                  <a16:creationId xmlns:a16="http://schemas.microsoft.com/office/drawing/2014/main" id="{A08CCD8D-4E72-FF95-44DC-E664ED16D226}"/>
                </a:ext>
              </a:extLst>
            </p:cNvPr>
            <p:cNvSpPr/>
            <p:nvPr/>
          </p:nvSpPr>
          <p:spPr>
            <a:xfrm>
              <a:off x="11061039" y="4950460"/>
              <a:ext cx="1144523" cy="15716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altLang="ko-KR" sz="20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75" name="직사각형 74">
              <a:extLst>
                <a:ext uri="{FF2B5EF4-FFF2-40B4-BE49-F238E27FC236}">
                  <a16:creationId xmlns:a16="http://schemas.microsoft.com/office/drawing/2014/main" id="{416F6AAE-52BC-91F4-1F69-2B36CDABB295}"/>
                </a:ext>
              </a:extLst>
            </p:cNvPr>
            <p:cNvSpPr/>
            <p:nvPr/>
          </p:nvSpPr>
          <p:spPr>
            <a:xfrm>
              <a:off x="11847233" y="4910027"/>
              <a:ext cx="204216" cy="15716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altLang="ko-KR" sz="20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A004B427-87C0-7C85-13F1-C5B6271CBB97}"/>
              </a:ext>
            </a:extLst>
          </p:cNvPr>
          <p:cNvSpPr/>
          <p:nvPr/>
        </p:nvSpPr>
        <p:spPr>
          <a:xfrm>
            <a:off x="12916360" y="4396739"/>
            <a:ext cx="1642569" cy="9540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5-HT1A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Agonist</a:t>
            </a:r>
            <a:endParaRPr lang="ko-KR" altLang="en-US" dirty="0">
              <a:solidFill>
                <a:srgbClr val="2175AC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39517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0351089-5E2D-D6C9-4863-F02A87D454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2187" t="30977" b="23825"/>
          <a:stretch>
            <a:fillRect/>
          </a:stretch>
        </p:blipFill>
        <p:spPr>
          <a:xfrm>
            <a:off x="10109200" y="2449982"/>
            <a:ext cx="6146800" cy="4408019"/>
          </a:xfrm>
          <a:prstGeom prst="rect">
            <a:avLst/>
          </a:prstGeom>
        </p:spPr>
      </p:pic>
      <p:sp>
        <p:nvSpPr>
          <p:cNvPr id="5" name="화살표: 오른쪽 4">
            <a:extLst>
              <a:ext uri="{FF2B5EF4-FFF2-40B4-BE49-F238E27FC236}">
                <a16:creationId xmlns:a16="http://schemas.microsoft.com/office/drawing/2014/main" id="{3FF72D0C-63C3-59FF-BC18-D89CBC2CFF67}"/>
              </a:ext>
            </a:extLst>
          </p:cNvPr>
          <p:cNvSpPr/>
          <p:nvPr/>
        </p:nvSpPr>
        <p:spPr>
          <a:xfrm>
            <a:off x="1146534" y="838200"/>
            <a:ext cx="14401800" cy="1447800"/>
          </a:xfrm>
          <a:prstGeom prst="rightArrow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무작위 </a:t>
            </a:r>
            <a:r>
              <a:rPr lang="ko-KR" altLang="en-US" dirty="0" err="1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이중맹검</a:t>
            </a:r>
            <a:r>
              <a:rPr lang="ko-KR" altLang="en-US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dirty="0" err="1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위약대조</a:t>
            </a:r>
            <a:r>
              <a:rPr lang="ko-KR" altLang="en-US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교차임상 </a:t>
            </a:r>
            <a:r>
              <a:rPr lang="en-US" altLang="ko-KR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(Phase I 8</a:t>
            </a:r>
            <a:r>
              <a:rPr lang="ko-KR" altLang="en-US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주 </a:t>
            </a:r>
            <a:r>
              <a:rPr lang="en-US" altLang="ko-KR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+ </a:t>
            </a:r>
            <a:r>
              <a:rPr lang="ko-KR" altLang="en-US" dirty="0" err="1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휴약기</a:t>
            </a:r>
            <a:r>
              <a:rPr lang="en-US" altLang="ko-KR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4</a:t>
            </a:r>
            <a:r>
              <a:rPr lang="ko-KR" altLang="en-US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주</a:t>
            </a:r>
            <a:r>
              <a:rPr lang="en-US" altLang="ko-KR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+ Phase II 8</a:t>
            </a:r>
            <a:r>
              <a:rPr lang="ko-KR" altLang="en-US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주</a:t>
            </a:r>
            <a:r>
              <a:rPr lang="en-US" altLang="ko-KR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 I 24</a:t>
            </a:r>
            <a:r>
              <a:rPr lang="ko-KR" altLang="en-US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주 </a:t>
            </a:r>
            <a:r>
              <a:rPr lang="en-US" altLang="ko-KR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POTS </a:t>
            </a:r>
            <a:r>
              <a:rPr lang="ko-KR" altLang="en-US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환자대상</a:t>
            </a:r>
            <a:endParaRPr lang="en-US" altLang="ko-KR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en-US" altLang="ko-KR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</a:t>
            </a:r>
            <a:r>
              <a:rPr lang="ko-KR" altLang="en-US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차 평가변수 </a:t>
            </a:r>
            <a:r>
              <a:rPr lang="en-US" altLang="ko-KR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ko-KR" altLang="en-US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치료 </a:t>
            </a:r>
            <a:r>
              <a:rPr lang="en-US" altLang="ko-KR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8</a:t>
            </a:r>
            <a:r>
              <a:rPr lang="ko-KR" altLang="en-US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주 후 </a:t>
            </a:r>
            <a:r>
              <a:rPr lang="ko-KR" altLang="en-US" dirty="0" err="1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기저치</a:t>
            </a:r>
            <a:r>
              <a:rPr lang="ko-KR" altLang="en-US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대비 위장관 증상 변화 </a:t>
            </a:r>
            <a:r>
              <a:rPr lang="en-US" altLang="ko-KR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(NDI-K </a:t>
            </a:r>
            <a:r>
              <a:rPr lang="ko-KR" altLang="en-US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총 증상 점수</a:t>
            </a:r>
            <a:r>
              <a:rPr lang="en-US" altLang="ko-KR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), </a:t>
            </a:r>
            <a:r>
              <a:rPr lang="ko-KR" altLang="en-US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분석 방법 </a:t>
            </a:r>
            <a:r>
              <a:rPr lang="en-US" altLang="ko-KR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 </a:t>
            </a:r>
            <a:r>
              <a:rPr lang="ko-KR" altLang="en-US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무작위 배정된 전체 환자 대상 </a:t>
            </a:r>
            <a:r>
              <a:rPr lang="en-US" altLang="ko-KR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IIT</a:t>
            </a:r>
            <a:r>
              <a:rPr lang="ko-KR" altLang="en-US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분석 및 </a:t>
            </a:r>
            <a:r>
              <a:rPr lang="en-US" altLang="ko-KR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PP</a:t>
            </a:r>
            <a:r>
              <a:rPr lang="ko-KR" altLang="en-US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분석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0C588C-5E1C-8BC3-DFA2-CD73A541D94B}"/>
              </a:ext>
            </a:extLst>
          </p:cNvPr>
          <p:cNvSpPr txBox="1"/>
          <p:nvPr/>
        </p:nvSpPr>
        <p:spPr>
          <a:xfrm>
            <a:off x="438870" y="154711"/>
            <a:ext cx="1581712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dirty="0"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5-HT1A, 5-HT4 </a:t>
            </a:r>
            <a:r>
              <a:rPr lang="ko-KR" altLang="en-US" sz="2800" dirty="0"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및 도파민 </a:t>
            </a:r>
            <a:r>
              <a:rPr lang="en-US" altLang="ko-KR" sz="2800" dirty="0"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D2 </a:t>
            </a:r>
            <a:r>
              <a:rPr lang="ko-KR" altLang="en-US" sz="2800" dirty="0"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수용체를 표적으로 하는 </a:t>
            </a:r>
            <a:r>
              <a:rPr lang="ko-KR" altLang="en-US" sz="2800" dirty="0" err="1"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모티리톤의</a:t>
            </a:r>
            <a:r>
              <a:rPr lang="ko-KR" altLang="en-US" sz="2800" dirty="0"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 </a:t>
            </a:r>
          </a:p>
          <a:p>
            <a:pPr algn="ctr"/>
            <a:r>
              <a:rPr lang="ko-KR" altLang="en-US" sz="2800" dirty="0"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기립성 </a:t>
            </a:r>
            <a:r>
              <a:rPr lang="ko-KR" altLang="en-US" sz="2800" dirty="0" err="1"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빈맥</a:t>
            </a:r>
            <a:r>
              <a:rPr lang="ko-KR" altLang="en-US" sz="2800" dirty="0"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 증후군 </a:t>
            </a:r>
            <a:r>
              <a:rPr lang="en-US" altLang="ko-KR" sz="2800" dirty="0"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(POTS) </a:t>
            </a:r>
            <a:r>
              <a:rPr lang="ko-KR" altLang="en-US" sz="2800" dirty="0"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환자에서의 적용 가능성  및 예비 유효성 평가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6E35A1-0BAE-7B18-B43D-184FDBA2D9CA}"/>
              </a:ext>
            </a:extLst>
          </p:cNvPr>
          <p:cNvSpPr txBox="1"/>
          <p:nvPr/>
        </p:nvSpPr>
        <p:spPr>
          <a:xfrm>
            <a:off x="10653613" y="8664942"/>
            <a:ext cx="5099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altLang="ko-KR" dirty="0"/>
              <a:t>J Neurogastroenterol Motil 2026 April 32(2):228-236</a:t>
            </a:r>
            <a:endParaRPr lang="ko-KR" altLang="en-US" sz="1467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77E4720-92D5-BAA6-57B1-66DB68F9602E}"/>
              </a:ext>
            </a:extLst>
          </p:cNvPr>
          <p:cNvSpPr/>
          <p:nvPr/>
        </p:nvSpPr>
        <p:spPr>
          <a:xfrm>
            <a:off x="1071217" y="7335002"/>
            <a:ext cx="152400" cy="914400"/>
          </a:xfrm>
          <a:prstGeom prst="rect">
            <a:avLst/>
          </a:prstGeom>
          <a:solidFill>
            <a:srgbClr val="F4620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06C09DB-B33A-7087-F8E4-A1CF64FDDB0A}"/>
              </a:ext>
            </a:extLst>
          </p:cNvPr>
          <p:cNvSpPr/>
          <p:nvPr/>
        </p:nvSpPr>
        <p:spPr>
          <a:xfrm>
            <a:off x="1346200" y="7315179"/>
            <a:ext cx="7696200" cy="9540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Wingdings" panose="05000000000000000000" pitchFamily="2" charset="2"/>
              </a:rPr>
              <a:t>POTS</a:t>
            </a:r>
            <a:r>
              <a:rPr lang="ko-KR" altLang="en-US" sz="24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Wingdings" panose="05000000000000000000" pitchFamily="2" charset="2"/>
              </a:rPr>
              <a:t> 환자들이 가장 </a:t>
            </a:r>
            <a:r>
              <a:rPr lang="ko-KR" altLang="en-US" sz="2400" b="1" dirty="0" err="1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Wingdings" panose="05000000000000000000" pitchFamily="2" charset="2"/>
              </a:rPr>
              <a:t>고통스러워하는</a:t>
            </a:r>
            <a:r>
              <a:rPr lang="ko-KR" altLang="en-US" sz="24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Wingdings" panose="05000000000000000000" pitchFamily="2" charset="2"/>
              </a:rPr>
              <a:t> </a:t>
            </a:r>
            <a:r>
              <a:rPr lang="ko-KR" altLang="en-US" sz="2400" b="1" dirty="0">
                <a:solidFill>
                  <a:srgbClr val="F4620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Wingdings" panose="05000000000000000000" pitchFamily="2" charset="2"/>
              </a:rPr>
              <a:t>통증과 압박감</a:t>
            </a:r>
            <a:r>
              <a:rPr lang="ko-KR" altLang="en-US" sz="24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Wingdings" panose="05000000000000000000" pitchFamily="2" charset="2"/>
              </a:rPr>
              <a:t>에 대해 </a:t>
            </a:r>
            <a:endParaRPr lang="en-US" altLang="ko-KR" sz="24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Wingdings" panose="05000000000000000000" pitchFamily="2" charset="2"/>
            </a:endParaRPr>
          </a:p>
          <a:p>
            <a:r>
              <a:rPr lang="ko-KR" altLang="en-US" sz="24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Wingdings" panose="05000000000000000000" pitchFamily="2" charset="2"/>
              </a:rPr>
              <a:t>표적화 된 개선 효과를 입증했습니다</a:t>
            </a:r>
            <a:r>
              <a:rPr lang="en-US" altLang="ko-KR" sz="24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Wingdings" panose="05000000000000000000" pitchFamily="2" charset="2"/>
              </a:rPr>
              <a:t>.</a:t>
            </a:r>
            <a:endParaRPr lang="en-US" altLang="ko-KR" sz="2400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F4FB9E75-BFCB-005A-8D35-05C2B4E4A63F}"/>
              </a:ext>
            </a:extLst>
          </p:cNvPr>
          <p:cNvSpPr/>
          <p:nvPr/>
        </p:nvSpPr>
        <p:spPr>
          <a:xfrm>
            <a:off x="10109200" y="7086600"/>
            <a:ext cx="6019799" cy="1295400"/>
          </a:xfrm>
          <a:prstGeom prst="roundRect">
            <a:avLst/>
          </a:prstGeom>
          <a:solidFill>
            <a:srgbClr val="0628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/>
              <a:t>결론 </a:t>
            </a:r>
            <a:r>
              <a:rPr lang="en-US" altLang="ko-KR" sz="2400" b="1" dirty="0"/>
              <a:t>: </a:t>
            </a:r>
            <a:r>
              <a:rPr lang="ko-KR" altLang="en-US" sz="2400" b="1" dirty="0" err="1"/>
              <a:t>모티리톤은</a:t>
            </a:r>
            <a:r>
              <a:rPr lang="ko-KR" altLang="en-US" sz="2400" b="1" dirty="0"/>
              <a:t> 만성적인 </a:t>
            </a:r>
            <a:r>
              <a:rPr lang="en-US" altLang="ko-KR" sz="2400" b="1" dirty="0"/>
              <a:t>POTS </a:t>
            </a:r>
            <a:r>
              <a:rPr lang="ko-KR" altLang="en-US" sz="2400" b="1" dirty="0"/>
              <a:t>환자에게</a:t>
            </a:r>
            <a:endParaRPr lang="en-US" altLang="ko-KR" sz="2400" b="1" dirty="0"/>
          </a:p>
          <a:p>
            <a:pPr algn="ctr"/>
            <a:r>
              <a:rPr lang="ko-KR" altLang="en-US" sz="2400" b="1" dirty="0"/>
              <a:t>장기간 안전하게 처방 가능합니다</a:t>
            </a:r>
            <a:r>
              <a:rPr lang="en-US" altLang="ko-KR" sz="2400" b="1" dirty="0"/>
              <a:t>.</a:t>
            </a: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C508D865-3DE8-1E10-A046-F94A9C939685}"/>
              </a:ext>
            </a:extLst>
          </p:cNvPr>
          <p:cNvCxnSpPr/>
          <p:nvPr/>
        </p:nvCxnSpPr>
        <p:spPr>
          <a:xfrm flipV="1">
            <a:off x="9956800" y="2017194"/>
            <a:ext cx="0" cy="6858000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2">
            <a:extLst>
              <a:ext uri="{FF2B5EF4-FFF2-40B4-BE49-F238E27FC236}">
                <a16:creationId xmlns:a16="http://schemas.microsoft.com/office/drawing/2014/main" id="{43526F19-2CCC-97AD-D297-010CD2B2A7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0977" r="39219" b="23825"/>
          <a:stretch>
            <a:fillRect/>
          </a:stretch>
        </p:blipFill>
        <p:spPr>
          <a:xfrm>
            <a:off x="0" y="2505427"/>
            <a:ext cx="9880600" cy="4408019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050A2F00-0A24-469C-6850-5AA2E7FBA821}"/>
              </a:ext>
            </a:extLst>
          </p:cNvPr>
          <p:cNvSpPr/>
          <p:nvPr/>
        </p:nvSpPr>
        <p:spPr>
          <a:xfrm>
            <a:off x="10490200" y="5257800"/>
            <a:ext cx="2283635" cy="60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Wingdings" panose="05000000000000000000" pitchFamily="2" charset="2"/>
              </a:rPr>
              <a:t>심각한 이상반응 </a:t>
            </a:r>
            <a:r>
              <a:rPr lang="en-US" altLang="ko-KR" sz="20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Wingdings" panose="05000000000000000000" pitchFamily="2" charset="2"/>
              </a:rPr>
              <a:t>0</a:t>
            </a:r>
            <a:r>
              <a:rPr lang="ko-KR" altLang="en-US" sz="20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Wingdings" panose="05000000000000000000" pitchFamily="2" charset="2"/>
              </a:rPr>
              <a:t>건</a:t>
            </a:r>
            <a:endParaRPr lang="en-US" altLang="ko-KR" sz="2000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1903ACA-446C-B9D1-534E-6D9E7DADD6F1}"/>
              </a:ext>
            </a:extLst>
          </p:cNvPr>
          <p:cNvSpPr/>
          <p:nvPr/>
        </p:nvSpPr>
        <p:spPr>
          <a:xfrm>
            <a:off x="13214429" y="5251704"/>
            <a:ext cx="2283635" cy="60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 err="1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Wingdings" panose="05000000000000000000" pitchFamily="2" charset="2"/>
              </a:rPr>
              <a:t>파킨슨</a:t>
            </a:r>
            <a:r>
              <a:rPr lang="en-US" altLang="ko-KR" sz="16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Wingdings" panose="05000000000000000000" pitchFamily="2" charset="2"/>
              </a:rPr>
              <a:t>, </a:t>
            </a:r>
            <a:r>
              <a:rPr lang="ko-KR" altLang="en-US" sz="16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Wingdings" panose="05000000000000000000" pitchFamily="2" charset="2"/>
              </a:rPr>
              <a:t>중추신경계</a:t>
            </a:r>
            <a:r>
              <a:rPr lang="en-US" altLang="ko-KR" sz="16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Wingdings" panose="05000000000000000000" pitchFamily="2" charset="2"/>
              </a:rPr>
              <a:t>(CNS)</a:t>
            </a:r>
          </a:p>
          <a:p>
            <a:pPr algn="ctr"/>
            <a:r>
              <a:rPr lang="ko-KR" altLang="en-US" sz="16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Wingdings" panose="05000000000000000000" pitchFamily="2" charset="2"/>
              </a:rPr>
              <a:t>부작용 우려 없음</a:t>
            </a:r>
            <a:endParaRPr lang="en-US" altLang="ko-KR" sz="1600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A213D5C-5A3F-3FA8-3933-A338AB59293F}"/>
              </a:ext>
            </a:extLst>
          </p:cNvPr>
          <p:cNvSpPr/>
          <p:nvPr/>
        </p:nvSpPr>
        <p:spPr>
          <a:xfrm>
            <a:off x="13252507" y="5861304"/>
            <a:ext cx="2283635" cy="8442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 err="1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Wingdings" panose="05000000000000000000" pitchFamily="2" charset="2"/>
              </a:rPr>
              <a:t>추체외로</a:t>
            </a:r>
            <a:r>
              <a:rPr lang="ko-KR" altLang="en-US" sz="16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Wingdings" panose="05000000000000000000" pitchFamily="2" charset="2"/>
              </a:rPr>
              <a:t> 증상 및</a:t>
            </a:r>
            <a:endParaRPr lang="en-US" altLang="ko-KR" sz="16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Wingdings" panose="05000000000000000000" pitchFamily="2" charset="2"/>
            </a:endParaRPr>
          </a:p>
          <a:p>
            <a:pPr algn="ctr"/>
            <a:r>
              <a:rPr lang="ko-KR" altLang="en-US" sz="1600" b="1" dirty="0" err="1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Wingdings" panose="05000000000000000000" pitchFamily="2" charset="2"/>
              </a:rPr>
              <a:t>고프로락틴혈증</a:t>
            </a:r>
            <a:r>
              <a:rPr lang="ko-KR" altLang="en-US" sz="16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Wingdings" panose="05000000000000000000" pitchFamily="2" charset="2"/>
              </a:rPr>
              <a:t> 위험 없음</a:t>
            </a:r>
            <a:endParaRPr lang="en-US" altLang="ko-KR" sz="1600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842671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215</Words>
  <Application>Microsoft Office PowerPoint</Application>
  <PresentationFormat>사용자 지정</PresentationFormat>
  <Paragraphs>35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8" baseType="lpstr">
      <vt:lpstr>Pretendard</vt:lpstr>
      <vt:lpstr>Pretendard Black</vt:lpstr>
      <vt:lpstr>Pretendard Medium</vt:lpstr>
      <vt:lpstr>Arial</vt:lpstr>
      <vt:lpstr>Calibri</vt:lpstr>
      <vt:lpstr>Office Theme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유요한</dc:creator>
  <cp:lastModifiedBy>유요한</cp:lastModifiedBy>
  <cp:revision>6</cp:revision>
  <dcterms:created xsi:type="dcterms:W3CDTF">2006-08-16T00:00:00Z</dcterms:created>
  <dcterms:modified xsi:type="dcterms:W3CDTF">2026-08-09T23:59:11Z</dcterms:modified>
</cp:coreProperties>
</file>