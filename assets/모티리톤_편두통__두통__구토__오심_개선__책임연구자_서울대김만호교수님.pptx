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2" r:id="rId3"/>
    <p:sldId id="261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0"/>
    <a:srgbClr val="2A4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480A4-57E7-4C27-BBF3-16FD951BDF7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57C29-CC86-4D7A-84FC-52496134E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64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P-CAB,</a:t>
            </a:r>
            <a:r>
              <a:rPr lang="en-US" altLang="ko-KR" baseline="0" dirty="0"/>
              <a:t> </a:t>
            </a:r>
            <a:r>
              <a:rPr lang="en-US" altLang="ko-KR" dirty="0"/>
              <a:t>Potassium-Competitive Acid Blocker; PPI, Proton Pump Inhibitor; </a:t>
            </a:r>
            <a:r>
              <a:rPr lang="en-US" altLang="ko-KR" dirty="0" err="1"/>
              <a:t>PDE5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en-US" altLang="ko-KR" dirty="0"/>
              <a:t>Phosphodiesterase Type 5 Inhibitor; </a:t>
            </a:r>
            <a:r>
              <a:rPr lang="en-US" altLang="ko-KR" dirty="0" err="1"/>
              <a:t>NSAIDs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en-US" altLang="ko-KR" dirty="0"/>
              <a:t>Non-Steroidal Anti-Inflammatory Drugs; SSRI,</a:t>
            </a:r>
            <a:r>
              <a:rPr lang="en-US" altLang="ko-KR" baseline="0" dirty="0"/>
              <a:t> </a:t>
            </a:r>
            <a:r>
              <a:rPr lang="en-US" altLang="ko-KR" dirty="0"/>
              <a:t>Selective Serotonin Reuptake Inhibitor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3CB7A3-7816-46A5-91B8-E5283C48A41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985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7AA672-0D51-4D9B-519F-F2A3D7E5E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AA5C7A-6045-C4FF-91D6-E0C63D85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301955-7FEB-B0D2-DE70-3C01D4ED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3BD6E4-BF13-C9F6-934E-CF3F8DBA1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07E09-5B8E-6B5A-6C3C-77F9516D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02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F05A1-836A-7F1D-0385-1D4CFA01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51394-8CAA-847C-3BA3-257B56A1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97ED0-CC65-DF33-C71C-420EE7C4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A09A9A-F0A0-6890-E87B-409B75EF4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42A35E-D454-B2D4-F27F-ECC3794C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19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E5325-0073-A96C-6B1F-D04491AB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B09B4A-4F34-0656-8FFB-051E5BFC4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A1924-8CDA-71D8-03AF-11ACA6FF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2F02F-445E-81DC-55D7-74C9283A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2F100C-3363-5F0A-6E85-AC6005AD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6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AF26E-3768-97F5-37A7-BCADC618C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4B4B74-7BA1-5FAA-9B73-75A778CE1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025554-CBA4-3DCB-CA75-FC0A65053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58F98C-721C-C1CE-AAA7-A6BEF6E1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18EC43-446E-DF8B-F66A-6522AE99C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80C153-39A6-348B-6304-1574CFE2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99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75062-B827-85A7-F6AF-F4DDF6B7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B50E5F-C627-BF4B-91B2-C0D52A5C9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DCBCB3-6011-F871-38DE-A3D3A07AA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8F104C-0885-74E5-C134-BDD379ADB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DF2F97-D0D6-E1E7-3D4E-228A08334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9D483B-14C0-FB9D-C31F-EEC44E6E4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A4E91E-9F18-7B82-39A5-72B464EB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A2650A-EC52-779D-1C76-0F20A7D9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336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D8106-1BF2-E09E-F04F-17A0AD0F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0564E9-7D35-6E01-A16D-F0FA036FE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B57FD3-7498-F220-AFF9-8709DD73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C5AEEB-52A2-8000-4372-8CE3C954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15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667223-B0D0-6249-9C49-60F54EC71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56B4AC-BDC0-76A2-6DD9-49025D91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F3CB51-DF93-5C18-2725-68C2F7BA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47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180C9-1807-11AF-6ECC-C61B75EE5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1F9739-6FFF-6E2A-B738-9C11F1D60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F28853-685A-D471-FF9E-B6E2ECB77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9521F2-F874-98EC-1C41-1A6FF839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EA4746-52EC-2825-1C94-0FD618A73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54C82F-7741-33D3-811A-82CFB33E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03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87CEBC-3C34-1C74-680B-3EABBA74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7530A5-5D72-0DB9-83B8-DA6AB3918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984F34-1C97-6B69-AE7D-480D0CF97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F7A1B-2DD0-189A-4C2A-DF0E7893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83FBED-E4D8-0E42-C0C6-434600B0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3B4429-CB20-4A9C-1C9B-F301D0F8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455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C2CD1-22DE-8338-FEE3-2B083CAA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E53061-2A4C-85BB-0C52-B8338A86B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6180F-C422-6320-A15A-74778FE0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7EA9C-62D0-A397-D478-9F2BB058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655EE-2002-7AF4-648B-CFD14990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59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AF1EFE-9930-5CAE-3662-52597D437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FEAF3A-6A38-4725-86B7-B6295508E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5EAD9D-D9E7-8ACB-AA06-9055B8BE7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D141F-4A92-F37E-B3F8-95B56403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0F3B6B-B08B-1938-4195-56CDAD9D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99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AD1413-2E86-77D4-20A6-40350F73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F7D24-ECDA-B8D0-48FA-CEE0FADF0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30CEC1-B9E8-9461-87DC-ED1C6CA91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8CE0E-69AA-4EDD-961F-4B6C72AF54A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E3A13-5BBB-FBE8-CC59-F45EE46A4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6B7ADA-E286-813A-8963-8AED670CE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EB89E-BFB0-4D01-B0BF-3B79A7C5D9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85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7B4B3-7209-6F79-48A0-8DD3340F1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C75401-ADE7-242F-1FAE-233BB1F064FD}"/>
              </a:ext>
            </a:extLst>
          </p:cNvPr>
          <p:cNvSpPr txBox="1"/>
          <p:nvPr/>
        </p:nvSpPr>
        <p:spPr>
          <a:xfrm flipH="1">
            <a:off x="348821" y="253713"/>
            <a:ext cx="8859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편두통 및 오심</a:t>
            </a:r>
            <a:r>
              <a:rPr lang="en-US" altLang="ko-KR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구역 치료의 새로운 대안 </a:t>
            </a:r>
            <a:r>
              <a:rPr lang="en-US" altLang="ko-KR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ko-KR" altLang="en-US" sz="32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모티리톤</a:t>
            </a:r>
            <a:endParaRPr lang="ko-KR" altLang="en-US" sz="3200" b="1" dirty="0">
              <a:solidFill>
                <a:schemeClr val="accent5">
                  <a:lumMod val="60000"/>
                  <a:lumOff val="40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995469-1018-F9E9-5B12-B82BB3FD33A8}"/>
              </a:ext>
            </a:extLst>
          </p:cNvPr>
          <p:cNvSpPr txBox="1"/>
          <p:nvPr/>
        </p:nvSpPr>
        <p:spPr>
          <a:xfrm>
            <a:off x="11236289" y="0"/>
            <a:ext cx="84991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내부교육용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66CC6B5-BF2E-E6AB-E681-B07442649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2" y="1079788"/>
            <a:ext cx="11736335" cy="446203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F191B7-B005-9F2B-F84E-05CA73CDA34E}"/>
              </a:ext>
            </a:extLst>
          </p:cNvPr>
          <p:cNvSpPr/>
          <p:nvPr/>
        </p:nvSpPr>
        <p:spPr>
          <a:xfrm>
            <a:off x="6788727" y="4812146"/>
            <a:ext cx="1625600" cy="6465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30F07E-BF3E-0078-5AC5-40DB57ADCAED}"/>
              </a:ext>
            </a:extLst>
          </p:cNvPr>
          <p:cNvSpPr txBox="1"/>
          <p:nvPr/>
        </p:nvSpPr>
        <p:spPr>
          <a:xfrm flipH="1">
            <a:off x="850563" y="5898285"/>
            <a:ext cx="10565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+mj-ea"/>
                <a:ea typeface="+mj-ea"/>
                <a:cs typeface="Pretendard ExtraBold" panose="02000903000000020004" pitchFamily="2" charset="-127"/>
              </a:rPr>
              <a:t>모티리톤은</a:t>
            </a:r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 </a:t>
            </a:r>
            <a:r>
              <a:rPr lang="en-US" altLang="ko-KR" b="1" dirty="0">
                <a:latin typeface="+mj-ea"/>
                <a:ea typeface="+mj-ea"/>
                <a:cs typeface="Pretendard ExtraBold" panose="02000903000000020004" pitchFamily="2" charset="-127"/>
              </a:rPr>
              <a:t>5-HT4 〮5-HT1A 〮D2 </a:t>
            </a:r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세 가지 수용체에 작용하여 다양한 소화기 증상을 개선합니다</a:t>
            </a:r>
            <a:r>
              <a:rPr lang="en-US" altLang="ko-KR" b="1" dirty="0">
                <a:latin typeface="+mj-ea"/>
                <a:ea typeface="+mj-ea"/>
                <a:cs typeface="Pretendard ExtraBold" panose="02000903000000020004" pitchFamily="2" charset="-127"/>
              </a:rPr>
              <a:t>.</a:t>
            </a:r>
            <a:endParaRPr lang="ko-KR" altLang="en-US" b="1" dirty="0">
              <a:latin typeface="+mj-ea"/>
              <a:ea typeface="+mj-ea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6280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05CC7-EC39-5921-6CAF-C23832AD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 descr="방패 선택 표시 윤곽선">
            <a:extLst>
              <a:ext uri="{FF2B5EF4-FFF2-40B4-BE49-F238E27FC236}">
                <a16:creationId xmlns:a16="http://schemas.microsoft.com/office/drawing/2014/main" id="{3F6ECD21-55DD-6C30-07AC-61A6EC7425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75141" y="3732329"/>
            <a:ext cx="1172208" cy="11722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96CFB9-1C59-8B8A-65E7-82E04C56AFCE}"/>
              </a:ext>
            </a:extLst>
          </p:cNvPr>
          <p:cNvSpPr txBox="1"/>
          <p:nvPr/>
        </p:nvSpPr>
        <p:spPr>
          <a:xfrm flipH="1">
            <a:off x="348820" y="253713"/>
            <a:ext cx="9450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편두통 및 오심</a:t>
            </a:r>
            <a:r>
              <a:rPr lang="en-US" altLang="ko-KR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구역 치료의 새로운 대안 </a:t>
            </a:r>
            <a:r>
              <a:rPr lang="en-US" altLang="ko-KR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ko-KR" altLang="en-US" sz="32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모티리톤</a:t>
            </a:r>
            <a:endParaRPr lang="ko-KR" altLang="en-US" sz="3200" b="1" dirty="0">
              <a:solidFill>
                <a:schemeClr val="accent5">
                  <a:lumMod val="60000"/>
                  <a:lumOff val="40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D3C2A-79CE-3DB8-BB21-B802CF363995}"/>
              </a:ext>
            </a:extLst>
          </p:cNvPr>
          <p:cNvSpPr txBox="1"/>
          <p:nvPr/>
        </p:nvSpPr>
        <p:spPr>
          <a:xfrm flipH="1">
            <a:off x="348821" y="1111195"/>
            <a:ext cx="107440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배경 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: 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편두통은 전 세계적으로 흔한 신경계 질환이며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, 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오심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/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구토는 주요 동반 증상</a:t>
            </a:r>
            <a:endParaRPr lang="en-US" altLang="ko-KR" dirty="0">
              <a:latin typeface="+mj-ea"/>
              <a:ea typeface="+mj-ea"/>
              <a:cs typeface="Pretendard ExtraBold" panose="02000903000000020004" pitchFamily="2" charset="-127"/>
            </a:endParaRPr>
          </a:p>
          <a:p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               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기존 </a:t>
            </a:r>
            <a:r>
              <a:rPr lang="en-US" altLang="ko-KR" dirty="0" err="1">
                <a:latin typeface="+mj-ea"/>
                <a:ea typeface="+mj-ea"/>
                <a:cs typeface="Pretendard ExtraBold" panose="02000903000000020004" pitchFamily="2" charset="-127"/>
              </a:rPr>
              <a:t>D2</a:t>
            </a:r>
            <a:r>
              <a:rPr lang="ko-KR" altLang="en-US" dirty="0" err="1">
                <a:latin typeface="+mj-ea"/>
                <a:ea typeface="+mj-ea"/>
                <a:cs typeface="Pretendard ExtraBold" panose="02000903000000020004" pitchFamily="2" charset="-127"/>
              </a:rPr>
              <a:t>길항제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(Metoclopramide 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등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)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는 </a:t>
            </a:r>
            <a:r>
              <a:rPr lang="ko-KR" altLang="en-US" dirty="0" err="1">
                <a:latin typeface="+mj-ea"/>
                <a:ea typeface="+mj-ea"/>
                <a:cs typeface="Pretendard ExtraBold" panose="02000903000000020004" pitchFamily="2" charset="-127"/>
              </a:rPr>
              <a:t>추체외로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 증상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,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 </a:t>
            </a:r>
            <a:r>
              <a:rPr lang="ko-KR" altLang="en-US" dirty="0" err="1">
                <a:latin typeface="+mj-ea"/>
                <a:ea typeface="+mj-ea"/>
                <a:cs typeface="Pretendard ExtraBold" panose="02000903000000020004" pitchFamily="2" charset="-127"/>
              </a:rPr>
              <a:t>파킨슨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 등 부작용 우려</a:t>
            </a:r>
            <a:endParaRPr lang="en-US" altLang="ko-KR" dirty="0">
              <a:latin typeface="+mj-ea"/>
              <a:ea typeface="+mj-ea"/>
              <a:cs typeface="Pretendard ExtraBold" panose="02000903000000020004" pitchFamily="2" charset="-127"/>
            </a:endParaRPr>
          </a:p>
          <a:p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               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장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-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뇌 축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(Gut-Brain Axis) 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관점에서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, 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오심 조절이 두통 빈도 감소로 이어질 가능성 제기</a:t>
            </a:r>
            <a:endParaRPr lang="en-US" altLang="ko-KR" dirty="0">
              <a:latin typeface="+mj-ea"/>
              <a:ea typeface="+mj-ea"/>
              <a:cs typeface="Pretendard ExtraBold" panose="02000903000000020004" pitchFamily="2" charset="-127"/>
            </a:endParaRPr>
          </a:p>
          <a:p>
            <a:endParaRPr lang="en-US" altLang="ko-KR" dirty="0">
              <a:latin typeface="+mj-ea"/>
              <a:ea typeface="+mj-ea"/>
              <a:cs typeface="Pretendard ExtraBold" panose="020009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목적 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: </a:t>
            </a:r>
            <a:r>
              <a:rPr lang="ko-KR" altLang="en-US" dirty="0" err="1">
                <a:latin typeface="+mj-ea"/>
                <a:ea typeface="+mj-ea"/>
                <a:cs typeface="Pretendard ExtraBold" panose="02000903000000020004" pitchFamily="2" charset="-127"/>
              </a:rPr>
              <a:t>모티리톤의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 오심 개선 효과 및 오심 개선이 두통 빈도 감소에 미치는 영향 확인</a:t>
            </a:r>
            <a:endParaRPr lang="en-US" altLang="ko-KR" dirty="0">
              <a:latin typeface="+mj-ea"/>
              <a:ea typeface="+mj-ea"/>
              <a:cs typeface="Pretendard ExtraBold" panose="02000903000000020004" pitchFamily="2" charset="-127"/>
            </a:endParaRPr>
          </a:p>
          <a:p>
            <a:endParaRPr lang="en-US" altLang="ko-KR" dirty="0">
              <a:latin typeface="+mj-ea"/>
              <a:ea typeface="+mj-ea"/>
              <a:cs typeface="Pretendard ExtraBold" panose="020009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대상 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: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  <a:cs typeface="Pretendard ExtraBold" panose="02000903000000020004" pitchFamily="2" charset="-127"/>
              </a:rPr>
              <a:t>구역 또는 구토를 동반한 편두통 환자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  <a:cs typeface="Pretendard ExtraBold" panose="02000903000000020004" pitchFamily="2" charset="-127"/>
              </a:rPr>
              <a:t> </a:t>
            </a:r>
            <a:r>
              <a:rPr lang="en-US" altLang="ko-KR" dirty="0">
                <a:latin typeface="+mj-ea"/>
                <a:ea typeface="+mj-ea"/>
                <a:cs typeface="Pretendard ExtraBold" panose="02000903000000020004" pitchFamily="2" charset="-127"/>
              </a:rPr>
              <a:t>110</a:t>
            </a:r>
            <a:r>
              <a:rPr lang="ko-KR" altLang="en-US" dirty="0">
                <a:latin typeface="+mj-ea"/>
                <a:ea typeface="+mj-ea"/>
                <a:cs typeface="Pretendard ExtraBold" panose="02000903000000020004" pitchFamily="2" charset="-127"/>
              </a:rPr>
              <a:t>명</a:t>
            </a:r>
            <a:endParaRPr lang="en-US" altLang="ko-KR" dirty="0">
              <a:latin typeface="+mj-ea"/>
              <a:ea typeface="+mj-ea"/>
              <a:cs typeface="Pretendard ExtraBold" panose="02000903000000020004" pitchFamily="2" charset="-127"/>
            </a:endParaRPr>
          </a:p>
          <a:p>
            <a:endParaRPr lang="en-US" altLang="ko-KR" dirty="0">
              <a:latin typeface="+mj-ea"/>
              <a:ea typeface="+mj-ea"/>
              <a:cs typeface="Pretendard ExtraBold" panose="020009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cs typeface="Pretendard ExtraBold" panose="02000903000000020004" pitchFamily="2" charset="-127"/>
              </a:rPr>
              <a:t>책임 연구자 </a:t>
            </a:r>
            <a:r>
              <a:rPr lang="en-US" altLang="ko-KR" dirty="0">
                <a:latin typeface="+mj-ea"/>
                <a:cs typeface="Pretendard ExtraBold" panose="02000903000000020004" pitchFamily="2" charset="-127"/>
              </a:rPr>
              <a:t>: </a:t>
            </a:r>
            <a:r>
              <a:rPr lang="ko-KR" altLang="en-US" dirty="0" err="1">
                <a:latin typeface="+mj-ea"/>
                <a:cs typeface="Pretendard ExtraBold" panose="02000903000000020004" pitchFamily="2" charset="-127"/>
              </a:rPr>
              <a:t>서울대학교</a:t>
            </a:r>
            <a:r>
              <a:rPr lang="ko-KR" altLang="en-US" dirty="0">
                <a:latin typeface="+mj-ea"/>
                <a:cs typeface="Pretendard ExtraBold" panose="02000903000000020004" pitchFamily="2" charset="-127"/>
              </a:rPr>
              <a:t> 병원 </a:t>
            </a:r>
            <a:r>
              <a:rPr lang="en-US" altLang="ko-KR" dirty="0">
                <a:latin typeface="+mj-ea"/>
                <a:cs typeface="Pretendard ExtraBold" panose="02000903000000020004" pitchFamily="2" charset="-127"/>
              </a:rPr>
              <a:t>NR </a:t>
            </a:r>
            <a:r>
              <a:rPr lang="ko-KR" altLang="en-US" dirty="0" err="1">
                <a:latin typeface="+mj-ea"/>
                <a:cs typeface="Pretendard ExtraBold" panose="02000903000000020004" pitchFamily="2" charset="-127"/>
              </a:rPr>
              <a:t>김만호</a:t>
            </a:r>
            <a:r>
              <a:rPr lang="ko-KR" altLang="en-US" dirty="0">
                <a:latin typeface="+mj-ea"/>
                <a:cs typeface="Pretendard ExtraBold" panose="02000903000000020004" pitchFamily="2" charset="-127"/>
              </a:rPr>
              <a:t> 교수</a:t>
            </a:r>
            <a:endParaRPr lang="en-US" altLang="ko-KR" dirty="0">
              <a:latin typeface="+mj-ea"/>
              <a:cs typeface="Pretendard ExtraBold" panose="02000903000000020004" pitchFamily="2" charset="-127"/>
            </a:endParaRPr>
          </a:p>
          <a:p>
            <a:endParaRPr lang="en-US" altLang="ko-KR" dirty="0">
              <a:latin typeface="+mj-ea"/>
              <a:ea typeface="+mj-ea"/>
              <a:cs typeface="Pretendard ExtraBold" panose="020009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A1725-60C9-06D5-6A32-CC942B41CF04}"/>
              </a:ext>
            </a:extLst>
          </p:cNvPr>
          <p:cNvSpPr txBox="1"/>
          <p:nvPr/>
        </p:nvSpPr>
        <p:spPr>
          <a:xfrm flipH="1">
            <a:off x="348821" y="3951401"/>
            <a:ext cx="2098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연구 설계</a:t>
            </a:r>
          </a:p>
        </p:txBody>
      </p:sp>
      <p:pic>
        <p:nvPicPr>
          <p:cNvPr id="11" name="그림 10" descr="텍스트, 명함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94B3B8-A1F2-F019-D80D-B562C4039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6176"/>
            <a:ext cx="7467047" cy="17479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757E24-DC75-DE2F-FA21-17543DE09637}"/>
              </a:ext>
            </a:extLst>
          </p:cNvPr>
          <p:cNvSpPr txBox="1"/>
          <p:nvPr/>
        </p:nvSpPr>
        <p:spPr>
          <a:xfrm>
            <a:off x="11236289" y="0"/>
            <a:ext cx="84991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내부교육용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C8D795-088F-79AD-C161-2887EFBE11CF}"/>
              </a:ext>
            </a:extLst>
          </p:cNvPr>
          <p:cNvSpPr txBox="1"/>
          <p:nvPr/>
        </p:nvSpPr>
        <p:spPr>
          <a:xfrm flipH="1">
            <a:off x="7467047" y="4840761"/>
            <a:ext cx="45819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투여 기간 동안 </a:t>
            </a:r>
            <a:r>
              <a:rPr lang="ko-KR" altLang="en-US" sz="1600" dirty="0" err="1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이상반응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 지속 관찰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  <a:cs typeface="Pretendard ExtraBold" panose="02000903000000020004" pitchFamily="2" charset="-127"/>
            </a:endParaRPr>
          </a:p>
          <a:p>
            <a:pPr algn="ctr"/>
            <a:r>
              <a:rPr lang="en-US" altLang="ko-KR" sz="1600" dirty="0" err="1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DIEPSS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 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척도를 통한 </a:t>
            </a:r>
            <a:r>
              <a:rPr lang="ko-KR" altLang="en-US" sz="1600" dirty="0" err="1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추체외로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 증상 평가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  <a:cs typeface="Pretendard ExtraBold" panose="02000903000000020004" pitchFamily="2" charset="-127"/>
            </a:endParaRPr>
          </a:p>
          <a:p>
            <a:pPr algn="ctr"/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추체외로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(extrapyramidal)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 증상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, </a:t>
            </a:r>
          </a:p>
          <a:p>
            <a:pPr algn="ctr"/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파킨슨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 증상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, 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급성 근육 긴장 이상 모두 </a:t>
            </a:r>
            <a:r>
              <a:rPr lang="en-US" altLang="ko-KR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0</a:t>
            </a:r>
            <a:r>
              <a:rPr lang="ko-KR" alt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건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Pretendard ExtraBold" panose="02000903000000020004" pitchFamily="2" charset="-127"/>
              </a:rPr>
              <a:t> 보고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B6E023-460A-0769-99BA-5B77F988C4DC}"/>
              </a:ext>
            </a:extLst>
          </p:cNvPr>
          <p:cNvSpPr txBox="1"/>
          <p:nvPr/>
        </p:nvSpPr>
        <p:spPr>
          <a:xfrm flipH="1">
            <a:off x="8192703" y="3951400"/>
            <a:ext cx="3043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안전성 모니터링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15DC6-1896-21F9-063C-55406FFE6D02}"/>
              </a:ext>
            </a:extLst>
          </p:cNvPr>
          <p:cNvSpPr txBox="1"/>
          <p:nvPr/>
        </p:nvSpPr>
        <p:spPr>
          <a:xfrm>
            <a:off x="0" y="6604084"/>
            <a:ext cx="58823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Son H, et al. </a:t>
            </a:r>
            <a:r>
              <a:rPr lang="it-IT" altLang="ko-KR" sz="1050" dirty="0"/>
              <a:t>Medicine (Baltimore). 2026 Feb 13;105(7):e47623.</a:t>
            </a:r>
            <a:endParaRPr lang="ko-KR" alt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71E05-B880-8726-E027-C5D92E650E8E}"/>
              </a:ext>
            </a:extLst>
          </p:cNvPr>
          <p:cNvSpPr txBox="1"/>
          <p:nvPr/>
        </p:nvSpPr>
        <p:spPr>
          <a:xfrm>
            <a:off x="0" y="6373252"/>
            <a:ext cx="32616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/>
              <a:t>DIEPSS</a:t>
            </a:r>
            <a:r>
              <a:rPr lang="en-US" altLang="ko-KR" sz="900" dirty="0"/>
              <a:t>, Drug-Induced Extrapyramidal Symptoms Scale</a:t>
            </a:r>
            <a:endParaRPr lang="ko-KR" alt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50319-F317-D8AD-1021-51EDAB0EA6D0}"/>
              </a:ext>
            </a:extLst>
          </p:cNvPr>
          <p:cNvSpPr txBox="1"/>
          <p:nvPr/>
        </p:nvSpPr>
        <p:spPr>
          <a:xfrm>
            <a:off x="10680700" y="6604084"/>
            <a:ext cx="1368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err="1"/>
              <a:t>MOT2602R1</a:t>
            </a:r>
            <a:r>
              <a:rPr lang="en-US" altLang="ko-KR" sz="1050" dirty="0"/>
              <a:t>-2802</a:t>
            </a:r>
            <a:endParaRPr lang="ko-KR" altLang="en-US" sz="105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2A44FA-09B9-2931-8C7A-5FA6150D1873}"/>
              </a:ext>
            </a:extLst>
          </p:cNvPr>
          <p:cNvSpPr/>
          <p:nvPr/>
        </p:nvSpPr>
        <p:spPr>
          <a:xfrm>
            <a:off x="4434840" y="6457295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i="1" dirty="0">
                <a:latin typeface="맑은 고딕"/>
                <a:ea typeface="맑은 고딕"/>
              </a:rPr>
              <a:t>※ </a:t>
            </a:r>
            <a:r>
              <a:rPr lang="ko-KR" altLang="en-US" sz="1000" i="1" dirty="0" err="1"/>
              <a:t>모티리톤은</a:t>
            </a:r>
            <a:r>
              <a:rPr lang="ko-KR" altLang="en-US" sz="1000" i="1" dirty="0"/>
              <a:t> 현재 편두통 및 오심 치료에 대한 </a:t>
            </a:r>
            <a:r>
              <a:rPr lang="ko-KR" altLang="en-US" sz="1000" i="1" dirty="0" err="1"/>
              <a:t>식약처</a:t>
            </a:r>
            <a:r>
              <a:rPr lang="ko-KR" altLang="en-US" sz="1000" i="1" dirty="0"/>
              <a:t> </a:t>
            </a:r>
            <a:r>
              <a:rPr lang="ko-KR" altLang="en-US" sz="1000" i="1" dirty="0" err="1"/>
              <a:t>허가사항은</a:t>
            </a:r>
            <a:r>
              <a:rPr lang="ko-KR" altLang="en-US" sz="1000" i="1" dirty="0"/>
              <a:t> 아닙니다</a:t>
            </a:r>
            <a:r>
              <a:rPr lang="en-US" altLang="ko-KR" sz="1000" i="1" dirty="0"/>
              <a:t>. </a:t>
            </a:r>
          </a:p>
          <a:p>
            <a:r>
              <a:rPr lang="ko-KR" altLang="en-US" sz="1000" i="1" dirty="0"/>
              <a:t>본 내용은 연구 결과 및 문헌 근거를 기반으로 한 정보 제공이며</a:t>
            </a:r>
            <a:r>
              <a:rPr lang="en-US" altLang="ko-KR" sz="1000" i="1" dirty="0"/>
              <a:t>, </a:t>
            </a:r>
            <a:r>
              <a:rPr lang="ko-KR" altLang="en-US" sz="1000" i="1" dirty="0"/>
              <a:t>실제 </a:t>
            </a:r>
            <a:r>
              <a:rPr lang="ko-KR" altLang="en-US" sz="1000" i="1" dirty="0" err="1"/>
              <a:t>적응증과는</a:t>
            </a:r>
            <a:r>
              <a:rPr lang="ko-KR" altLang="en-US" sz="1000" i="1" dirty="0"/>
              <a:t> 다를 수 있습니다</a:t>
            </a:r>
            <a:r>
              <a:rPr lang="en-US" altLang="ko-KR" sz="1000" i="1" dirty="0"/>
              <a:t>.</a:t>
            </a:r>
            <a:endParaRPr lang="ko-KR" alt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203248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9BF7BE-5DA1-582A-42EE-7E417EA05EB5}"/>
              </a:ext>
            </a:extLst>
          </p:cNvPr>
          <p:cNvSpPr txBox="1"/>
          <p:nvPr/>
        </p:nvSpPr>
        <p:spPr>
          <a:xfrm flipH="1">
            <a:off x="292451" y="75568"/>
            <a:ext cx="8139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연구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032C7-1DB0-59A9-A3CA-C1C4CC49AF15}"/>
              </a:ext>
            </a:extLst>
          </p:cNvPr>
          <p:cNvSpPr txBox="1"/>
          <p:nvPr/>
        </p:nvSpPr>
        <p:spPr>
          <a:xfrm flipH="1">
            <a:off x="97634" y="733282"/>
            <a:ext cx="578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연구 결과 </a:t>
            </a:r>
            <a:r>
              <a:rPr lang="en-US" altLang="ko-KR" b="1" dirty="0">
                <a:latin typeface="+mj-ea"/>
                <a:ea typeface="+mj-ea"/>
                <a:cs typeface="Pretendard ExtraBold" panose="02000903000000020004" pitchFamily="2" charset="-127"/>
              </a:rPr>
              <a:t>1 : </a:t>
            </a:r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오심</a:t>
            </a:r>
            <a:r>
              <a:rPr lang="en-US" altLang="ko-KR" b="1" dirty="0">
                <a:latin typeface="+mj-ea"/>
                <a:ea typeface="+mj-ea"/>
                <a:cs typeface="Pretendard ExtraBold" panose="02000903000000020004" pitchFamily="2" charset="-127"/>
              </a:rPr>
              <a:t>, </a:t>
            </a:r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구역 발생 일수 감소</a:t>
            </a:r>
          </a:p>
        </p:txBody>
      </p:sp>
      <p:pic>
        <p:nvPicPr>
          <p:cNvPr id="13" name="그림 1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C39839-EA6A-5755-8FCA-7A16D6669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55" y="1572636"/>
            <a:ext cx="4362640" cy="22365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F1D75A-7BEF-67C3-C0A3-5C4037100BA1}"/>
              </a:ext>
            </a:extLst>
          </p:cNvPr>
          <p:cNvSpPr txBox="1"/>
          <p:nvPr/>
        </p:nvSpPr>
        <p:spPr>
          <a:xfrm flipH="1">
            <a:off x="6105538" y="733282"/>
            <a:ext cx="4316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연구 결과 </a:t>
            </a:r>
            <a:r>
              <a:rPr lang="en-US" altLang="ko-KR" b="1" dirty="0">
                <a:latin typeface="+mj-ea"/>
                <a:ea typeface="+mj-ea"/>
                <a:cs typeface="Pretendard ExtraBold" panose="02000903000000020004" pitchFamily="2" charset="-127"/>
              </a:rPr>
              <a:t>2 : </a:t>
            </a:r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두통 발생 일수 감소</a:t>
            </a:r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6FAC4A-0F8D-EF03-B333-DA9D4DC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684" y="1572635"/>
            <a:ext cx="4558839" cy="22365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4571E14-57A3-1FC1-FCDF-2FD61B2C761B}"/>
              </a:ext>
            </a:extLst>
          </p:cNvPr>
          <p:cNvSpPr txBox="1"/>
          <p:nvPr/>
        </p:nvSpPr>
        <p:spPr>
          <a:xfrm flipH="1">
            <a:off x="175174" y="4162273"/>
            <a:ext cx="578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연구 결과 </a:t>
            </a:r>
            <a:r>
              <a:rPr lang="en-US" altLang="ko-KR" b="1" dirty="0">
                <a:latin typeface="+mj-ea"/>
                <a:ea typeface="+mj-ea"/>
                <a:cs typeface="Pretendard ExtraBold" panose="02000903000000020004" pitchFamily="2" charset="-127"/>
              </a:rPr>
              <a:t>3 : </a:t>
            </a:r>
            <a:r>
              <a:rPr lang="ko-KR" altLang="en-US" b="1" dirty="0" err="1">
                <a:latin typeface="+mj-ea"/>
                <a:ea typeface="+mj-ea"/>
                <a:cs typeface="Pretendard ExtraBold" panose="02000903000000020004" pitchFamily="2" charset="-127"/>
              </a:rPr>
              <a:t>급성기</a:t>
            </a:r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 구제 약물 사용 일수 감소</a:t>
            </a:r>
          </a:p>
        </p:txBody>
      </p:sp>
      <p:pic>
        <p:nvPicPr>
          <p:cNvPr id="23" name="그림 2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45DE0D-50DC-B322-C67D-64B9FD0EC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66" y="4928549"/>
            <a:ext cx="5135418" cy="1724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2533D1-0C4C-0374-B33E-FBFC05FFE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677" y="4872727"/>
            <a:ext cx="5263985" cy="16265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DC74A16-BABF-473C-AD53-18EEDC23D3C0}"/>
              </a:ext>
            </a:extLst>
          </p:cNvPr>
          <p:cNvSpPr txBox="1"/>
          <p:nvPr/>
        </p:nvSpPr>
        <p:spPr>
          <a:xfrm flipH="1">
            <a:off x="6146201" y="4162273"/>
            <a:ext cx="578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연구 결과 </a:t>
            </a:r>
            <a:r>
              <a:rPr lang="en-US" altLang="ko-KR" b="1" dirty="0">
                <a:latin typeface="+mj-ea"/>
                <a:ea typeface="+mj-ea"/>
                <a:cs typeface="Pretendard ExtraBold" panose="02000903000000020004" pitchFamily="2" charset="-127"/>
              </a:rPr>
              <a:t>4 : </a:t>
            </a:r>
            <a:r>
              <a:rPr lang="ko-KR" altLang="en-US" b="1" dirty="0">
                <a:latin typeface="+mj-ea"/>
                <a:ea typeface="+mj-ea"/>
                <a:cs typeface="Pretendard ExtraBold" panose="02000903000000020004" pitchFamily="2" charset="-127"/>
              </a:rPr>
              <a:t>만성 편두통 환자 두통 일수 더 크게 감소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522709-AB82-47C7-ACF6-27328FA5D4F0}"/>
              </a:ext>
            </a:extLst>
          </p:cNvPr>
          <p:cNvSpPr txBox="1"/>
          <p:nvPr/>
        </p:nvSpPr>
        <p:spPr>
          <a:xfrm flipH="1">
            <a:off x="7362795" y="6499270"/>
            <a:ext cx="3695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j-ea"/>
                <a:ea typeface="+mj-ea"/>
                <a:cs typeface="Pretendard ExtraBold" panose="02000903000000020004" pitchFamily="2" charset="-127"/>
              </a:rPr>
              <a:t>오심 개선을 넘어 독립적 두통 예방 가능성 시사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2148FEE-7600-0842-8D36-A4F95B032D8C}"/>
              </a:ext>
            </a:extLst>
          </p:cNvPr>
          <p:cNvCxnSpPr/>
          <p:nvPr/>
        </p:nvCxnSpPr>
        <p:spPr>
          <a:xfrm>
            <a:off x="97634" y="4019612"/>
            <a:ext cx="12015809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9970DC7-E4E3-B779-370D-EB70ECD0EF84}"/>
              </a:ext>
            </a:extLst>
          </p:cNvPr>
          <p:cNvCxnSpPr>
            <a:cxnSpLocks/>
          </p:cNvCxnSpPr>
          <p:nvPr/>
        </p:nvCxnSpPr>
        <p:spPr>
          <a:xfrm>
            <a:off x="5973574" y="547243"/>
            <a:ext cx="0" cy="6192067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C995469-1018-F9E9-5B12-B82BB3FD33A8}"/>
              </a:ext>
            </a:extLst>
          </p:cNvPr>
          <p:cNvSpPr txBox="1"/>
          <p:nvPr/>
        </p:nvSpPr>
        <p:spPr>
          <a:xfrm>
            <a:off x="11236289" y="0"/>
            <a:ext cx="84991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내부교육용</a:t>
            </a:r>
            <a:endParaRPr lang="ko-KR" altLang="en-US" sz="1200" dirty="0"/>
          </a:p>
        </p:txBody>
      </p:sp>
      <p:sp>
        <p:nvSpPr>
          <p:cNvPr id="2" name="직사각형 1"/>
          <p:cNvSpPr/>
          <p:nvPr/>
        </p:nvSpPr>
        <p:spPr>
          <a:xfrm>
            <a:off x="269409" y="1150701"/>
            <a:ext cx="5367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모티리톤</a:t>
            </a:r>
            <a:r>
              <a:rPr lang="ko-KR" altLang="en-US" sz="1400" dirty="0"/>
              <a:t> 투여 전 월평균 </a:t>
            </a:r>
            <a:r>
              <a:rPr lang="en-US" altLang="ko-KR" sz="1400" dirty="0"/>
              <a:t>8.64</a:t>
            </a:r>
            <a:r>
              <a:rPr lang="ko-KR" altLang="en-US" sz="1400" dirty="0"/>
              <a:t>일 → 투여 후 </a:t>
            </a:r>
            <a:r>
              <a:rPr lang="en-US" altLang="ko-KR" sz="1400" dirty="0"/>
              <a:t>3.99</a:t>
            </a:r>
            <a:r>
              <a:rPr lang="ko-KR" altLang="en-US" sz="1400" dirty="0"/>
              <a:t>일 </a:t>
            </a:r>
            <a:r>
              <a:rPr lang="en-US" altLang="ko-KR" sz="1400" dirty="0"/>
              <a:t>(</a:t>
            </a:r>
            <a:r>
              <a:rPr lang="ko-KR" altLang="en-US" sz="1400" dirty="0"/>
              <a:t>약 </a:t>
            </a:r>
            <a:r>
              <a:rPr lang="en-US" altLang="ko-KR" sz="1400" dirty="0"/>
              <a:t>53.7% </a:t>
            </a:r>
            <a:r>
              <a:rPr lang="ko-KR" altLang="en-US" sz="1400" dirty="0"/>
              <a:t>감소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096000" y="1150700"/>
            <a:ext cx="54184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모티리톤</a:t>
            </a:r>
            <a:r>
              <a:rPr lang="ko-KR" altLang="en-US" sz="1400" dirty="0"/>
              <a:t> 투여 전 월평균 </a:t>
            </a:r>
            <a:r>
              <a:rPr lang="en-US" altLang="ko-KR" sz="1400" dirty="0"/>
              <a:t>15.65</a:t>
            </a:r>
            <a:r>
              <a:rPr lang="ko-KR" altLang="en-US" sz="1400" dirty="0"/>
              <a:t>일 → 투여 후 </a:t>
            </a:r>
            <a:r>
              <a:rPr lang="en-US" altLang="ko-KR" sz="1400" dirty="0"/>
              <a:t>7.47</a:t>
            </a:r>
            <a:r>
              <a:rPr lang="ko-KR" altLang="en-US" sz="1400" dirty="0"/>
              <a:t>일 </a:t>
            </a:r>
            <a:r>
              <a:rPr lang="en-US" altLang="ko-KR" sz="1400" dirty="0"/>
              <a:t>(</a:t>
            </a:r>
            <a:r>
              <a:rPr lang="ko-KR" altLang="en-US" sz="1400" dirty="0"/>
              <a:t>약 </a:t>
            </a:r>
            <a:r>
              <a:rPr lang="en-US" altLang="ko-KR" sz="1400" dirty="0"/>
              <a:t>52.2% </a:t>
            </a:r>
            <a:r>
              <a:rPr lang="ko-KR" altLang="en-US" sz="1400" dirty="0"/>
              <a:t>감소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85287" y="4540113"/>
            <a:ext cx="53431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모티리톤</a:t>
            </a:r>
            <a:r>
              <a:rPr lang="ko-KR" altLang="en-US" sz="1400" dirty="0"/>
              <a:t> 투여 전 월평균 </a:t>
            </a:r>
            <a:r>
              <a:rPr lang="en-US" altLang="ko-KR" sz="1400" dirty="0"/>
              <a:t>7.72</a:t>
            </a:r>
            <a:r>
              <a:rPr lang="ko-KR" altLang="en-US" sz="1400" dirty="0"/>
              <a:t>일 → 투여 후 </a:t>
            </a:r>
            <a:r>
              <a:rPr lang="en-US" altLang="ko-KR" sz="1400" dirty="0"/>
              <a:t>4.26</a:t>
            </a:r>
            <a:r>
              <a:rPr lang="ko-KR" altLang="en-US" sz="1400" dirty="0"/>
              <a:t>일 </a:t>
            </a:r>
            <a:r>
              <a:rPr lang="en-US" altLang="ko-KR" sz="1400" dirty="0"/>
              <a:t>(</a:t>
            </a:r>
            <a:r>
              <a:rPr lang="ko-KR" altLang="en-US" sz="1400" dirty="0"/>
              <a:t>약 </a:t>
            </a:r>
            <a:r>
              <a:rPr lang="en-US" altLang="ko-KR" sz="1400" dirty="0"/>
              <a:t>44.8% </a:t>
            </a:r>
            <a:r>
              <a:rPr lang="ko-KR" altLang="en-US" sz="1400" dirty="0"/>
              <a:t>감소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080887" y="4562390"/>
            <a:ext cx="52758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만성 편두통 환자에서 두통 일수의 감소가 오심 일수의 감소보다 더 큼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41" y="6549243"/>
            <a:ext cx="231710" cy="231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0" y="6653158"/>
            <a:ext cx="58823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Son H, et al. </a:t>
            </a:r>
            <a:r>
              <a:rPr lang="it-IT" altLang="ko-KR" sz="1000" dirty="0"/>
              <a:t>Medicine (Baltimore). 2026 Feb 13;105(7):e47623.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76810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AFA3-B6B0-9990-439E-650B70CF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A4E25C-851B-9529-BD91-39D34DD55F8D}"/>
              </a:ext>
            </a:extLst>
          </p:cNvPr>
          <p:cNvSpPr txBox="1"/>
          <p:nvPr/>
        </p:nvSpPr>
        <p:spPr>
          <a:xfrm flipH="1">
            <a:off x="310924" y="189073"/>
            <a:ext cx="8139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편두통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두통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오심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구토 유발 약물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8152D17-6FF9-E888-3045-6F422165ABB4}"/>
              </a:ext>
            </a:extLst>
          </p:cNvPr>
          <p:cNvGraphicFramePr>
            <a:graphicFrameLocks noGrp="1"/>
          </p:cNvGraphicFramePr>
          <p:nvPr/>
        </p:nvGraphicFramePr>
        <p:xfrm>
          <a:off x="316216" y="1426985"/>
          <a:ext cx="11397928" cy="465153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31684">
                  <a:extLst>
                    <a:ext uri="{9D8B030D-6E8A-4147-A177-3AD203B41FA5}">
                      <a16:colId xmlns:a16="http://schemas.microsoft.com/office/drawing/2014/main" val="1269925622"/>
                    </a:ext>
                  </a:extLst>
                </a:gridCol>
                <a:gridCol w="3746500">
                  <a:extLst>
                    <a:ext uri="{9D8B030D-6E8A-4147-A177-3AD203B41FA5}">
                      <a16:colId xmlns:a16="http://schemas.microsoft.com/office/drawing/2014/main" val="1260303579"/>
                    </a:ext>
                  </a:extLst>
                </a:gridCol>
                <a:gridCol w="1886834">
                  <a:extLst>
                    <a:ext uri="{9D8B030D-6E8A-4147-A177-3AD203B41FA5}">
                      <a16:colId xmlns:a16="http://schemas.microsoft.com/office/drawing/2014/main" val="595648199"/>
                    </a:ext>
                  </a:extLst>
                </a:gridCol>
                <a:gridCol w="3832910">
                  <a:extLst>
                    <a:ext uri="{9D8B030D-6E8A-4147-A177-3AD203B41FA5}">
                      <a16:colId xmlns:a16="http://schemas.microsoft.com/office/drawing/2014/main" val="3277131286"/>
                    </a:ext>
                  </a:extLst>
                </a:gridCol>
              </a:tblGrid>
              <a:tr h="516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대표 약물 성분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예시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주요 부작용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근거 및 특징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740807"/>
                  </a:ext>
                </a:extLst>
              </a:tr>
              <a:tr h="516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P-CAB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자스타프라잔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테고프라잔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펙수프라잔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두통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임상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상 주요 이상반응 보고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321217"/>
                  </a:ext>
                </a:extLst>
              </a:tr>
              <a:tr h="516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에소메프라졸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오메프라졸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등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두통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일부 환자에서 두통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오심 보고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805307"/>
                  </a:ext>
                </a:extLst>
              </a:tr>
              <a:tr h="516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 err="1">
                          <a:solidFill>
                            <a:schemeClr val="tx1"/>
                          </a:solidFill>
                        </a:rPr>
                        <a:t>PDE5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1" baseline="0" dirty="0" err="1">
                          <a:solidFill>
                            <a:schemeClr val="tx1"/>
                          </a:solidFill>
                        </a:rPr>
                        <a:t>억제제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실데나필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타다라필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두통</a:t>
                      </a:r>
                      <a:r>
                        <a:rPr lang="en-US" altLang="ko-KR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baseline="0" dirty="0">
                          <a:solidFill>
                            <a:schemeClr val="tx1"/>
                          </a:solidFill>
                        </a:rPr>
                        <a:t>오심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혈관 확장 작용에 따른 부작용 보고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933556"/>
                  </a:ext>
                </a:extLst>
              </a:tr>
              <a:tr h="516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호르몬제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경구 피임약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여성호르몬제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두통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오심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뇌혈관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aseline="0" dirty="0" err="1">
                          <a:solidFill>
                            <a:schemeClr val="tx1"/>
                          </a:solidFill>
                        </a:rPr>
                        <a:t>평활근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ko-KR" altLang="en-US" baseline="0" dirty="0" err="1">
                          <a:solidFill>
                            <a:schemeClr val="tx1"/>
                          </a:solidFill>
                        </a:rPr>
                        <a:t>세로토닌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 변화 관련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900912"/>
                  </a:ext>
                </a:extLst>
              </a:tr>
              <a:tr h="516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 err="1">
                          <a:solidFill>
                            <a:schemeClr val="tx1"/>
                          </a:solidFill>
                        </a:rPr>
                        <a:t>NSAIDs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이부프로펜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나프록센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두통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오심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혈관 확장 및 체액 변화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진통제 과용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트립탄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에르고타민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두통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오심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과용시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만성 두통 및 오심 유발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978909"/>
                  </a:ext>
                </a:extLst>
              </a:tr>
              <a:tr h="516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항생제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클래리트로마이신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메트로니다졸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두통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오심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위장관 자극 및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중추신경계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영향으로 보고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67086"/>
                  </a:ext>
                </a:extLst>
              </a:tr>
              <a:tr h="516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항우울제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SSRI)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플루옥세틴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설트랄린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두통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오심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초기 투여 시 오심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두통 가능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96623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970520" y="6318190"/>
            <a:ext cx="42214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 err="1"/>
              <a:t>식약처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허가사항</a:t>
            </a:r>
            <a:r>
              <a:rPr lang="en-US" altLang="ko-KR" sz="1100" dirty="0"/>
              <a:t>(26.02)</a:t>
            </a:r>
          </a:p>
          <a:p>
            <a:pPr algn="r"/>
            <a:r>
              <a:rPr lang="en-US" altLang="ko-KR" sz="1100" dirty="0" err="1"/>
              <a:t>Toth</a:t>
            </a:r>
            <a:r>
              <a:rPr lang="en-US" altLang="ko-KR" sz="1100" dirty="0"/>
              <a:t> C. </a:t>
            </a:r>
            <a:r>
              <a:rPr lang="en-US" altLang="ko-KR" sz="1100" dirty="0" err="1"/>
              <a:t>Clin</a:t>
            </a:r>
            <a:r>
              <a:rPr lang="en-US" altLang="ko-KR" sz="1100" dirty="0"/>
              <a:t> </a:t>
            </a:r>
            <a:r>
              <a:rPr lang="en-US" altLang="ko-KR" sz="1100" dirty="0" err="1"/>
              <a:t>Neuropharmacol</a:t>
            </a:r>
            <a:r>
              <a:rPr lang="en-US" altLang="ko-KR" sz="1100" dirty="0"/>
              <a:t>. 2003 </a:t>
            </a:r>
            <a:r>
              <a:rPr lang="en-US" altLang="ko-KR" sz="1100" dirty="0" err="1"/>
              <a:t>May-Jun;26</a:t>
            </a:r>
            <a:r>
              <a:rPr lang="en-US" altLang="ko-KR" sz="1100" dirty="0"/>
              <a:t>(3):122-36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95469-1018-F9E9-5B12-B82BB3FD33A8}"/>
              </a:ext>
            </a:extLst>
          </p:cNvPr>
          <p:cNvSpPr txBox="1"/>
          <p:nvPr/>
        </p:nvSpPr>
        <p:spPr>
          <a:xfrm>
            <a:off x="11236289" y="0"/>
            <a:ext cx="84991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내부교육용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995469-1018-F9E9-5B12-B82BB3FD33A8}"/>
              </a:ext>
            </a:extLst>
          </p:cNvPr>
          <p:cNvSpPr txBox="1"/>
          <p:nvPr/>
        </p:nvSpPr>
        <p:spPr>
          <a:xfrm>
            <a:off x="10179586" y="13900"/>
            <a:ext cx="982961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외부유출금지</a:t>
            </a:r>
            <a:endParaRPr lang="ko-KR" altLang="en-US" sz="1200" dirty="0"/>
          </a:p>
        </p:txBody>
      </p:sp>
      <p:sp>
        <p:nvSpPr>
          <p:cNvPr id="5" name="직사각형 4"/>
          <p:cNvSpPr/>
          <p:nvPr/>
        </p:nvSpPr>
        <p:spPr>
          <a:xfrm>
            <a:off x="0" y="6505936"/>
            <a:ext cx="7421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/>
              <a:t>P-CAB, Potassium-Competitive Acid Blocker; PPI, Proton Pump Inhibitor; </a:t>
            </a:r>
            <a:r>
              <a:rPr lang="en-US" altLang="ko-KR" sz="900" dirty="0" err="1"/>
              <a:t>PDE5</a:t>
            </a:r>
            <a:r>
              <a:rPr lang="en-US" altLang="ko-KR" sz="900" dirty="0"/>
              <a:t>, Phosphodiesterase Type 5 Inhibitor; </a:t>
            </a:r>
          </a:p>
          <a:p>
            <a:r>
              <a:rPr lang="en-US" altLang="ko-KR" sz="900" dirty="0" err="1"/>
              <a:t>NSAIDs</a:t>
            </a:r>
            <a:r>
              <a:rPr lang="en-US" altLang="ko-KR" sz="900" dirty="0"/>
              <a:t>, Non-Steroidal Anti-Inflammatory Drugs; SSRI, Selective Serotonin Reuptake Inhibitor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834066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555</Words>
  <Application>Microsoft Office PowerPoint</Application>
  <PresentationFormat>와이드스크린</PresentationFormat>
  <Paragraphs>82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Pretendard</vt:lpstr>
      <vt:lpstr>Pretendard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요한 유</dc:creator>
  <cp:lastModifiedBy>유요한</cp:lastModifiedBy>
  <cp:revision>7</cp:revision>
  <dcterms:created xsi:type="dcterms:W3CDTF">2026-02-19T02:13:54Z</dcterms:created>
  <dcterms:modified xsi:type="dcterms:W3CDTF">2026-08-12T00:24:06Z</dcterms:modified>
</cp:coreProperties>
</file>